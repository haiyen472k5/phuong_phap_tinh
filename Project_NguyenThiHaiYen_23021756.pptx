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321" r:id="rId6"/>
    <p:sldId id="322" r:id="rId7"/>
    <p:sldId id="323" r:id="rId8"/>
    <p:sldId id="260" r:id="rId9"/>
    <p:sldId id="326" r:id="rId10"/>
    <p:sldId id="324" r:id="rId11"/>
    <p:sldId id="325" r:id="rId12"/>
    <p:sldId id="328" r:id="rId13"/>
    <p:sldId id="330" r:id="rId14"/>
    <p:sldId id="331" r:id="rId15"/>
    <p:sldId id="332" r:id="rId16"/>
    <p:sldId id="333" r:id="rId17"/>
    <p:sldId id="336" r:id="rId18"/>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940" y="4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4725" y="202712"/>
            <a:ext cx="1551305" cy="574040"/>
          </a:xfrm>
          <a:prstGeom prst="rect">
            <a:avLst/>
          </a:prstGeom>
        </p:spPr>
        <p:txBody>
          <a:bodyPr wrap="square" lIns="0" tIns="0" rIns="0" bIns="0">
            <a:spAutoFit/>
          </a:bodyPr>
          <a:lstStyle>
            <a:lvl1pPr>
              <a:defRPr sz="3600" b="1" i="0">
                <a:solidFill>
                  <a:srgbClr val="0000A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5" name="Holder 5"/>
          <p:cNvSpPr>
            <a:spLocks noGrp="1"/>
          </p:cNvSpPr>
          <p:nvPr>
            <p:ph type="dt" sz="half" idx="6"/>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6" name="Holder 6"/>
          <p:cNvSpPr>
            <a:spLocks noGrp="1"/>
          </p:cNvSpPr>
          <p:nvPr>
            <p:ph type="sldNum" sz="quarter" idx="7"/>
          </p:nvPr>
        </p:nvSpPr>
        <p:spPr/>
        <p:txBody>
          <a:bodyPr lIns="0" tIns="0" rIns="0" bIns="0"/>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00A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5" name="Holder 5"/>
          <p:cNvSpPr>
            <a:spLocks noGrp="1"/>
          </p:cNvSpPr>
          <p:nvPr>
            <p:ph type="dt" sz="half" idx="6"/>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6" name="Holder 6"/>
          <p:cNvSpPr>
            <a:spLocks noGrp="1"/>
          </p:cNvSpPr>
          <p:nvPr>
            <p:ph type="sldNum" sz="quarter" idx="7"/>
          </p:nvPr>
        </p:nvSpPr>
        <p:spPr/>
        <p:txBody>
          <a:bodyPr lIns="0" tIns="0" rIns="0" bIns="0"/>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00A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6" name="Holder 6"/>
          <p:cNvSpPr>
            <a:spLocks noGrp="1"/>
          </p:cNvSpPr>
          <p:nvPr>
            <p:ph type="dt" sz="half" idx="6"/>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7" name="Holder 7"/>
          <p:cNvSpPr>
            <a:spLocks noGrp="1"/>
          </p:cNvSpPr>
          <p:nvPr>
            <p:ph type="sldNum" sz="quarter" idx="7"/>
          </p:nvPr>
        </p:nvSpPr>
        <p:spPr/>
        <p:txBody>
          <a:bodyPr lIns="0" tIns="0" rIns="0" bIns="0"/>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00A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4" name="Holder 4"/>
          <p:cNvSpPr>
            <a:spLocks noGrp="1"/>
          </p:cNvSpPr>
          <p:nvPr>
            <p:ph type="dt" sz="half" idx="6"/>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5" name="Holder 5"/>
          <p:cNvSpPr>
            <a:spLocks noGrp="1"/>
          </p:cNvSpPr>
          <p:nvPr>
            <p:ph type="sldNum" sz="quarter" idx="7"/>
          </p:nvPr>
        </p:nvSpPr>
        <p:spPr/>
        <p:txBody>
          <a:bodyPr lIns="0" tIns="0" rIns="0" bIns="0"/>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3" name="Holder 3"/>
          <p:cNvSpPr>
            <a:spLocks noGrp="1"/>
          </p:cNvSpPr>
          <p:nvPr>
            <p:ph type="dt" sz="half" idx="6"/>
          </p:nvPr>
        </p:nvSpPr>
        <p:spPr/>
        <p:txBody>
          <a:bodyPr lIns="0" tIns="0" rIns="0" bIns="0"/>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4" name="Holder 4"/>
          <p:cNvSpPr>
            <a:spLocks noGrp="1"/>
          </p:cNvSpPr>
          <p:nvPr>
            <p:ph type="sldNum" sz="quarter" idx="7"/>
          </p:nvPr>
        </p:nvSpPr>
        <p:spPr/>
        <p:txBody>
          <a:bodyPr lIns="0" tIns="0" rIns="0" bIns="0"/>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4725" y="113186"/>
            <a:ext cx="7675964" cy="706535"/>
          </a:xfrm>
          <a:prstGeom prst="rect">
            <a:avLst/>
          </a:prstGeom>
        </p:spPr>
        <p:txBody>
          <a:bodyPr wrap="square" lIns="0" tIns="0" rIns="0" bIns="0">
            <a:spAutoFit/>
          </a:bodyPr>
          <a:lstStyle>
            <a:lvl1pPr>
              <a:defRPr sz="3600" b="1" i="0">
                <a:solidFill>
                  <a:srgbClr val="0000AA"/>
                </a:solidFill>
                <a:latin typeface="Calibri"/>
                <a:cs typeface="Calibri"/>
              </a:defRPr>
            </a:lvl1pPr>
          </a:lstStyle>
          <a:p>
            <a:endParaRPr/>
          </a:p>
        </p:txBody>
      </p:sp>
      <p:sp>
        <p:nvSpPr>
          <p:cNvPr id="3" name="Holder 3"/>
          <p:cNvSpPr>
            <a:spLocks noGrp="1"/>
          </p:cNvSpPr>
          <p:nvPr>
            <p:ph type="body" idx="1"/>
          </p:nvPr>
        </p:nvSpPr>
        <p:spPr>
          <a:xfrm>
            <a:off x="444596" y="859134"/>
            <a:ext cx="3988435" cy="3545840"/>
          </a:xfrm>
          <a:prstGeom prst="rect">
            <a:avLst/>
          </a:prstGeom>
        </p:spPr>
        <p:txBody>
          <a:bodyPr wrap="square" lIns="0" tIns="0" rIns="0" bIns="0">
            <a:spAutoFit/>
          </a:bodyPr>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778343" y="4939683"/>
            <a:ext cx="1586864" cy="252729"/>
          </a:xfrm>
          <a:prstGeom prst="rect">
            <a:avLst/>
          </a:prstGeom>
        </p:spPr>
        <p:txBody>
          <a:bodyPr wrap="square" lIns="0" tIns="0" rIns="0" bIns="0">
            <a:spAutoFit/>
          </a:bodyPr>
          <a:lstStyle>
            <a:lvl1pPr>
              <a:defRPr sz="900" b="1" i="0">
                <a:solidFill>
                  <a:schemeClr val="bg1"/>
                </a:solidFill>
                <a:latin typeface="Cambria"/>
                <a:cs typeface="Cambria"/>
              </a:defRPr>
            </a:lvl1p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5" name="Holder 5"/>
          <p:cNvSpPr>
            <a:spLocks noGrp="1"/>
          </p:cNvSpPr>
          <p:nvPr>
            <p:ph type="dt" sz="half" idx="6"/>
          </p:nvPr>
        </p:nvSpPr>
        <p:spPr>
          <a:xfrm>
            <a:off x="204525" y="4939683"/>
            <a:ext cx="386715" cy="252729"/>
          </a:xfrm>
          <a:prstGeom prst="rect">
            <a:avLst/>
          </a:prstGeom>
        </p:spPr>
        <p:txBody>
          <a:bodyPr wrap="square" lIns="0" tIns="0" rIns="0" bIns="0">
            <a:spAutoFit/>
          </a:bodyPr>
          <a:lstStyle>
            <a:lvl1pPr>
              <a:defRPr sz="900" b="1" i="0">
                <a:solidFill>
                  <a:schemeClr val="bg1"/>
                </a:solidFill>
                <a:latin typeface="Cambria"/>
                <a:cs typeface="Cambria"/>
              </a:defRPr>
            </a:lvl1pPr>
          </a:lstStyle>
          <a:p>
            <a:pPr marL="12700">
              <a:lnSpc>
                <a:spcPct val="100000"/>
              </a:lnSpc>
              <a:spcBef>
                <a:spcPts val="140"/>
              </a:spcBef>
            </a:pPr>
            <a:r>
              <a:rPr dirty="0"/>
              <a:t>FIT-</a:t>
            </a:r>
            <a:r>
              <a:rPr spc="40" dirty="0"/>
              <a:t>CS</a:t>
            </a:r>
          </a:p>
        </p:txBody>
      </p:sp>
      <p:sp>
        <p:nvSpPr>
          <p:cNvPr id="6" name="Holder 6"/>
          <p:cNvSpPr>
            <a:spLocks noGrp="1"/>
          </p:cNvSpPr>
          <p:nvPr>
            <p:ph type="sldNum" sz="quarter" idx="7"/>
          </p:nvPr>
        </p:nvSpPr>
        <p:spPr>
          <a:xfrm>
            <a:off x="8744039" y="4920713"/>
            <a:ext cx="261798" cy="226695"/>
          </a:xfrm>
          <a:prstGeom prst="rect">
            <a:avLst/>
          </a:prstGeom>
        </p:spPr>
        <p:txBody>
          <a:bodyPr wrap="square" lIns="0" tIns="0" rIns="0" bIns="0">
            <a:spAutoFit/>
          </a:bodyPr>
          <a:lstStyle>
            <a:lvl1pPr>
              <a:defRPr sz="900" b="1" i="0">
                <a:solidFill>
                  <a:schemeClr val="bg1"/>
                </a:solidFill>
                <a:latin typeface="Cambria"/>
                <a:cs typeface="Cambria"/>
              </a:defRPr>
            </a:lvl1pPr>
          </a:lstStyle>
          <a:p>
            <a:pPr marL="125730">
              <a:lnSpc>
                <a:spcPct val="100000"/>
              </a:lnSpc>
              <a:spcBef>
                <a:spcPts val="155"/>
              </a:spcBef>
            </a:pPr>
            <a:fld id="{81D60167-4931-47E6-BA6A-407CBD079E47}" type="slidenum">
              <a:rPr sz="1200" spc="-5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jpg"/><Relationship Id="rId5"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jp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0" y="1071217"/>
            <a:ext cx="9144000" cy="87630"/>
            <a:chOff x="0" y="990324"/>
            <a:chExt cx="9144000" cy="87630"/>
          </a:xfrm>
        </p:grpSpPr>
        <p:sp>
          <p:nvSpPr>
            <p:cNvPr id="6" name="object 6"/>
            <p:cNvSpPr/>
            <p:nvPr/>
          </p:nvSpPr>
          <p:spPr>
            <a:xfrm>
              <a:off x="0" y="990324"/>
              <a:ext cx="4572000" cy="87630"/>
            </a:xfrm>
            <a:custGeom>
              <a:avLst/>
              <a:gdLst/>
              <a:ahLst/>
              <a:cxnLst/>
              <a:rect l="l" t="t" r="r" b="b"/>
              <a:pathLst>
                <a:path w="4572000" h="87630">
                  <a:moveTo>
                    <a:pt x="0" y="87599"/>
                  </a:moveTo>
                  <a:lnTo>
                    <a:pt x="4571999" y="87599"/>
                  </a:lnTo>
                  <a:lnTo>
                    <a:pt x="4571999" y="0"/>
                  </a:lnTo>
                  <a:lnTo>
                    <a:pt x="0" y="0"/>
                  </a:lnTo>
                  <a:lnTo>
                    <a:pt x="0" y="87599"/>
                  </a:lnTo>
                  <a:close/>
                </a:path>
              </a:pathLst>
            </a:custGeom>
            <a:solidFill>
              <a:srgbClr val="0000AA"/>
            </a:solidFill>
          </p:spPr>
          <p:txBody>
            <a:bodyPr wrap="square" lIns="0" tIns="0" rIns="0" bIns="0" rtlCol="0"/>
            <a:lstStyle/>
            <a:p>
              <a:endParaRPr/>
            </a:p>
          </p:txBody>
        </p:sp>
        <p:sp>
          <p:nvSpPr>
            <p:cNvPr id="7" name="object 7"/>
            <p:cNvSpPr/>
            <p:nvPr/>
          </p:nvSpPr>
          <p:spPr>
            <a:xfrm>
              <a:off x="0" y="990324"/>
              <a:ext cx="9144000" cy="87630"/>
            </a:xfrm>
            <a:custGeom>
              <a:avLst/>
              <a:gdLst/>
              <a:ahLst/>
              <a:cxnLst/>
              <a:rect l="l" t="t" r="r" b="b"/>
              <a:pathLst>
                <a:path w="9144000" h="87630">
                  <a:moveTo>
                    <a:pt x="0" y="0"/>
                  </a:moveTo>
                  <a:lnTo>
                    <a:pt x="9143999" y="0"/>
                  </a:lnTo>
                  <a:lnTo>
                    <a:pt x="9143999" y="87599"/>
                  </a:lnTo>
                  <a:lnTo>
                    <a:pt x="0" y="87599"/>
                  </a:lnTo>
                  <a:lnTo>
                    <a:pt x="0" y="0"/>
                  </a:lnTo>
                  <a:close/>
                </a:path>
              </a:pathLst>
            </a:custGeom>
            <a:solidFill>
              <a:schemeClr val="tx2"/>
            </a:solidFill>
            <a:ln w="9524">
              <a:solidFill>
                <a:srgbClr val="0000AA"/>
              </a:solidFill>
            </a:ln>
          </p:spPr>
          <p:txBody>
            <a:bodyPr wrap="square" lIns="0" tIns="0" rIns="0" bIns="0" rtlCol="0"/>
            <a:lstStyle/>
            <a:p>
              <a:endParaRPr dirty="0"/>
            </a:p>
          </p:txBody>
        </p:sp>
      </p:grpSp>
      <p:pic>
        <p:nvPicPr>
          <p:cNvPr id="10" name="object 10"/>
          <p:cNvPicPr/>
          <p:nvPr/>
        </p:nvPicPr>
        <p:blipFill>
          <a:blip r:embed="rId2" cstate="print"/>
          <a:stretch>
            <a:fillRect/>
          </a:stretch>
        </p:blipFill>
        <p:spPr>
          <a:xfrm>
            <a:off x="193200" y="140951"/>
            <a:ext cx="790024" cy="794649"/>
          </a:xfrm>
          <a:prstGeom prst="rect">
            <a:avLst/>
          </a:prstGeom>
        </p:spPr>
      </p:pic>
      <p:sp>
        <p:nvSpPr>
          <p:cNvPr id="11" name="object 11"/>
          <p:cNvSpPr txBox="1">
            <a:spLocks noGrp="1"/>
          </p:cNvSpPr>
          <p:nvPr>
            <p:ph type="title"/>
          </p:nvPr>
        </p:nvSpPr>
        <p:spPr>
          <a:xfrm>
            <a:off x="1030850" y="-171450"/>
            <a:ext cx="1002665" cy="574040"/>
          </a:xfrm>
          <a:prstGeom prst="rect">
            <a:avLst/>
          </a:prstGeom>
        </p:spPr>
        <p:txBody>
          <a:bodyPr vert="horz" wrap="square" lIns="0" tIns="12700" rIns="0" bIns="0" rtlCol="0">
            <a:spAutoFit/>
          </a:bodyPr>
          <a:lstStyle/>
          <a:p>
            <a:pPr marL="38100">
              <a:lnSpc>
                <a:spcPct val="100000"/>
              </a:lnSpc>
              <a:spcBef>
                <a:spcPts val="100"/>
              </a:spcBef>
            </a:pPr>
            <a:r>
              <a:rPr sz="5400" spc="60" baseline="-45524" dirty="0">
                <a:solidFill>
                  <a:srgbClr val="1B4587"/>
                </a:solidFill>
                <a:latin typeface="Cambria"/>
                <a:cs typeface="Cambria"/>
              </a:rPr>
              <a:t>U</a:t>
            </a:r>
            <a:r>
              <a:rPr sz="5400" spc="-450" baseline="-45524" dirty="0">
                <a:solidFill>
                  <a:srgbClr val="1B4587"/>
                </a:solidFill>
                <a:latin typeface="Cambria"/>
                <a:cs typeface="Cambria"/>
              </a:rPr>
              <a:t>E</a:t>
            </a:r>
            <a:r>
              <a:rPr sz="550" b="0" i="1" spc="35" dirty="0">
                <a:solidFill>
                  <a:srgbClr val="1B4587"/>
                </a:solidFill>
                <a:latin typeface="Roboto"/>
                <a:cs typeface="Roboto"/>
              </a:rPr>
              <a:t>S</a:t>
            </a:r>
            <a:r>
              <a:rPr sz="550" b="0" i="1" spc="-10" dirty="0">
                <a:solidFill>
                  <a:srgbClr val="1B4587"/>
                </a:solidFill>
                <a:latin typeface="Roboto"/>
                <a:cs typeface="Roboto"/>
              </a:rPr>
              <a:t>i</a:t>
            </a:r>
            <a:r>
              <a:rPr sz="5400" spc="-3329" baseline="-45524" dirty="0">
                <a:solidFill>
                  <a:srgbClr val="1B4587"/>
                </a:solidFill>
                <a:latin typeface="Cambria"/>
                <a:cs typeface="Cambria"/>
              </a:rPr>
              <a:t>T</a:t>
            </a:r>
            <a:r>
              <a:rPr sz="550" b="0" i="1" spc="35" dirty="0">
                <a:solidFill>
                  <a:srgbClr val="1B4587"/>
                </a:solidFill>
                <a:latin typeface="Roboto"/>
                <a:cs typeface="Roboto"/>
              </a:rPr>
              <a:t>nc</a:t>
            </a:r>
            <a:r>
              <a:rPr sz="550" b="0" i="1" spc="45" dirty="0">
                <a:solidFill>
                  <a:srgbClr val="1B4587"/>
                </a:solidFill>
                <a:latin typeface="Roboto"/>
                <a:cs typeface="Roboto"/>
              </a:rPr>
              <a:t>e</a:t>
            </a:r>
            <a:r>
              <a:rPr sz="550" b="0" i="1" spc="60" dirty="0">
                <a:solidFill>
                  <a:srgbClr val="1B4587"/>
                </a:solidFill>
                <a:latin typeface="Roboto"/>
                <a:cs typeface="Roboto"/>
              </a:rPr>
              <a:t> </a:t>
            </a:r>
            <a:r>
              <a:rPr sz="550" b="0" i="1" spc="-20" dirty="0">
                <a:solidFill>
                  <a:srgbClr val="1B4587"/>
                </a:solidFill>
                <a:latin typeface="Roboto"/>
                <a:cs typeface="Roboto"/>
              </a:rPr>
              <a:t>2004</a:t>
            </a:r>
            <a:endParaRPr sz="550" dirty="0">
              <a:latin typeface="Roboto"/>
              <a:cs typeface="Roboto"/>
            </a:endParaRPr>
          </a:p>
        </p:txBody>
      </p:sp>
      <p:sp>
        <p:nvSpPr>
          <p:cNvPr id="12" name="object 12"/>
          <p:cNvSpPr txBox="1"/>
          <p:nvPr/>
        </p:nvSpPr>
        <p:spPr>
          <a:xfrm>
            <a:off x="1100100" y="612378"/>
            <a:ext cx="2328545" cy="285115"/>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1B4587"/>
                </a:solidFill>
                <a:latin typeface="Cambria"/>
                <a:cs typeface="Cambria"/>
              </a:rPr>
              <a:t>ĐẠI</a:t>
            </a:r>
            <a:r>
              <a:rPr sz="900" b="1" spc="140" dirty="0">
                <a:solidFill>
                  <a:srgbClr val="1B4587"/>
                </a:solidFill>
                <a:latin typeface="Cambria"/>
                <a:cs typeface="Cambria"/>
              </a:rPr>
              <a:t> </a:t>
            </a:r>
            <a:r>
              <a:rPr sz="900" b="1" dirty="0">
                <a:solidFill>
                  <a:srgbClr val="1B4587"/>
                </a:solidFill>
                <a:latin typeface="Cambria"/>
                <a:cs typeface="Cambria"/>
              </a:rPr>
              <a:t>HỌC</a:t>
            </a:r>
            <a:r>
              <a:rPr sz="900" b="1" spc="140" dirty="0">
                <a:solidFill>
                  <a:srgbClr val="1B4587"/>
                </a:solidFill>
                <a:latin typeface="Cambria"/>
                <a:cs typeface="Cambria"/>
              </a:rPr>
              <a:t> </a:t>
            </a:r>
            <a:r>
              <a:rPr sz="900" b="1" dirty="0">
                <a:solidFill>
                  <a:srgbClr val="1B4587"/>
                </a:solidFill>
                <a:latin typeface="Cambria"/>
                <a:cs typeface="Cambria"/>
              </a:rPr>
              <a:t>CÔNG</a:t>
            </a:r>
            <a:r>
              <a:rPr sz="900" b="1" spc="140" dirty="0">
                <a:solidFill>
                  <a:srgbClr val="1B4587"/>
                </a:solidFill>
                <a:latin typeface="Cambria"/>
                <a:cs typeface="Cambria"/>
              </a:rPr>
              <a:t> </a:t>
            </a:r>
            <a:r>
              <a:rPr sz="900" b="1" dirty="0">
                <a:solidFill>
                  <a:srgbClr val="1B4587"/>
                </a:solidFill>
                <a:latin typeface="Cambria"/>
                <a:cs typeface="Cambria"/>
              </a:rPr>
              <a:t>NGHỆ,</a:t>
            </a:r>
            <a:r>
              <a:rPr sz="900" b="1" spc="140" dirty="0">
                <a:solidFill>
                  <a:srgbClr val="1B4587"/>
                </a:solidFill>
                <a:latin typeface="Cambria"/>
                <a:cs typeface="Cambria"/>
              </a:rPr>
              <a:t> </a:t>
            </a:r>
            <a:r>
              <a:rPr sz="900" b="1" spc="-10" dirty="0">
                <a:solidFill>
                  <a:srgbClr val="1B4587"/>
                </a:solidFill>
                <a:latin typeface="Cambria"/>
                <a:cs typeface="Cambria"/>
              </a:rPr>
              <a:t>ĐHQGHN</a:t>
            </a:r>
            <a:endParaRPr sz="900">
              <a:latin typeface="Cambria"/>
              <a:cs typeface="Cambria"/>
            </a:endParaRPr>
          </a:p>
          <a:p>
            <a:pPr marL="12700">
              <a:lnSpc>
                <a:spcPct val="100000"/>
              </a:lnSpc>
            </a:pPr>
            <a:r>
              <a:rPr sz="800" spc="10" dirty="0">
                <a:solidFill>
                  <a:srgbClr val="1B4587"/>
                </a:solidFill>
                <a:latin typeface="Georgia"/>
                <a:cs typeface="Georgia"/>
              </a:rPr>
              <a:t>VNU-University</a:t>
            </a:r>
            <a:r>
              <a:rPr sz="800" spc="95" dirty="0">
                <a:solidFill>
                  <a:srgbClr val="1B4587"/>
                </a:solidFill>
                <a:latin typeface="Georgia"/>
                <a:cs typeface="Georgia"/>
              </a:rPr>
              <a:t> </a:t>
            </a:r>
            <a:r>
              <a:rPr sz="800" spc="10" dirty="0">
                <a:solidFill>
                  <a:srgbClr val="1B4587"/>
                </a:solidFill>
                <a:latin typeface="Georgia"/>
                <a:cs typeface="Georgia"/>
              </a:rPr>
              <a:t>of</a:t>
            </a:r>
            <a:r>
              <a:rPr sz="800" spc="95" dirty="0">
                <a:solidFill>
                  <a:srgbClr val="1B4587"/>
                </a:solidFill>
                <a:latin typeface="Georgia"/>
                <a:cs typeface="Georgia"/>
              </a:rPr>
              <a:t> </a:t>
            </a:r>
            <a:r>
              <a:rPr sz="800" spc="10" dirty="0">
                <a:solidFill>
                  <a:srgbClr val="1B4587"/>
                </a:solidFill>
                <a:latin typeface="Georgia"/>
                <a:cs typeface="Georgia"/>
              </a:rPr>
              <a:t>Engineering</a:t>
            </a:r>
            <a:r>
              <a:rPr sz="800" spc="85" dirty="0">
                <a:solidFill>
                  <a:srgbClr val="1B4587"/>
                </a:solidFill>
                <a:latin typeface="Georgia"/>
                <a:cs typeface="Georgia"/>
              </a:rPr>
              <a:t> </a:t>
            </a:r>
            <a:r>
              <a:rPr sz="800" spc="10" dirty="0">
                <a:solidFill>
                  <a:srgbClr val="1B4587"/>
                </a:solidFill>
                <a:latin typeface="Georgia"/>
                <a:cs typeface="Georgia"/>
              </a:rPr>
              <a:t>and</a:t>
            </a:r>
            <a:r>
              <a:rPr sz="800" spc="90" dirty="0">
                <a:solidFill>
                  <a:srgbClr val="1B4587"/>
                </a:solidFill>
                <a:latin typeface="Georgia"/>
                <a:cs typeface="Georgia"/>
              </a:rPr>
              <a:t> </a:t>
            </a:r>
            <a:r>
              <a:rPr sz="800" spc="-10" dirty="0">
                <a:solidFill>
                  <a:srgbClr val="1B4587"/>
                </a:solidFill>
                <a:latin typeface="Georgia"/>
                <a:cs typeface="Georgia"/>
              </a:rPr>
              <a:t>Technology</a:t>
            </a:r>
            <a:endParaRPr sz="800">
              <a:latin typeface="Georgia"/>
              <a:cs typeface="Georgia"/>
            </a:endParaRPr>
          </a:p>
        </p:txBody>
      </p:sp>
      <p:sp>
        <p:nvSpPr>
          <p:cNvPr id="15" name="object 2">
            <a:extLst>
              <a:ext uri="{FF2B5EF4-FFF2-40B4-BE49-F238E27FC236}">
                <a16:creationId xmlns:a16="http://schemas.microsoft.com/office/drawing/2014/main" id="{62EA8C5F-E444-52D3-14F4-3B886E55FA89}"/>
              </a:ext>
            </a:extLst>
          </p:cNvPr>
          <p:cNvSpPr txBox="1"/>
          <p:nvPr/>
        </p:nvSpPr>
        <p:spPr>
          <a:xfrm>
            <a:off x="1322881" y="1341442"/>
            <a:ext cx="6498237" cy="2074414"/>
          </a:xfrm>
          <a:prstGeom prst="rect">
            <a:avLst/>
          </a:prstGeom>
        </p:spPr>
        <p:txBody>
          <a:bodyPr vert="horz" wrap="square" lIns="0" tIns="12700" rIns="0" bIns="0" rtlCol="0">
            <a:spAutoFit/>
          </a:bodyPr>
          <a:lstStyle/>
          <a:p>
            <a:pPr marL="12700" marR="5080" indent="518159" algn="ctr">
              <a:lnSpc>
                <a:spcPct val="120000"/>
              </a:lnSpc>
              <a:spcBef>
                <a:spcPts val="100"/>
              </a:spcBef>
            </a:pPr>
            <a:r>
              <a:rPr lang="en-US" sz="2800" b="1" dirty="0" err="1">
                <a:solidFill>
                  <a:srgbClr val="0000AA"/>
                </a:solidFill>
                <a:latin typeface="Times New Roman" panose="02020603050405020304" pitchFamily="18" charset="0"/>
                <a:cs typeface="Times New Roman" panose="02020603050405020304" pitchFamily="18" charset="0"/>
              </a:rPr>
              <a:t>ỨNG</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DỤNG</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PHƯƠNG</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PHÁP</a:t>
            </a:r>
            <a:r>
              <a:rPr lang="en-US" sz="2800" b="1" dirty="0">
                <a:solidFill>
                  <a:srgbClr val="0000AA"/>
                </a:solidFill>
                <a:latin typeface="Times New Roman" panose="02020603050405020304" pitchFamily="18" charset="0"/>
                <a:cs typeface="Times New Roman" panose="02020603050405020304" pitchFamily="18" charset="0"/>
              </a:rPr>
              <a:t> </a:t>
            </a:r>
          </a:p>
          <a:p>
            <a:pPr marL="12700" marR="5080" indent="518159" algn="ctr">
              <a:lnSpc>
                <a:spcPct val="120000"/>
              </a:lnSpc>
              <a:spcBef>
                <a:spcPts val="100"/>
              </a:spcBef>
            </a:pPr>
            <a:r>
              <a:rPr lang="en-US" sz="2800" b="1" dirty="0">
                <a:solidFill>
                  <a:srgbClr val="0000AA"/>
                </a:solidFill>
                <a:latin typeface="Times New Roman" panose="02020603050405020304" pitchFamily="18" charset="0"/>
                <a:cs typeface="Times New Roman" panose="02020603050405020304" pitchFamily="18" charset="0"/>
              </a:rPr>
              <a:t>RUNGE-</a:t>
            </a:r>
            <a:r>
              <a:rPr lang="en-US" sz="2800" b="1" dirty="0" err="1">
                <a:solidFill>
                  <a:srgbClr val="0000AA"/>
                </a:solidFill>
                <a:latin typeface="Times New Roman" panose="02020603050405020304" pitchFamily="18" charset="0"/>
                <a:cs typeface="Times New Roman" panose="02020603050405020304" pitchFamily="18" charset="0"/>
              </a:rPr>
              <a:t>KUTTA</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BẬC</a:t>
            </a:r>
            <a:r>
              <a:rPr lang="en-US" sz="2800" b="1" dirty="0">
                <a:solidFill>
                  <a:srgbClr val="0000AA"/>
                </a:solidFill>
                <a:latin typeface="Times New Roman" panose="02020603050405020304" pitchFamily="18" charset="0"/>
                <a:cs typeface="Times New Roman" panose="02020603050405020304" pitchFamily="18" charset="0"/>
              </a:rPr>
              <a:t> 4 </a:t>
            </a:r>
          </a:p>
          <a:p>
            <a:pPr marL="12700" marR="5080" indent="518159" algn="ctr">
              <a:lnSpc>
                <a:spcPct val="120000"/>
              </a:lnSpc>
              <a:spcBef>
                <a:spcPts val="100"/>
              </a:spcBef>
            </a:pPr>
            <a:r>
              <a:rPr lang="en-US" sz="2800" b="1" dirty="0" err="1">
                <a:solidFill>
                  <a:srgbClr val="0000AA"/>
                </a:solidFill>
                <a:latin typeface="Times New Roman" panose="02020603050405020304" pitchFamily="18" charset="0"/>
                <a:cs typeface="Times New Roman" panose="02020603050405020304" pitchFamily="18" charset="0"/>
              </a:rPr>
              <a:t>VÀO</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DƯ</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BÁO</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DÂN</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SÔ</a:t>
            </a:r>
            <a:r>
              <a:rPr lang="en-US" sz="2800" b="1" dirty="0">
                <a:solidFill>
                  <a:srgbClr val="0000AA"/>
                </a:solidFill>
                <a:latin typeface="Times New Roman" panose="02020603050405020304" pitchFamily="18" charset="0"/>
                <a:cs typeface="Times New Roman" panose="02020603050405020304" pitchFamily="18" charset="0"/>
              </a:rPr>
              <a:t>́ </a:t>
            </a:r>
            <a:r>
              <a:rPr lang="en-US" sz="2800" b="1" dirty="0" err="1">
                <a:solidFill>
                  <a:srgbClr val="0000AA"/>
                </a:solidFill>
                <a:latin typeface="Times New Roman" panose="02020603050405020304" pitchFamily="18" charset="0"/>
                <a:cs typeface="Times New Roman" panose="02020603050405020304" pitchFamily="18" charset="0"/>
              </a:rPr>
              <a:t>VIỆT</a:t>
            </a:r>
            <a:r>
              <a:rPr lang="en-US" sz="2800" b="1" dirty="0">
                <a:solidFill>
                  <a:srgbClr val="0000AA"/>
                </a:solidFill>
                <a:latin typeface="Times New Roman" panose="02020603050405020304" pitchFamily="18" charset="0"/>
                <a:cs typeface="Times New Roman" panose="02020603050405020304" pitchFamily="18" charset="0"/>
              </a:rPr>
              <a:t> NAM</a:t>
            </a:r>
          </a:p>
          <a:p>
            <a:pPr marL="12700" marR="5080" indent="518159" algn="ctr">
              <a:lnSpc>
                <a:spcPct val="120000"/>
              </a:lnSpc>
              <a:spcBef>
                <a:spcPts val="100"/>
              </a:spcBef>
            </a:pPr>
            <a:r>
              <a:rPr lang="en-US" sz="2800" b="1" dirty="0" err="1">
                <a:solidFill>
                  <a:srgbClr val="37761C"/>
                </a:solidFill>
                <a:latin typeface="Times New Roman" panose="02020603050405020304" pitchFamily="18" charset="0"/>
                <a:cs typeface="Times New Roman" panose="02020603050405020304" pitchFamily="18" charset="0"/>
              </a:rPr>
              <a:t>HỌC</a:t>
            </a:r>
            <a:r>
              <a:rPr lang="en-US" sz="2800" b="1" dirty="0">
                <a:solidFill>
                  <a:srgbClr val="37761C"/>
                </a:solidFill>
                <a:latin typeface="Times New Roman" panose="02020603050405020304" pitchFamily="18" charset="0"/>
                <a:cs typeface="Times New Roman" panose="02020603050405020304" pitchFamily="18" charset="0"/>
              </a:rPr>
              <a:t> </a:t>
            </a:r>
            <a:r>
              <a:rPr lang="en-US" sz="2800" b="1" dirty="0" err="1">
                <a:solidFill>
                  <a:srgbClr val="37761C"/>
                </a:solidFill>
                <a:latin typeface="Times New Roman" panose="02020603050405020304" pitchFamily="18" charset="0"/>
                <a:cs typeface="Times New Roman" panose="02020603050405020304" pitchFamily="18" charset="0"/>
              </a:rPr>
              <a:t>PHẦN</a:t>
            </a:r>
            <a:r>
              <a:rPr lang="en-US" sz="2800" b="1" dirty="0">
                <a:solidFill>
                  <a:srgbClr val="37761C"/>
                </a:solidFill>
                <a:latin typeface="Times New Roman" panose="02020603050405020304" pitchFamily="18" charset="0"/>
                <a:cs typeface="Times New Roman" panose="02020603050405020304" pitchFamily="18" charset="0"/>
              </a:rPr>
              <a:t>: </a:t>
            </a:r>
            <a:r>
              <a:rPr lang="en-US" sz="2800" b="1" dirty="0" err="1">
                <a:solidFill>
                  <a:srgbClr val="37761C"/>
                </a:solidFill>
                <a:latin typeface="Times New Roman" panose="02020603050405020304" pitchFamily="18" charset="0"/>
                <a:cs typeface="Times New Roman" panose="02020603050405020304" pitchFamily="18" charset="0"/>
              </a:rPr>
              <a:t>PHƯƠNG</a:t>
            </a:r>
            <a:r>
              <a:rPr lang="en-US" sz="2800" b="1" dirty="0">
                <a:solidFill>
                  <a:srgbClr val="37761C"/>
                </a:solidFill>
                <a:latin typeface="Times New Roman" panose="02020603050405020304" pitchFamily="18" charset="0"/>
                <a:cs typeface="Times New Roman" panose="02020603050405020304" pitchFamily="18" charset="0"/>
              </a:rPr>
              <a:t> </a:t>
            </a:r>
            <a:r>
              <a:rPr lang="en-US" sz="2800" b="1" dirty="0" err="1">
                <a:solidFill>
                  <a:srgbClr val="37761C"/>
                </a:solidFill>
                <a:latin typeface="Times New Roman" panose="02020603050405020304" pitchFamily="18" charset="0"/>
                <a:cs typeface="Times New Roman" panose="02020603050405020304" pitchFamily="18" charset="0"/>
              </a:rPr>
              <a:t>PHÁP</a:t>
            </a:r>
            <a:r>
              <a:rPr lang="en-US" sz="2800" b="1" dirty="0">
                <a:solidFill>
                  <a:srgbClr val="37761C"/>
                </a:solidFill>
                <a:latin typeface="Times New Roman" panose="02020603050405020304" pitchFamily="18" charset="0"/>
                <a:cs typeface="Times New Roman" panose="02020603050405020304" pitchFamily="18" charset="0"/>
              </a:rPr>
              <a:t> </a:t>
            </a:r>
            <a:r>
              <a:rPr lang="en-US" sz="2800" b="1" dirty="0" err="1">
                <a:solidFill>
                  <a:srgbClr val="37761C"/>
                </a:solidFill>
                <a:latin typeface="Times New Roman" panose="02020603050405020304" pitchFamily="18" charset="0"/>
                <a:cs typeface="Times New Roman" panose="02020603050405020304" pitchFamily="18" charset="0"/>
              </a:rPr>
              <a:t>TÍNH</a:t>
            </a:r>
            <a:endParaRPr sz="2800" dirty="0">
              <a:latin typeface="Times New Roman" panose="02020603050405020304" pitchFamily="18" charset="0"/>
              <a:cs typeface="Times New Roman" panose="02020603050405020304" pitchFamily="18" charset="0"/>
            </a:endParaRPr>
          </a:p>
        </p:txBody>
      </p:sp>
      <p:sp>
        <p:nvSpPr>
          <p:cNvPr id="2" name="object 2">
            <a:extLst>
              <a:ext uri="{FF2B5EF4-FFF2-40B4-BE49-F238E27FC236}">
                <a16:creationId xmlns:a16="http://schemas.microsoft.com/office/drawing/2014/main" id="{0D17D6FC-CFF6-4403-61A6-22CE566F21DE}"/>
              </a:ext>
            </a:extLst>
          </p:cNvPr>
          <p:cNvSpPr txBox="1"/>
          <p:nvPr/>
        </p:nvSpPr>
        <p:spPr>
          <a:xfrm>
            <a:off x="-76200" y="4271018"/>
            <a:ext cx="8001000" cy="520207"/>
          </a:xfrm>
          <a:prstGeom prst="rect">
            <a:avLst/>
          </a:prstGeom>
        </p:spPr>
        <p:txBody>
          <a:bodyPr vert="horz" wrap="square" lIns="0" tIns="12700" rIns="0" bIns="0" rtlCol="0">
            <a:spAutoFit/>
          </a:bodyPr>
          <a:lstStyle/>
          <a:p>
            <a:pPr marL="12700" marR="5080" indent="518159" algn="l">
              <a:lnSpc>
                <a:spcPct val="120000"/>
              </a:lnSpc>
              <a:spcBef>
                <a:spcPts val="100"/>
              </a:spcBef>
            </a:pPr>
            <a:r>
              <a:rPr lang="en-US" sz="1400" b="1" dirty="0">
                <a:solidFill>
                  <a:schemeClr val="tx1"/>
                </a:solidFill>
                <a:latin typeface="Times New Roman" panose="02020603050405020304" pitchFamily="18" charset="0"/>
                <a:cs typeface="Times New Roman" panose="02020603050405020304" pitchFamily="18" charset="0"/>
              </a:rPr>
              <a:t>Sinh </a:t>
            </a:r>
            <a:r>
              <a:rPr lang="en-US" sz="1400" b="1" dirty="0" err="1">
                <a:solidFill>
                  <a:schemeClr val="tx1"/>
                </a:solidFill>
                <a:latin typeface="Times New Roman" panose="02020603050405020304" pitchFamily="18" charset="0"/>
                <a:cs typeface="Times New Roman" panose="02020603050405020304" pitchFamily="18" charset="0"/>
              </a:rPr>
              <a:t>viên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thực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hiện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Nguyễn</a:t>
            </a:r>
            <a:r>
              <a:rPr lang="en-US" sz="1400" b="1" dirty="0">
                <a:solidFill>
                  <a:schemeClr val="tx1"/>
                </a:solidFill>
                <a:latin typeface="Times New Roman" panose="02020603050405020304" pitchFamily="18" charset="0"/>
                <a:cs typeface="Times New Roman" panose="02020603050405020304" pitchFamily="18" charset="0"/>
              </a:rPr>
              <a:t> Thị </a:t>
            </a:r>
            <a:r>
              <a:rPr lang="en-US" sz="1400" b="1" dirty="0" err="1">
                <a:solidFill>
                  <a:schemeClr val="tx1"/>
                </a:solidFill>
                <a:latin typeface="Times New Roman" panose="02020603050405020304" pitchFamily="18" charset="0"/>
                <a:cs typeface="Times New Roman" panose="02020603050405020304" pitchFamily="18" charset="0"/>
              </a:rPr>
              <a:t>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Yến</a:t>
            </a:r>
            <a:endParaRPr lang="en-US" sz="1400" b="1" dirty="0">
              <a:solidFill>
                <a:schemeClr val="tx1"/>
              </a:solidFill>
              <a:latin typeface="Times New Roman" panose="02020603050405020304" pitchFamily="18" charset="0"/>
              <a:cs typeface="Times New Roman" panose="02020603050405020304" pitchFamily="18" charset="0"/>
            </a:endParaRPr>
          </a:p>
          <a:p>
            <a:pPr marL="12700" marR="5080" indent="518159" algn="l">
              <a:lnSpc>
                <a:spcPct val="120000"/>
              </a:lnSpc>
              <a:spcBef>
                <a:spcPts val="100"/>
              </a:spcBef>
            </a:pPr>
            <a:r>
              <a:rPr lang="en-US" sz="1400" b="1" dirty="0" err="1">
                <a:solidFill>
                  <a:schemeClr val="tx1"/>
                </a:solidFill>
                <a:latin typeface="Times New Roman" panose="02020603050405020304" pitchFamily="18" charset="0"/>
                <a:cs typeface="Times New Roman" panose="02020603050405020304" pitchFamily="18" charset="0"/>
              </a:rPr>
              <a:t>Giảng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viên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TS.GVC</a:t>
            </a:r>
            <a:r>
              <a:rPr lang="en-US" sz="1400" b="1" dirty="0">
                <a:solidFill>
                  <a:schemeClr val="tx1"/>
                </a:solidFill>
                <a:latin typeface="Times New Roman" panose="02020603050405020304" pitchFamily="18" charset="0"/>
                <a:cs typeface="Times New Roman" panose="02020603050405020304" pitchFamily="18" charset="0"/>
              </a:rPr>
              <a:t> Lê </a:t>
            </a:r>
            <a:r>
              <a:rPr lang="en-US" sz="1400" b="1" dirty="0" err="1">
                <a:solidFill>
                  <a:schemeClr val="tx1"/>
                </a:solidFill>
                <a:latin typeface="Times New Roman" panose="02020603050405020304" pitchFamily="18" charset="0"/>
                <a:cs typeface="Times New Roman" panose="02020603050405020304" pitchFamily="18" charset="0"/>
              </a:rPr>
              <a:t>Phê</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Đô</a:t>
            </a:r>
            <a:endParaRPr sz="1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27515"/>
          </a:xfrm>
          <a:prstGeom prst="rect">
            <a:avLst/>
          </a:prstGeom>
        </p:spPr>
        <p:txBody>
          <a:bodyPr vert="horz" wrap="square" lIns="0" tIns="240446" rIns="0" bIns="0" rtlCol="0">
            <a:spAutoFit/>
          </a:bodyPr>
          <a:lstStyle/>
          <a:p>
            <a:pPr marL="310515">
              <a:lnSpc>
                <a:spcPct val="100000"/>
              </a:lnSpc>
              <a:spcBef>
                <a:spcPts val="120"/>
              </a:spcBef>
            </a:pPr>
            <a:r>
              <a:rPr lang="en-US" sz="2500" dirty="0"/>
              <a:t>I. </a:t>
            </a:r>
            <a:r>
              <a:rPr lang="en-US" sz="2500" dirty="0" err="1"/>
              <a:t>Giới</a:t>
            </a:r>
            <a:r>
              <a:rPr lang="en-US" sz="2500" dirty="0"/>
              <a:t> </a:t>
            </a:r>
            <a:r>
              <a:rPr lang="en-US" sz="2500" dirty="0" err="1"/>
              <a:t>thiệu</a:t>
            </a:r>
            <a:r>
              <a:rPr lang="en-US" sz="2500" dirty="0"/>
              <a:t> </a:t>
            </a:r>
            <a:r>
              <a:rPr lang="en-US" sz="2500" dirty="0" err="1"/>
              <a:t>đê</a:t>
            </a:r>
            <a:r>
              <a:rPr lang="en-US" sz="2500" dirty="0"/>
              <a:t>̀̀ </a:t>
            </a:r>
            <a:r>
              <a:rPr lang="en-US" sz="2500" dirty="0" err="1"/>
              <a:t>tài</a:t>
            </a:r>
            <a:endParaRPr sz="25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2</a:t>
            </a:fld>
            <a:endParaRPr sz="1200"/>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12" name="TextBox 11">
            <a:extLst>
              <a:ext uri="{FF2B5EF4-FFF2-40B4-BE49-F238E27FC236}">
                <a16:creationId xmlns:a16="http://schemas.microsoft.com/office/drawing/2014/main" id="{32BFD302-C4D5-E18E-76B0-01B785D7C8D3}"/>
              </a:ext>
            </a:extLst>
          </p:cNvPr>
          <p:cNvSpPr txBox="1"/>
          <p:nvPr/>
        </p:nvSpPr>
        <p:spPr>
          <a:xfrm>
            <a:off x="591240" y="883972"/>
            <a:ext cx="3827584" cy="3293209"/>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1</a:t>
            </a:r>
            <a:r>
              <a:rPr lang="en-US" sz="1600" dirty="0"/>
              <a:t>. </a:t>
            </a:r>
            <a:r>
              <a:rPr lang="en-US" sz="1600" dirty="0" err="1">
                <a:latin typeface="Times New Roman" panose="02020603050405020304" pitchFamily="18" charset="0"/>
                <a:cs typeface="Times New Roman" panose="02020603050405020304" pitchFamily="18" charset="0"/>
              </a:rPr>
              <a:t>Đặt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vấn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đê</a:t>
            </a:r>
            <a:r>
              <a:rPr lang="en-US" sz="1600" dirty="0">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
            </a:pPr>
            <a:r>
              <a:rPr lang="vi-VN" sz="1300" dirty="0">
                <a:latin typeface="Times New Roman" panose="02020603050405020304" pitchFamily="18" charset="0"/>
                <a:cs typeface="Times New Roman" panose="02020603050405020304" pitchFamily="18" charset="0"/>
              </a:rPr>
              <a:t>Dân số là yếu tố cốt lõi ảnh hưởng đến kinh tế, chính trị và môi trường.</a:t>
            </a:r>
            <a:endParaRPr lang="en-US" sz="1300" dirty="0">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
            </a:pPr>
            <a:r>
              <a:rPr lang="en-US" sz="1300" dirty="0" err="1">
                <a:latin typeface="Times New Roman" panose="02020603050405020304" pitchFamily="18" charset="0"/>
                <a:cs typeface="Times New Roman" panose="02020603050405020304" pitchFamily="18" charset="0"/>
              </a:rPr>
              <a:t>Dự</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báo</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chính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xác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đóng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trò</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tiên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quyết</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trong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hoạch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định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chính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sách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và</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phân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bổ</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nguồn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lực</a:t>
            </a:r>
            <a:r>
              <a:rPr lang="en-US" sz="1300" dirty="0">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
            </a:pPr>
            <a:r>
              <a:rPr lang="en-US" sz="1300" dirty="0" err="1">
                <a:latin typeface="Times New Roman" panose="02020603050405020304" pitchFamily="18" charset="0"/>
                <a:cs typeface="Times New Roman" panose="02020603050405020304" pitchFamily="18" charset="0"/>
              </a:rPr>
              <a:t>Thách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thức</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Biến động dân số thực tế phức tạp, các mô hình cổ điển khó tìm được nghiệm tường minh chính xác khi xét đến các yếu tố tương tác phi tuyến.</a:t>
            </a:r>
            <a:endParaRPr lang="en-US" sz="1300" dirty="0">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
            </a:pPr>
            <a:r>
              <a:rPr lang="en-US" sz="1300" dirty="0" err="1">
                <a:latin typeface="Times New Roman" panose="02020603050405020304" pitchFamily="18" charset="0"/>
                <a:cs typeface="Times New Roman" panose="02020603050405020304" pitchFamily="18" charset="0"/>
              </a:rPr>
              <a:t>Giải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pháp</a:t>
            </a:r>
            <a:r>
              <a:rPr lang="en-US" sz="1300" dirty="0">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Áp dụng phương pháp giải tích số, cụ thể là thuật toán Runge-Kutta bậc 4.</a:t>
            </a:r>
            <a:endParaRPr lang="en-US" sz="1300" dirty="0">
              <a:latin typeface="Times New Roman" panose="02020603050405020304" pitchFamily="18" charset="0"/>
              <a:cs typeface="Times New Roman" panose="02020603050405020304" pitchFamily="18" charset="0"/>
            </a:endParaRPr>
          </a:p>
          <a:p>
            <a:endParaRPr lang="en-US" sz="1300" dirty="0"/>
          </a:p>
          <a:p>
            <a:r>
              <a:rPr lang="en-US" sz="1300" dirty="0"/>
              <a:t> </a:t>
            </a:r>
          </a:p>
          <a:p>
            <a:pPr marL="285750" indent="-285750">
              <a:buFontTx/>
              <a:buChar char="-"/>
            </a:pPr>
            <a:endParaRPr lang="en-US" dirty="0"/>
          </a:p>
          <a:p>
            <a:endParaRPr lang="en-US" dirty="0"/>
          </a:p>
        </p:txBody>
      </p:sp>
      <p:pic>
        <p:nvPicPr>
          <p:cNvPr id="17" name="Picture 16" descr="A graph with a line&#10;&#10;AI-generated content may be incorrect.">
            <a:extLst>
              <a:ext uri="{FF2B5EF4-FFF2-40B4-BE49-F238E27FC236}">
                <a16:creationId xmlns:a16="http://schemas.microsoft.com/office/drawing/2014/main" id="{874B4513-A370-6763-7ABC-9382BE3B11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8992" y="2910205"/>
            <a:ext cx="4138875" cy="1886206"/>
          </a:xfrm>
          <a:prstGeom prst="rect">
            <a:avLst/>
          </a:prstGeom>
        </p:spPr>
      </p:pic>
      <p:sp>
        <p:nvSpPr>
          <p:cNvPr id="18" name="TextBox 17">
            <a:extLst>
              <a:ext uri="{FF2B5EF4-FFF2-40B4-BE49-F238E27FC236}">
                <a16:creationId xmlns:a16="http://schemas.microsoft.com/office/drawing/2014/main" id="{3365B65D-8FD2-2060-4438-CDB59B6646E5}"/>
              </a:ext>
            </a:extLst>
          </p:cNvPr>
          <p:cNvSpPr txBox="1"/>
          <p:nvPr/>
        </p:nvSpPr>
        <p:spPr>
          <a:xfrm>
            <a:off x="4638993" y="883972"/>
            <a:ext cx="3827584" cy="2923877"/>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2</a:t>
            </a:r>
            <a:r>
              <a:rPr lang="en-US" sz="1600" dirty="0"/>
              <a:t>. </a:t>
            </a:r>
            <a:r>
              <a:rPr lang="en-US" sz="1600" dirty="0" err="1">
                <a:latin typeface="Times New Roman" panose="02020603050405020304" pitchFamily="18" charset="0"/>
                <a:cs typeface="Times New Roman" panose="02020603050405020304" pitchFamily="18" charset="0"/>
              </a:rPr>
              <a:t>Mục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tiêu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tài</a:t>
            </a:r>
            <a:endParaRPr lang="en-US" sz="1600"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Nghiên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cứu</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Logistic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tăng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trưởng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giới</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hạn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Lotka</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-Volterra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tương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tác</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dân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tài</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nguyên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Cài</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áp</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thuật</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toán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Runge-</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Kutta</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bậc</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giải</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phương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phân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phi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tuyến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Kiểm</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dữ</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liệu</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tế</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dân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Việt</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Nam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giai</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đoạn</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2000 - 2024.</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Đánh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chính</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chỉ</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MAPE</a:t>
            </a:r>
            <a:endPar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1300" dirty="0"/>
          </a:p>
          <a:p>
            <a:r>
              <a:rPr lang="en-US" sz="1300" dirty="0"/>
              <a:t> </a:t>
            </a:r>
          </a:p>
          <a:p>
            <a:pPr marL="285750" indent="-285750">
              <a:buFontTx/>
              <a:buChar char="-"/>
            </a:pPr>
            <a:endParaRPr lang="en-US" dirty="0"/>
          </a:p>
          <a:p>
            <a:endParaRPr lang="en-US" dirty="0"/>
          </a:p>
        </p:txBody>
      </p:sp>
      <p:pic>
        <p:nvPicPr>
          <p:cNvPr id="8" name="Picture 7" descr="Hi Bee">
            <a:extLst>
              <a:ext uri="{FF2B5EF4-FFF2-40B4-BE49-F238E27FC236}">
                <a16:creationId xmlns:a16="http://schemas.microsoft.com/office/drawing/2014/main" id="{45ACF3C9-F57C-29EF-FB73-BFAB64A0C5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906364"/>
            <a:ext cx="1123950" cy="1123950"/>
          </a:xfrm>
          <a:prstGeom prst="rect">
            <a:avLst/>
          </a:prstGeom>
        </p:spPr>
      </p:pic>
      <p:pic>
        <p:nvPicPr>
          <p:cNvPr id="4" name="object 10">
            <a:extLst>
              <a:ext uri="{FF2B5EF4-FFF2-40B4-BE49-F238E27FC236}">
                <a16:creationId xmlns:a16="http://schemas.microsoft.com/office/drawing/2014/main" id="{63F62EE9-378B-8000-8AE4-30AA0ACB15C7}"/>
              </a:ext>
            </a:extLst>
          </p:cNvPr>
          <p:cNvPicPr/>
          <p:nvPr/>
        </p:nvPicPr>
        <p:blipFill>
          <a:blip r:embed="rId4" cstate="print"/>
          <a:stretch>
            <a:fillRect/>
          </a:stretch>
        </p:blipFill>
        <p:spPr>
          <a:xfrm>
            <a:off x="8326128" y="27172"/>
            <a:ext cx="790024" cy="7946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fade">
                                      <p:cBhvr>
                                        <p:cTn id="10" dur="500"/>
                                        <p:tgtEl>
                                          <p:spTgt spid="1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fade">
                                      <p:cBhvr>
                                        <p:cTn id="13" dur="500"/>
                                        <p:tgtEl>
                                          <p:spTgt spid="1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xEl>
                                              <p:pRg st="3" end="3"/>
                                            </p:txEl>
                                          </p:spTgt>
                                        </p:tgtEl>
                                        <p:attrNameLst>
                                          <p:attrName>style.visibility</p:attrName>
                                        </p:attrNameLst>
                                      </p:cBhvr>
                                      <p:to>
                                        <p:strVal val="visible"/>
                                      </p:to>
                                    </p:set>
                                    <p:animEffect transition="in" filter="fade">
                                      <p:cBhvr>
                                        <p:cTn id="16" dur="500"/>
                                        <p:tgtEl>
                                          <p:spTgt spid="1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fade">
                                      <p:cBhvr>
                                        <p:cTn id="19" dur="500"/>
                                        <p:tgtEl>
                                          <p:spTgt spid="1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latin typeface="Times New Roman" panose="02020603050405020304" pitchFamily="18" charset="0"/>
                <a:cs typeface="Times New Roman" panose="02020603050405020304" pitchFamily="18" charset="0"/>
              </a:rPr>
              <a:t>II.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học</a:t>
            </a:r>
            <a:r>
              <a:rPr lang="en-US" sz="2800" dirty="0">
                <a:latin typeface="Times New Roman" panose="02020603050405020304" pitchFamily="18" charset="0"/>
                <a:cs typeface="Times New Roman" panose="02020603050405020304" pitchFamily="18" charset="0"/>
              </a:rPr>
              <a:t> </a:t>
            </a:r>
            <a:endParaRPr sz="2800" dirty="0">
              <a:latin typeface="Times New Roman" panose="02020603050405020304" pitchFamily="18" charset="0"/>
              <a:cs typeface="Times New Roman" panose="02020603050405020304" pitchFamily="18" charset="0"/>
            </a:endParaRPr>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sz="1300">
              <a:latin typeface="Times New Roman" panose="02020603050405020304" pitchFamily="18" charset="0"/>
              <a:cs typeface="Times New Roman" panose="02020603050405020304" pitchFamily="18" charset="0"/>
            </a:endParaRPr>
          </a:p>
        </p:txBody>
      </p:sp>
      <p:sp>
        <p:nvSpPr>
          <p:cNvPr id="95" name="Text 1">
            <a:extLst>
              <a:ext uri="{FF2B5EF4-FFF2-40B4-BE49-F238E27FC236}">
                <a16:creationId xmlns:a16="http://schemas.microsoft.com/office/drawing/2014/main" id="{75532367-2386-439C-BC61-416DF16A1C77}"/>
              </a:ext>
            </a:extLst>
          </p:cNvPr>
          <p:cNvSpPr/>
          <p:nvPr/>
        </p:nvSpPr>
        <p:spPr>
          <a:xfrm>
            <a:off x="683684" y="998268"/>
            <a:ext cx="1409039" cy="154466"/>
          </a:xfrm>
          <a:prstGeom prst="rect">
            <a:avLst/>
          </a:prstGeom>
          <a:noFill/>
          <a:ln/>
        </p:spPr>
        <p:txBody>
          <a:bodyPr wrap="none" lIns="0" tIns="0" rIns="0" bIns="0" rtlCol="0" anchor="t">
            <a:spAutoFit/>
          </a:bodyPr>
          <a:lstStyle/>
          <a:p>
            <a:pPr marL="0" indent="0" algn="ctr">
              <a:lnSpc>
                <a:spcPts val="1200"/>
              </a:lnSpc>
              <a:buNone/>
            </a:pPr>
            <a:r>
              <a:rPr lang="en-US" sz="1300" b="1" dirty="0">
                <a:solidFill>
                  <a:srgbClr val="0055FF"/>
                </a:solidFill>
                <a:latin typeface="Times New Roman" panose="02020603050405020304" pitchFamily="18" charset="0"/>
                <a:cs typeface="Times New Roman" panose="02020603050405020304" pitchFamily="18" charset="0"/>
              </a:rPr>
              <a:t>1. Mô hình Malthus</a:t>
            </a:r>
            <a:endParaRPr lang="en-US" sz="13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8" name="Text 4">
                <a:extLst>
                  <a:ext uri="{FF2B5EF4-FFF2-40B4-BE49-F238E27FC236}">
                    <a16:creationId xmlns:a16="http://schemas.microsoft.com/office/drawing/2014/main" id="{78C25009-A32A-187B-F76E-0A446FFDA82C}"/>
                  </a:ext>
                </a:extLst>
              </p:cNvPr>
              <p:cNvSpPr/>
              <p:nvPr/>
            </p:nvSpPr>
            <p:spPr>
              <a:xfrm>
                <a:off x="304800" y="1116865"/>
                <a:ext cx="2502441" cy="1454885"/>
              </a:xfrm>
              <a:prstGeom prst="rect">
                <a:avLst/>
              </a:prstGeom>
              <a:noFill/>
              <a:ln/>
            </p:spPr>
            <p:txBody>
              <a:bodyPr wrap="square" lIns="85090" tIns="85090" rIns="85090" bIns="85090" rtlCol="0" anchor="t">
                <a:spAutoFit/>
              </a:bodyPr>
              <a:lstStyle/>
              <a:p>
                <a:pPr>
                  <a:lnSpc>
                    <a:spcPct val="115000"/>
                  </a:lnSpc>
                </a:pPr>
                <a14:m>
                  <m:oMathPara xmlns:m="http://schemas.openxmlformats.org/officeDocument/2006/math">
                    <m:oMathParaPr>
                      <m:jc m:val="centerGroup"/>
                    </m:oMathParaPr>
                    <m:oMath xmlns:m="http://schemas.openxmlformats.org/officeDocument/2006/math">
                      <m:f>
                        <m:fPr>
                          <m:ctrlPr>
                            <a:rPr lang="en-US" sz="1600"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𝑑𝑁</m:t>
                          </m:r>
                        </m:num>
                        <m:den>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𝑑𝑡</m:t>
                          </m:r>
                        </m:den>
                      </m:f>
                      <m:r>
                        <a:rPr lang="en-US" sz="16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𝑟𝑁</m:t>
                      </m:r>
                    </m:oMath>
                  </m:oMathPara>
                </a14:m>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=&gt; </a:t>
                </a:r>
                <a14:m>
                  <m:oMath xmlns:m="http://schemas.openxmlformats.org/officeDocument/2006/math">
                    <m:r>
                      <a:rPr lang="en-US" sz="1600" i="1" kern="100" smtClean="0">
                        <a:effectLst/>
                        <a:latin typeface="Cambria Math" panose="02040503050406030204" pitchFamily="18" charset="0"/>
                        <a:ea typeface="Aptos" panose="020B0004020202020204" pitchFamily="34" charset="0"/>
                        <a:cs typeface="Times New Roman" panose="02020603050405020304" pitchFamily="18" charset="0"/>
                      </a:rPr>
                      <m:t>𝑁</m:t>
                    </m:r>
                    <m:d>
                      <m:d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e>
                    </m:d>
                    <m:r>
                      <a:rPr lang="en-US" sz="1600" i="1" kern="100">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𝑜</m:t>
                        </m:r>
                      </m:sub>
                    </m:sSub>
                    <m:sSup>
                      <m:sSup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𝑒</m:t>
                        </m:r>
                      </m:e>
                      <m:sup>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𝑟</m:t>
                        </m:r>
                        <m:d>
                          <m:d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0</m:t>
                            </m:r>
                          </m:e>
                        </m:d>
                      </m:sup>
                    </m:sSup>
                  </m:oMath>
                </a14:m>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ctr">
                  <a:lnSpc>
                    <a:spcPts val="900"/>
                  </a:lnSpc>
                  <a:buNone/>
                </a:pPr>
                <a:endParaRPr lang="en-US" sz="1300" dirty="0">
                  <a:latin typeface="Times New Roman" panose="02020603050405020304" pitchFamily="18" charset="0"/>
                  <a:cs typeface="Times New Roman" panose="02020603050405020304" pitchFamily="18" charset="0"/>
                </a:endParaRPr>
              </a:p>
            </p:txBody>
          </p:sp>
        </mc:Choice>
        <mc:Fallback xmlns="">
          <p:sp>
            <p:nvSpPr>
              <p:cNvPr id="98" name="Text 4">
                <a:extLst>
                  <a:ext uri="{FF2B5EF4-FFF2-40B4-BE49-F238E27FC236}">
                    <a16:creationId xmlns:a16="http://schemas.microsoft.com/office/drawing/2014/main" id="{78C25009-A32A-187B-F76E-0A446FFDA82C}"/>
                  </a:ext>
                </a:extLst>
              </p:cNvPr>
              <p:cNvSpPr>
                <a:spLocks noRot="1" noChangeAspect="1" noMove="1" noResize="1" noEditPoints="1" noAdjustHandles="1" noChangeArrowheads="1" noChangeShapeType="1" noTextEdit="1"/>
              </p:cNvSpPr>
              <p:nvPr/>
            </p:nvSpPr>
            <p:spPr>
              <a:xfrm>
                <a:off x="304800" y="1116865"/>
                <a:ext cx="2502441" cy="1454885"/>
              </a:xfrm>
              <a:prstGeom prst="rect">
                <a:avLst/>
              </a:prstGeom>
              <a:blipFill>
                <a:blip r:embed="rId2"/>
                <a:stretch>
                  <a:fillRect l="-1703"/>
                </a:stretch>
              </a:blipFill>
              <a:ln/>
            </p:spPr>
            <p:txBody>
              <a:bodyPr/>
              <a:lstStyle/>
              <a:p>
                <a:r>
                  <a:rPr lang="en-US">
                    <a:noFill/>
                  </a:rPr>
                  <a:t> </a:t>
                </a:r>
              </a:p>
            </p:txBody>
          </p:sp>
        </mc:Fallback>
      </mc:AlternateContent>
      <p:sp>
        <p:nvSpPr>
          <p:cNvPr id="99" name="Text 5">
            <a:extLst>
              <a:ext uri="{FF2B5EF4-FFF2-40B4-BE49-F238E27FC236}">
                <a16:creationId xmlns:a16="http://schemas.microsoft.com/office/drawing/2014/main" id="{7D00EF30-7603-976A-1334-EECB0B9075C7}"/>
              </a:ext>
            </a:extLst>
          </p:cNvPr>
          <p:cNvSpPr/>
          <p:nvPr/>
        </p:nvSpPr>
        <p:spPr>
          <a:xfrm>
            <a:off x="624278" y="2192023"/>
            <a:ext cx="2143763" cy="646331"/>
          </a:xfrm>
          <a:prstGeom prst="rect">
            <a:avLst/>
          </a:prstGeom>
          <a:noFill/>
          <a:ln/>
        </p:spPr>
        <p:txBody>
          <a:bodyPr wrap="square" lIns="0" tIns="0" rIns="0" bIns="0" rtlCol="0" anchor="t">
            <a:spAutoFit/>
          </a:bodyPr>
          <a:lstStyle/>
          <a:p>
            <a:pPr marL="0" indent="0" algn="just">
              <a:buNone/>
            </a:pPr>
            <a:r>
              <a:rPr lang="en-US" sz="1400" dirty="0">
                <a:solidFill>
                  <a:srgbClr val="333333"/>
                </a:solidFill>
                <a:latin typeface="Times New Roman" panose="02020603050405020304" pitchFamily="18" charset="0"/>
                <a:cs typeface="Times New Roman" panose="02020603050405020304" pitchFamily="18" charset="0"/>
              </a:rPr>
              <a:t>Giả định tài nguyên vô hạn, tốc độ tăng trưởng tỷ lệ thuận với dân số hiện tại.</a:t>
            </a:r>
            <a:endParaRPr lang="en-US" sz="1400" dirty="0">
              <a:latin typeface="Times New Roman" panose="02020603050405020304" pitchFamily="18" charset="0"/>
              <a:cs typeface="Times New Roman" panose="02020603050405020304" pitchFamily="18" charset="0"/>
            </a:endParaRPr>
          </a:p>
        </p:txBody>
      </p:sp>
      <p:sp>
        <p:nvSpPr>
          <p:cNvPr id="102" name="Text 7">
            <a:extLst>
              <a:ext uri="{FF2B5EF4-FFF2-40B4-BE49-F238E27FC236}">
                <a16:creationId xmlns:a16="http://schemas.microsoft.com/office/drawing/2014/main" id="{3B0E5EF0-4D42-B685-7721-14F4AE8161F1}"/>
              </a:ext>
            </a:extLst>
          </p:cNvPr>
          <p:cNvSpPr/>
          <p:nvPr/>
        </p:nvSpPr>
        <p:spPr>
          <a:xfrm>
            <a:off x="468853" y="4330654"/>
            <a:ext cx="1621149"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Phù hợp ngắn hạn</a:t>
            </a:r>
            <a:endParaRPr lang="en-US" sz="1300" dirty="0">
              <a:latin typeface="Times New Roman" panose="02020603050405020304" pitchFamily="18" charset="0"/>
              <a:cs typeface="Times New Roman" panose="02020603050405020304" pitchFamily="18" charset="0"/>
            </a:endParaRPr>
          </a:p>
        </p:txBody>
      </p:sp>
      <p:sp>
        <p:nvSpPr>
          <p:cNvPr id="103" name="Text 8">
            <a:extLst>
              <a:ext uri="{FF2B5EF4-FFF2-40B4-BE49-F238E27FC236}">
                <a16:creationId xmlns:a16="http://schemas.microsoft.com/office/drawing/2014/main" id="{38287E05-AABA-A281-A752-BFE877528D6C}"/>
              </a:ext>
            </a:extLst>
          </p:cNvPr>
          <p:cNvSpPr/>
          <p:nvPr/>
        </p:nvSpPr>
        <p:spPr>
          <a:xfrm>
            <a:off x="468853" y="4516391"/>
            <a:ext cx="2241511"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Dự báo sai lệch lớn dài hạn</a:t>
            </a:r>
            <a:endParaRPr lang="en-US" sz="1300" dirty="0">
              <a:latin typeface="Times New Roman" panose="02020603050405020304" pitchFamily="18" charset="0"/>
              <a:cs typeface="Times New Roman" panose="02020603050405020304" pitchFamily="18" charset="0"/>
            </a:endParaRPr>
          </a:p>
        </p:txBody>
      </p:sp>
      <p:sp>
        <p:nvSpPr>
          <p:cNvPr id="104" name="Text 9">
            <a:extLst>
              <a:ext uri="{FF2B5EF4-FFF2-40B4-BE49-F238E27FC236}">
                <a16:creationId xmlns:a16="http://schemas.microsoft.com/office/drawing/2014/main" id="{7CAAA5A9-C11B-5921-2C15-2894AF415B6D}"/>
              </a:ext>
            </a:extLst>
          </p:cNvPr>
          <p:cNvSpPr/>
          <p:nvPr/>
        </p:nvSpPr>
        <p:spPr>
          <a:xfrm>
            <a:off x="468853" y="4702129"/>
            <a:ext cx="1367875"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Không thực tế</a:t>
            </a:r>
            <a:endParaRPr lang="en-US" sz="1300" dirty="0">
              <a:latin typeface="Times New Roman" panose="02020603050405020304" pitchFamily="18" charset="0"/>
              <a:cs typeface="Times New Roman" panose="02020603050405020304" pitchFamily="18" charset="0"/>
            </a:endParaRPr>
          </a:p>
        </p:txBody>
      </p:sp>
      <p:sp>
        <p:nvSpPr>
          <p:cNvPr id="108" name="Text 13">
            <a:extLst>
              <a:ext uri="{FF2B5EF4-FFF2-40B4-BE49-F238E27FC236}">
                <a16:creationId xmlns:a16="http://schemas.microsoft.com/office/drawing/2014/main" id="{A40B0596-ACC7-A29B-E9DA-50B68185FC94}"/>
              </a:ext>
            </a:extLst>
          </p:cNvPr>
          <p:cNvSpPr/>
          <p:nvPr/>
        </p:nvSpPr>
        <p:spPr>
          <a:xfrm>
            <a:off x="3372817" y="1022249"/>
            <a:ext cx="1380185" cy="154466"/>
          </a:xfrm>
          <a:prstGeom prst="rect">
            <a:avLst/>
          </a:prstGeom>
          <a:noFill/>
          <a:ln/>
        </p:spPr>
        <p:txBody>
          <a:bodyPr wrap="none" lIns="0" tIns="0" rIns="0" bIns="0" rtlCol="0" anchor="t">
            <a:spAutoFit/>
          </a:bodyPr>
          <a:lstStyle/>
          <a:p>
            <a:pPr marL="0" indent="0" algn="ctr">
              <a:lnSpc>
                <a:spcPts val="1200"/>
              </a:lnSpc>
              <a:buNone/>
            </a:pPr>
            <a:r>
              <a:rPr lang="en-US" sz="1300" b="1" dirty="0">
                <a:solidFill>
                  <a:srgbClr val="0055FF"/>
                </a:solidFill>
                <a:latin typeface="Times New Roman" panose="02020603050405020304" pitchFamily="18" charset="0"/>
                <a:cs typeface="Times New Roman" panose="02020603050405020304" pitchFamily="18" charset="0"/>
              </a:rPr>
              <a:t>2. Mô hình Logistic</a:t>
            </a:r>
            <a:endParaRPr lang="en-US" sz="13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9" name="Shape 14">
                <a:extLst>
                  <a:ext uri="{FF2B5EF4-FFF2-40B4-BE49-F238E27FC236}">
                    <a16:creationId xmlns:a16="http://schemas.microsoft.com/office/drawing/2014/main" id="{28F5F2B8-A475-7338-DE16-33D82ADC54D2}"/>
                  </a:ext>
                </a:extLst>
              </p:cNvPr>
              <p:cNvSpPr/>
              <p:nvPr/>
            </p:nvSpPr>
            <p:spPr>
              <a:xfrm>
                <a:off x="2910243" y="1224779"/>
                <a:ext cx="3044337" cy="1279571"/>
              </a:xfrm>
              <a:prstGeom prst="rect">
                <a:avLst/>
              </a:prstGeom>
              <a:solidFill>
                <a:srgbClr val="FFFFFF"/>
              </a:solidFill>
              <a:ln/>
            </p:spPr>
            <p:txBody>
              <a:bodyPr/>
              <a:lstStyle/>
              <a:p>
                <a:pPr/>
                <a14:m>
                  <m:oMathPara xmlns:m="http://schemas.openxmlformats.org/officeDocument/2006/math">
                    <m:oMathParaPr>
                      <m:jc m:val="centerGroup"/>
                    </m:oMathParaPr>
                    <m:oMath xmlns:m="http://schemas.openxmlformats.org/officeDocument/2006/math">
                      <m:f>
                        <m:fPr>
                          <m:ctrlPr>
                            <a:rPr lang="en-US" sz="1600"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𝑑𝑁</m:t>
                          </m:r>
                        </m:num>
                        <m:den>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𝑑𝑡</m:t>
                          </m:r>
                        </m:den>
                      </m:f>
                      <m:r>
                        <a:rPr lang="en-US" sz="16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𝑟𝑁</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𝑏</m:t>
                      </m:r>
                      <m:sSup>
                        <m:sSup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𝑁</m:t>
                          </m:r>
                        </m:e>
                        <m:sup>
                          <m:r>
                            <a:rPr lang="en-US" sz="1600" i="1" kern="100">
                              <a:effectLst/>
                              <a:latin typeface="Cambria Math" panose="02040503050406030204" pitchFamily="18" charset="0"/>
                              <a:ea typeface="Aptos" panose="020B0004020202020204" pitchFamily="34" charset="0"/>
                              <a:cs typeface="Times New Roman" panose="02020603050405020304" pitchFamily="18" charset="0"/>
                            </a:rPr>
                            <m:t>2</m:t>
                          </m:r>
                        </m:sup>
                      </m:sSup>
                    </m:oMath>
                  </m:oMathPara>
                </a14:m>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=&gt; </a:t>
                </a:r>
                <a14:m>
                  <m:oMath xmlns:m="http://schemas.openxmlformats.org/officeDocument/2006/math">
                    <m:r>
                      <a:rPr lang="en-US" sz="1600" i="1" kern="100" smtClean="0">
                        <a:effectLst/>
                        <a:latin typeface="Cambria Math" panose="02040503050406030204" pitchFamily="18" charset="0"/>
                        <a:ea typeface="Aptos" panose="020B0004020202020204" pitchFamily="34" charset="0"/>
                        <a:cs typeface="Times New Roman" panose="02020603050405020304" pitchFamily="18" charset="0"/>
                      </a:rPr>
                      <m:t>𝑁</m:t>
                    </m:r>
                    <m:r>
                      <a:rPr lang="en-US" sz="1600" b="0" i="1" kern="100" smtClean="0">
                        <a:effectLst/>
                        <a:latin typeface="Cambria Math" panose="02040503050406030204" pitchFamily="18" charset="0"/>
                        <a:ea typeface="Aptos" panose="020B0004020202020204" pitchFamily="34" charset="0"/>
                        <a:cs typeface="Times New Roman" panose="02020603050405020304" pitchFamily="18" charset="0"/>
                      </a:rPr>
                      <m:t>(</m:t>
                    </m:r>
                    <m:r>
                      <a:rPr lang="en-US" sz="1600" b="0" i="1" kern="100" smtClean="0">
                        <a:effectLst/>
                        <a:latin typeface="Cambria Math" panose="02040503050406030204" pitchFamily="18" charset="0"/>
                        <a:ea typeface="Aptos" panose="020B0004020202020204" pitchFamily="34" charset="0"/>
                        <a:cs typeface="Times New Roman" panose="02020603050405020304" pitchFamily="18" charset="0"/>
                      </a:rPr>
                      <m:t>𝑡</m:t>
                    </m:r>
                    <m:r>
                      <a:rPr lang="en-US" sz="1600" b="0" i="1" kern="100" smtClean="0">
                        <a:effectLst/>
                        <a:latin typeface="Cambria Math" panose="02040503050406030204" pitchFamily="18" charset="0"/>
                        <a:ea typeface="Aptos" panose="020B0004020202020204" pitchFamily="34" charset="0"/>
                        <a:cs typeface="Times New Roman" panose="02020603050405020304" pitchFamily="18" charset="0"/>
                      </a:rPr>
                      <m:t>) = </m:t>
                    </m:r>
                    <m:f>
                      <m:f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𝐾</m:t>
                        </m:r>
                      </m:num>
                      <m:den>
                        <m:r>
                          <a:rPr lang="en-US" sz="1600" i="1" kern="100">
                            <a:effectLst/>
                            <a:latin typeface="Cambria Math" panose="02040503050406030204" pitchFamily="18" charset="0"/>
                            <a:ea typeface="Aptos" panose="020B0004020202020204" pitchFamily="34" charset="0"/>
                            <a:cs typeface="Times New Roman" panose="02020603050405020304" pitchFamily="18" charset="0"/>
                          </a:rPr>
                          <m:t>1</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 </m:t>
                        </m:r>
                        <m:d>
                          <m:d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𝐾</m:t>
                                </m:r>
                              </m:num>
                              <m:den>
                                <m:sSub>
                                  <m:sSub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0</m:t>
                                    </m:r>
                                  </m:sub>
                                </m:sSub>
                              </m:den>
                            </m:f>
                            <m:r>
                              <a:rPr lang="en-US" sz="1600" i="1" kern="100">
                                <a:effectLst/>
                                <a:latin typeface="Cambria Math" panose="02040503050406030204" pitchFamily="18" charset="0"/>
                                <a:ea typeface="Aptos" panose="020B0004020202020204" pitchFamily="34" charset="0"/>
                                <a:cs typeface="Times New Roman" panose="02020603050405020304" pitchFamily="18" charset="0"/>
                              </a:rPr>
                              <m:t> − </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1</m:t>
                            </m:r>
                          </m:e>
                        </m:d>
                        <m:sSup>
                          <m:sSup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𝑒</m:t>
                            </m:r>
                          </m:e>
                          <m:sup>
                            <m:r>
                              <a:rPr lang="en-US" sz="16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𝑎𝑡</m:t>
                            </m:r>
                          </m:sup>
                        </m:sSup>
                      </m:den>
                    </m:f>
                  </m:oMath>
                </a14:m>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p:txBody>
          </p:sp>
        </mc:Choice>
        <mc:Fallback xmlns="">
          <p:sp>
            <p:nvSpPr>
              <p:cNvPr id="109" name="Shape 14">
                <a:extLst>
                  <a:ext uri="{FF2B5EF4-FFF2-40B4-BE49-F238E27FC236}">
                    <a16:creationId xmlns:a16="http://schemas.microsoft.com/office/drawing/2014/main" id="{28F5F2B8-A475-7338-DE16-33D82ADC54D2}"/>
                  </a:ext>
                </a:extLst>
              </p:cNvPr>
              <p:cNvSpPr>
                <a:spLocks noRot="1" noChangeAspect="1" noMove="1" noResize="1" noEditPoints="1" noAdjustHandles="1" noChangeArrowheads="1" noChangeShapeType="1" noTextEdit="1"/>
              </p:cNvSpPr>
              <p:nvPr/>
            </p:nvSpPr>
            <p:spPr>
              <a:xfrm>
                <a:off x="2910243" y="1224779"/>
                <a:ext cx="3044337" cy="1279571"/>
              </a:xfrm>
              <a:prstGeom prst="rect">
                <a:avLst/>
              </a:prstGeom>
              <a:blipFill>
                <a:blip r:embed="rId3"/>
                <a:stretch>
                  <a:fillRect l="-1000"/>
                </a:stretch>
              </a:blipFill>
              <a:ln/>
            </p:spPr>
            <p:txBody>
              <a:bodyPr/>
              <a:lstStyle/>
              <a:p>
                <a:r>
                  <a:rPr lang="en-US">
                    <a:noFill/>
                  </a:rPr>
                  <a:t> </a:t>
                </a:r>
              </a:p>
            </p:txBody>
          </p:sp>
        </mc:Fallback>
      </mc:AlternateContent>
      <p:sp>
        <p:nvSpPr>
          <p:cNvPr id="111" name="Text 16">
            <a:extLst>
              <a:ext uri="{FF2B5EF4-FFF2-40B4-BE49-F238E27FC236}">
                <a16:creationId xmlns:a16="http://schemas.microsoft.com/office/drawing/2014/main" id="{66148624-EB98-7C64-857F-F1BE5610F076}"/>
              </a:ext>
            </a:extLst>
          </p:cNvPr>
          <p:cNvSpPr/>
          <p:nvPr/>
        </p:nvSpPr>
        <p:spPr>
          <a:xfrm>
            <a:off x="3116794" y="1304974"/>
            <a:ext cx="2619384" cy="296363"/>
          </a:xfrm>
          <a:prstGeom prst="rect">
            <a:avLst/>
          </a:prstGeom>
          <a:noFill/>
          <a:ln/>
        </p:spPr>
        <p:txBody>
          <a:bodyPr wrap="square" lIns="85090" tIns="85090" rIns="85090" bIns="85090" rtlCol="0" anchor="t">
            <a:spAutoFit/>
          </a:bodyPr>
          <a:lstStyle/>
          <a:p>
            <a:pPr marL="0" indent="0" algn="ctr">
              <a:lnSpc>
                <a:spcPts val="900"/>
              </a:lnSpc>
              <a:buNone/>
            </a:pPr>
            <a:endParaRPr lang="en-US" sz="1300" dirty="0">
              <a:latin typeface="Times New Roman" panose="02020603050405020304" pitchFamily="18" charset="0"/>
              <a:cs typeface="Times New Roman" panose="02020603050405020304" pitchFamily="18" charset="0"/>
            </a:endParaRPr>
          </a:p>
        </p:txBody>
      </p:sp>
      <p:sp>
        <p:nvSpPr>
          <p:cNvPr id="112" name="Text 17">
            <a:extLst>
              <a:ext uri="{FF2B5EF4-FFF2-40B4-BE49-F238E27FC236}">
                <a16:creationId xmlns:a16="http://schemas.microsoft.com/office/drawing/2014/main" id="{7F6A01B6-E7A4-476A-9C23-5A4803AFA417}"/>
              </a:ext>
            </a:extLst>
          </p:cNvPr>
          <p:cNvSpPr/>
          <p:nvPr/>
        </p:nvSpPr>
        <p:spPr>
          <a:xfrm>
            <a:off x="3303888" y="2263758"/>
            <a:ext cx="2619384" cy="461665"/>
          </a:xfrm>
          <a:prstGeom prst="rect">
            <a:avLst/>
          </a:prstGeom>
          <a:noFill/>
          <a:ln/>
        </p:spPr>
        <p:txBody>
          <a:bodyPr wrap="square" lIns="0" tIns="0" rIns="0" bIns="0" rtlCol="0" anchor="t">
            <a:spAutoFit/>
          </a:bodyPr>
          <a:lstStyle/>
          <a:p>
            <a:pPr marL="0" indent="0" algn="l">
              <a:lnSpc>
                <a:spcPts val="1200"/>
              </a:lnSpc>
              <a:buNone/>
            </a:pPr>
            <a:r>
              <a:rPr lang="en-US" sz="1400" dirty="0">
                <a:solidFill>
                  <a:srgbClr val="333333"/>
                </a:solidFill>
                <a:latin typeface="Times New Roman" panose="02020603050405020304" pitchFamily="18" charset="0"/>
                <a:cs typeface="Times New Roman" panose="02020603050405020304" pitchFamily="18" charset="0"/>
              </a:rPr>
              <a:t>Đưa vào khái niệm sức chứa tối đa </a:t>
            </a:r>
            <a:r>
              <a:rPr lang="en-US" sz="1400" i="1" dirty="0">
                <a:solidFill>
                  <a:srgbClr val="333333"/>
                </a:solidFill>
                <a:latin typeface="Times New Roman" panose="02020603050405020304" pitchFamily="18" charset="0"/>
                <a:cs typeface="Times New Roman" panose="02020603050405020304" pitchFamily="18" charset="0"/>
              </a:rPr>
              <a:t>K</a:t>
            </a:r>
            <a:r>
              <a:rPr lang="en-US" sz="1400" dirty="0">
                <a:solidFill>
                  <a:srgbClr val="333333"/>
                </a:solidFill>
                <a:latin typeface="Times New Roman" panose="02020603050405020304" pitchFamily="18" charset="0"/>
                <a:cs typeface="Times New Roman" panose="02020603050405020304" pitchFamily="18" charset="0"/>
              </a:rPr>
              <a:t> của môi trường, giới hạn tăng trưởng.</a:t>
            </a:r>
            <a:endParaRPr lang="en-US" sz="1400" dirty="0">
              <a:latin typeface="Times New Roman" panose="02020603050405020304" pitchFamily="18" charset="0"/>
              <a:cs typeface="Times New Roman" panose="02020603050405020304" pitchFamily="18" charset="0"/>
            </a:endParaRPr>
          </a:p>
        </p:txBody>
      </p:sp>
      <p:sp>
        <p:nvSpPr>
          <p:cNvPr id="115" name="Text 19">
            <a:extLst>
              <a:ext uri="{FF2B5EF4-FFF2-40B4-BE49-F238E27FC236}">
                <a16:creationId xmlns:a16="http://schemas.microsoft.com/office/drawing/2014/main" id="{34E0B087-4F87-6B20-F07F-51CF761B430E}"/>
              </a:ext>
            </a:extLst>
          </p:cNvPr>
          <p:cNvSpPr/>
          <p:nvPr/>
        </p:nvSpPr>
        <p:spPr>
          <a:xfrm>
            <a:off x="3345148" y="4334712"/>
            <a:ext cx="1970604"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Có nghiệm tường minh</a:t>
            </a:r>
            <a:endParaRPr lang="en-US" sz="1300" dirty="0">
              <a:latin typeface="Times New Roman" panose="02020603050405020304" pitchFamily="18" charset="0"/>
              <a:cs typeface="Times New Roman" panose="02020603050405020304" pitchFamily="18" charset="0"/>
            </a:endParaRPr>
          </a:p>
        </p:txBody>
      </p:sp>
      <p:sp>
        <p:nvSpPr>
          <p:cNvPr id="116" name="Text 20">
            <a:extLst>
              <a:ext uri="{FF2B5EF4-FFF2-40B4-BE49-F238E27FC236}">
                <a16:creationId xmlns:a16="http://schemas.microsoft.com/office/drawing/2014/main" id="{5CF882A9-F64A-9E63-9E4D-E572B17A8FA7}"/>
              </a:ext>
            </a:extLst>
          </p:cNvPr>
          <p:cNvSpPr/>
          <p:nvPr/>
        </p:nvSpPr>
        <p:spPr>
          <a:xfrm>
            <a:off x="3345148" y="4520449"/>
            <a:ext cx="1577868"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Độ chính xác cao</a:t>
            </a:r>
            <a:endParaRPr lang="en-US" sz="1300" dirty="0">
              <a:latin typeface="Times New Roman" panose="02020603050405020304" pitchFamily="18" charset="0"/>
              <a:cs typeface="Times New Roman" panose="02020603050405020304" pitchFamily="18" charset="0"/>
            </a:endParaRPr>
          </a:p>
        </p:txBody>
      </p:sp>
      <p:sp>
        <p:nvSpPr>
          <p:cNvPr id="117" name="Text 21">
            <a:extLst>
              <a:ext uri="{FF2B5EF4-FFF2-40B4-BE49-F238E27FC236}">
                <a16:creationId xmlns:a16="http://schemas.microsoft.com/office/drawing/2014/main" id="{4D69B434-2EF8-D51F-D1D3-B1A073C26331}"/>
              </a:ext>
            </a:extLst>
          </p:cNvPr>
          <p:cNvSpPr/>
          <p:nvPr/>
        </p:nvSpPr>
        <p:spPr>
          <a:xfrm>
            <a:off x="3345148" y="4706187"/>
            <a:ext cx="1225207"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Thực tế hơn</a:t>
            </a:r>
            <a:endParaRPr lang="en-US" sz="1300" dirty="0">
              <a:latin typeface="Times New Roman" panose="02020603050405020304" pitchFamily="18" charset="0"/>
              <a:cs typeface="Times New Roman" panose="02020603050405020304" pitchFamily="18" charset="0"/>
            </a:endParaRPr>
          </a:p>
        </p:txBody>
      </p:sp>
      <p:sp>
        <p:nvSpPr>
          <p:cNvPr id="119" name="Text 23">
            <a:extLst>
              <a:ext uri="{FF2B5EF4-FFF2-40B4-BE49-F238E27FC236}">
                <a16:creationId xmlns:a16="http://schemas.microsoft.com/office/drawing/2014/main" id="{0E8DD18F-9B9B-6CB1-805A-98F58257FCD6}"/>
              </a:ext>
            </a:extLst>
          </p:cNvPr>
          <p:cNvSpPr/>
          <p:nvPr/>
        </p:nvSpPr>
        <p:spPr>
          <a:xfrm>
            <a:off x="3904057" y="3786311"/>
            <a:ext cx="65" cy="134139"/>
          </a:xfrm>
          <a:prstGeom prst="rect">
            <a:avLst/>
          </a:prstGeom>
          <a:noFill/>
          <a:ln/>
        </p:spPr>
        <p:txBody>
          <a:bodyPr wrap="none" lIns="0" tIns="0" rIns="0" bIns="0" rtlCol="0" anchor="t">
            <a:spAutoFit/>
          </a:bodyPr>
          <a:lstStyle/>
          <a:p>
            <a:pPr marL="0" indent="0" algn="l">
              <a:lnSpc>
                <a:spcPts val="1000"/>
              </a:lnSpc>
              <a:buNone/>
            </a:pPr>
            <a:endParaRPr lang="en-US" sz="1300" dirty="0">
              <a:latin typeface="Times New Roman" panose="02020603050405020304" pitchFamily="18" charset="0"/>
              <a:cs typeface="Times New Roman" panose="02020603050405020304" pitchFamily="18" charset="0"/>
            </a:endParaRPr>
          </a:p>
        </p:txBody>
      </p:sp>
      <p:sp>
        <p:nvSpPr>
          <p:cNvPr id="120" name="Text 24">
            <a:extLst>
              <a:ext uri="{FF2B5EF4-FFF2-40B4-BE49-F238E27FC236}">
                <a16:creationId xmlns:a16="http://schemas.microsoft.com/office/drawing/2014/main" id="{F80DE5A4-467F-E539-DBF7-3CBAEA344FBB}"/>
              </a:ext>
            </a:extLst>
          </p:cNvPr>
          <p:cNvSpPr/>
          <p:nvPr/>
        </p:nvSpPr>
        <p:spPr>
          <a:xfrm>
            <a:off x="3904057" y="3972049"/>
            <a:ext cx="65" cy="134139"/>
          </a:xfrm>
          <a:prstGeom prst="rect">
            <a:avLst/>
          </a:prstGeom>
          <a:noFill/>
          <a:ln/>
        </p:spPr>
        <p:txBody>
          <a:bodyPr wrap="none" lIns="0" tIns="0" rIns="0" bIns="0" rtlCol="0" anchor="t">
            <a:spAutoFit/>
          </a:bodyPr>
          <a:lstStyle/>
          <a:p>
            <a:pPr marL="0" indent="0" algn="l">
              <a:lnSpc>
                <a:spcPts val="1000"/>
              </a:lnSpc>
              <a:buNone/>
            </a:pPr>
            <a:endParaRPr lang="en-US" sz="1300" dirty="0">
              <a:latin typeface="Times New Roman" panose="02020603050405020304" pitchFamily="18" charset="0"/>
              <a:cs typeface="Times New Roman" panose="02020603050405020304" pitchFamily="18" charset="0"/>
            </a:endParaRPr>
          </a:p>
        </p:txBody>
      </p:sp>
      <p:sp>
        <p:nvSpPr>
          <p:cNvPr id="121" name="Text 25">
            <a:extLst>
              <a:ext uri="{FF2B5EF4-FFF2-40B4-BE49-F238E27FC236}">
                <a16:creationId xmlns:a16="http://schemas.microsoft.com/office/drawing/2014/main" id="{96DA0470-0872-C5D7-7432-B32FE8726B8C}"/>
              </a:ext>
            </a:extLst>
          </p:cNvPr>
          <p:cNvSpPr/>
          <p:nvPr/>
        </p:nvSpPr>
        <p:spPr>
          <a:xfrm>
            <a:off x="6270659" y="1022249"/>
            <a:ext cx="1259960" cy="154466"/>
          </a:xfrm>
          <a:prstGeom prst="rect">
            <a:avLst/>
          </a:prstGeom>
          <a:noFill/>
          <a:ln/>
        </p:spPr>
        <p:txBody>
          <a:bodyPr wrap="none" lIns="0" tIns="0" rIns="0" bIns="0" rtlCol="0" anchor="t">
            <a:spAutoFit/>
          </a:bodyPr>
          <a:lstStyle/>
          <a:p>
            <a:pPr marL="0" indent="0" algn="ctr">
              <a:lnSpc>
                <a:spcPts val="1200"/>
              </a:lnSpc>
              <a:buNone/>
            </a:pPr>
            <a:r>
              <a:rPr lang="en-US" sz="1300" b="1" dirty="0">
                <a:solidFill>
                  <a:srgbClr val="0055FF"/>
                </a:solidFill>
                <a:latin typeface="Times New Roman" panose="02020603050405020304" pitchFamily="18" charset="0"/>
                <a:cs typeface="Times New Roman" panose="02020603050405020304" pitchFamily="18" charset="0"/>
              </a:rPr>
              <a:t>3. Lotka-Volterra</a:t>
            </a:r>
            <a:endParaRPr lang="en-US" sz="13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Shape 26">
                <a:extLst>
                  <a:ext uri="{FF2B5EF4-FFF2-40B4-BE49-F238E27FC236}">
                    <a16:creationId xmlns:a16="http://schemas.microsoft.com/office/drawing/2014/main" id="{EDE9EB9A-F1DD-A75A-181B-731F51C21952}"/>
                  </a:ext>
                </a:extLst>
              </p:cNvPr>
              <p:cNvSpPr/>
              <p:nvPr/>
            </p:nvSpPr>
            <p:spPr>
              <a:xfrm>
                <a:off x="6232825" y="1209425"/>
                <a:ext cx="2619356" cy="1054334"/>
              </a:xfrm>
              <a:prstGeom prst="rect">
                <a:avLst/>
              </a:prstGeom>
              <a:solidFill>
                <a:srgbClr val="FFFFFF"/>
              </a:solidFill>
              <a:ln/>
            </p:spPr>
            <p:txBody>
              <a:bodyPr/>
              <a:lstStyle/>
              <a:p>
                <a:pPr/>
                <a14:m>
                  <m:oMathPara xmlns:m="http://schemas.openxmlformats.org/officeDocument/2006/math">
                    <m:oMathParaPr>
                      <m:jc m:val="left"/>
                    </m:oMathParaPr>
                    <m:oMath xmlns:m="http://schemas.openxmlformats.org/officeDocument/2006/math">
                      <m:d>
                        <m:dPr>
                          <m:begChr m:val="{"/>
                          <m:endChr m:val=""/>
                          <m:ctrlPr>
                            <a:rPr lang="en-US" sz="1300" i="1" kern="100" smtClean="0">
                              <a:effectLst/>
                              <a:latin typeface="Cambria Math" panose="02040503050406030204" pitchFamily="18" charset="0"/>
                              <a:ea typeface="Aptos" panose="020B0004020202020204" pitchFamily="34" charset="0"/>
                              <a:cs typeface="Times New Roman" panose="02020603050405020304" pitchFamily="18" charset="0"/>
                            </a:rPr>
                          </m:ctrlPr>
                        </m:dPr>
                        <m:e>
                          <m:eqArr>
                            <m:eqArr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eqArrPr>
                            <m:e>
                              <m:f>
                                <m:f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𝑑𝑥</m:t>
                                  </m:r>
                                </m:num>
                                <m:den>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𝑑𝑡</m:t>
                                  </m:r>
                                </m:den>
                              </m:f>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𝛼</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𝑥</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𝛽</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𝑥𝑦</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e>
                            <m:e>
                              <m:f>
                                <m:f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𝑑𝑦</m:t>
                                  </m:r>
                                </m:num>
                                <m:den>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𝑑𝑡</m:t>
                                  </m:r>
                                </m:den>
                              </m:f>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𝛿</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𝑥𝑦</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𝛾</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e>
                          </m:eqArr>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p:txBody>
          </p:sp>
        </mc:Choice>
        <mc:Fallback xmlns="">
          <p:sp>
            <p:nvSpPr>
              <p:cNvPr id="122" name="Shape 26">
                <a:extLst>
                  <a:ext uri="{FF2B5EF4-FFF2-40B4-BE49-F238E27FC236}">
                    <a16:creationId xmlns:a16="http://schemas.microsoft.com/office/drawing/2014/main" id="{EDE9EB9A-F1DD-A75A-181B-731F51C21952}"/>
                  </a:ext>
                </a:extLst>
              </p:cNvPr>
              <p:cNvSpPr>
                <a:spLocks noRot="1" noChangeAspect="1" noMove="1" noResize="1" noEditPoints="1" noAdjustHandles="1" noChangeArrowheads="1" noChangeShapeType="1" noTextEdit="1"/>
              </p:cNvSpPr>
              <p:nvPr/>
            </p:nvSpPr>
            <p:spPr>
              <a:xfrm>
                <a:off x="6232825" y="1209425"/>
                <a:ext cx="2619356" cy="1054334"/>
              </a:xfrm>
              <a:prstGeom prst="rect">
                <a:avLst/>
              </a:prstGeom>
              <a:blipFill>
                <a:blip r:embed="rId4"/>
                <a:stretch>
                  <a:fillRect/>
                </a:stretch>
              </a:blipFill>
              <a:ln/>
            </p:spPr>
            <p:txBody>
              <a:bodyPr/>
              <a:lstStyle/>
              <a:p>
                <a:r>
                  <a:rPr lang="en-US">
                    <a:noFill/>
                  </a:rPr>
                  <a:t> </a:t>
                </a:r>
              </a:p>
            </p:txBody>
          </p:sp>
        </mc:Fallback>
      </mc:AlternateContent>
      <p:sp>
        <p:nvSpPr>
          <p:cNvPr id="124" name="Text 28">
            <a:extLst>
              <a:ext uri="{FF2B5EF4-FFF2-40B4-BE49-F238E27FC236}">
                <a16:creationId xmlns:a16="http://schemas.microsoft.com/office/drawing/2014/main" id="{192F617F-66FF-3680-2201-242464A8457A}"/>
              </a:ext>
            </a:extLst>
          </p:cNvPr>
          <p:cNvSpPr/>
          <p:nvPr/>
        </p:nvSpPr>
        <p:spPr>
          <a:xfrm>
            <a:off x="6164803" y="1304974"/>
            <a:ext cx="2619356" cy="296363"/>
          </a:xfrm>
          <a:prstGeom prst="rect">
            <a:avLst/>
          </a:prstGeom>
          <a:noFill/>
          <a:ln/>
        </p:spPr>
        <p:txBody>
          <a:bodyPr wrap="square" lIns="85090" tIns="85090" rIns="85090" bIns="85090" rtlCol="0" anchor="t">
            <a:spAutoFit/>
          </a:bodyPr>
          <a:lstStyle/>
          <a:p>
            <a:pPr marL="0" indent="0" algn="ctr">
              <a:lnSpc>
                <a:spcPts val="900"/>
              </a:lnSpc>
              <a:buNone/>
            </a:pPr>
            <a:endParaRPr lang="en-US" sz="1300" dirty="0">
              <a:latin typeface="Times New Roman" panose="02020603050405020304" pitchFamily="18" charset="0"/>
              <a:cs typeface="Times New Roman" panose="02020603050405020304" pitchFamily="18" charset="0"/>
            </a:endParaRPr>
          </a:p>
        </p:txBody>
      </p:sp>
      <p:sp>
        <p:nvSpPr>
          <p:cNvPr id="125" name="Text 29">
            <a:extLst>
              <a:ext uri="{FF2B5EF4-FFF2-40B4-BE49-F238E27FC236}">
                <a16:creationId xmlns:a16="http://schemas.microsoft.com/office/drawing/2014/main" id="{F7A63151-4B32-1410-3B04-34B0006335C6}"/>
              </a:ext>
            </a:extLst>
          </p:cNvPr>
          <p:cNvSpPr/>
          <p:nvPr/>
        </p:nvSpPr>
        <p:spPr>
          <a:xfrm>
            <a:off x="6348225" y="2253326"/>
            <a:ext cx="2456892" cy="461665"/>
          </a:xfrm>
          <a:prstGeom prst="rect">
            <a:avLst/>
          </a:prstGeom>
          <a:noFill/>
          <a:ln/>
        </p:spPr>
        <p:txBody>
          <a:bodyPr wrap="square" lIns="0" tIns="0" rIns="0" bIns="0" rtlCol="0" anchor="t">
            <a:spAutoFit/>
          </a:bodyPr>
          <a:lstStyle/>
          <a:p>
            <a:pPr marL="0" indent="0" algn="just">
              <a:lnSpc>
                <a:spcPts val="1200"/>
              </a:lnSpc>
              <a:buNone/>
            </a:pPr>
            <a:r>
              <a:rPr lang="en-US" sz="1400" dirty="0">
                <a:solidFill>
                  <a:srgbClr val="333333"/>
                </a:solidFill>
                <a:latin typeface="Times New Roman" panose="02020603050405020304" pitchFamily="18" charset="0"/>
                <a:cs typeface="Times New Roman" panose="02020603050405020304" pitchFamily="18" charset="0"/>
              </a:rPr>
              <a:t>Mô tả tương tác động lực giữa dân số </a:t>
            </a:r>
            <a:r>
              <a:rPr lang="en-US" sz="1400" dirty="0" err="1">
                <a:solidFill>
                  <a:srgbClr val="333333"/>
                </a:solidFill>
                <a:latin typeface="Times New Roman" panose="02020603050405020304" pitchFamily="18" charset="0"/>
                <a:cs typeface="Times New Roman" panose="02020603050405020304" pitchFamily="18" charset="0"/>
              </a:rPr>
              <a:t>và</a:t>
            </a:r>
            <a:r>
              <a:rPr lang="en-US" sz="1400" dirty="0">
                <a:solidFill>
                  <a:srgbClr val="333333"/>
                </a:solidFill>
                <a:latin typeface="Times New Roman" panose="02020603050405020304" pitchFamily="18" charset="0"/>
                <a:cs typeface="Times New Roman" panose="02020603050405020304" pitchFamily="18" charset="0"/>
              </a:rPr>
              <a:t> </a:t>
            </a:r>
            <a:r>
              <a:rPr lang="en-US" sz="1400" dirty="0" err="1">
                <a:solidFill>
                  <a:srgbClr val="333333"/>
                </a:solidFill>
                <a:latin typeface="Times New Roman" panose="02020603050405020304" pitchFamily="18" charset="0"/>
                <a:cs typeface="Times New Roman" panose="02020603050405020304" pitchFamily="18" charset="0"/>
              </a:rPr>
              <a:t>tài</a:t>
            </a:r>
            <a:r>
              <a:rPr lang="en-US" sz="1400" dirty="0">
                <a:solidFill>
                  <a:srgbClr val="333333"/>
                </a:solidFill>
                <a:latin typeface="Times New Roman" panose="02020603050405020304" pitchFamily="18" charset="0"/>
                <a:cs typeface="Times New Roman" panose="02020603050405020304" pitchFamily="18" charset="0"/>
              </a:rPr>
              <a:t> nguyên, hệ phi tuyến ghép cặp.</a:t>
            </a:r>
            <a:endParaRPr lang="en-US" sz="1400" dirty="0">
              <a:latin typeface="Times New Roman" panose="02020603050405020304" pitchFamily="18" charset="0"/>
              <a:cs typeface="Times New Roman" panose="02020603050405020304" pitchFamily="18" charset="0"/>
            </a:endParaRPr>
          </a:p>
        </p:txBody>
      </p:sp>
      <p:sp>
        <p:nvSpPr>
          <p:cNvPr id="128" name="Text 31">
            <a:extLst>
              <a:ext uri="{FF2B5EF4-FFF2-40B4-BE49-F238E27FC236}">
                <a16:creationId xmlns:a16="http://schemas.microsoft.com/office/drawing/2014/main" id="{0BD5D5AD-87C7-2900-4AFD-1677313B1CF3}"/>
              </a:ext>
            </a:extLst>
          </p:cNvPr>
          <p:cNvSpPr/>
          <p:nvPr/>
        </p:nvSpPr>
        <p:spPr>
          <a:xfrm>
            <a:off x="6151453" y="4277912"/>
            <a:ext cx="2429063"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Không có nghiệm tường minh</a:t>
            </a:r>
            <a:endParaRPr lang="en-US" sz="1300" dirty="0">
              <a:latin typeface="Times New Roman" panose="02020603050405020304" pitchFamily="18" charset="0"/>
              <a:cs typeface="Times New Roman" panose="02020603050405020304" pitchFamily="18" charset="0"/>
            </a:endParaRPr>
          </a:p>
        </p:txBody>
      </p:sp>
      <p:sp>
        <p:nvSpPr>
          <p:cNvPr id="129" name="Text 32">
            <a:extLst>
              <a:ext uri="{FF2B5EF4-FFF2-40B4-BE49-F238E27FC236}">
                <a16:creationId xmlns:a16="http://schemas.microsoft.com/office/drawing/2014/main" id="{C3F6C0E6-A453-6CB8-51BB-A4882C33EE2D}"/>
              </a:ext>
            </a:extLst>
          </p:cNvPr>
          <p:cNvSpPr/>
          <p:nvPr/>
        </p:nvSpPr>
        <p:spPr>
          <a:xfrm>
            <a:off x="6151453" y="4463650"/>
            <a:ext cx="1792670"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Cần phương pháp số</a:t>
            </a:r>
            <a:endParaRPr lang="en-US" sz="1300" dirty="0">
              <a:latin typeface="Times New Roman" panose="02020603050405020304" pitchFamily="18" charset="0"/>
              <a:cs typeface="Times New Roman" panose="02020603050405020304" pitchFamily="18" charset="0"/>
            </a:endParaRPr>
          </a:p>
        </p:txBody>
      </p:sp>
      <p:sp>
        <p:nvSpPr>
          <p:cNvPr id="130" name="Text 33">
            <a:extLst>
              <a:ext uri="{FF2B5EF4-FFF2-40B4-BE49-F238E27FC236}">
                <a16:creationId xmlns:a16="http://schemas.microsoft.com/office/drawing/2014/main" id="{E0ECE686-5FEB-21B1-3479-898DA0A2CC71}"/>
              </a:ext>
            </a:extLst>
          </p:cNvPr>
          <p:cNvSpPr/>
          <p:nvPr/>
        </p:nvSpPr>
        <p:spPr>
          <a:xfrm>
            <a:off x="6151453" y="4649387"/>
            <a:ext cx="1331005" cy="135230"/>
          </a:xfrm>
          <a:prstGeom prst="rect">
            <a:avLst/>
          </a:prstGeom>
          <a:noFill/>
          <a:ln/>
        </p:spPr>
        <p:txBody>
          <a:bodyPr wrap="none" lIns="127508" tIns="0" rIns="0" bIns="0" rtlCol="0" anchor="t">
            <a:spAutoFit/>
          </a:bodyPr>
          <a:lstStyle/>
          <a:p>
            <a:pPr marL="285750" indent="-285750" algn="l">
              <a:lnSpc>
                <a:spcPts val="1000"/>
              </a:lnSpc>
              <a:buFont typeface="Arial" panose="020B0604020202020204" pitchFamily="34" charset="0"/>
              <a:buChar char="•"/>
            </a:pPr>
            <a:r>
              <a:rPr lang="en-US" sz="1300" dirty="0">
                <a:solidFill>
                  <a:srgbClr val="333333"/>
                </a:solidFill>
                <a:latin typeface="Times New Roman" panose="02020603050405020304" pitchFamily="18" charset="0"/>
                <a:cs typeface="Times New Roman" panose="02020603050405020304" pitchFamily="18" charset="0"/>
              </a:rPr>
              <a:t>Phức tạp nhất</a:t>
            </a:r>
            <a:endParaRPr lang="en-US" sz="1300" dirty="0">
              <a:latin typeface="Times New Roman" panose="02020603050405020304" pitchFamily="18" charset="0"/>
              <a:cs typeface="Times New Roman" panose="02020603050405020304" pitchFamily="18" charset="0"/>
            </a:endParaRPr>
          </a:p>
        </p:txBody>
      </p:sp>
      <p:pic>
        <p:nvPicPr>
          <p:cNvPr id="2050" name="Picture 2" descr="Exponential growth &amp; logistic growth (article) | Khan Academy">
            <a:extLst>
              <a:ext uri="{FF2B5EF4-FFF2-40B4-BE49-F238E27FC236}">
                <a16:creationId xmlns:a16="http://schemas.microsoft.com/office/drawing/2014/main" id="{EB0DA79B-5EBD-C24A-3421-BE2C8EEB69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0748" y="2862335"/>
            <a:ext cx="1531545" cy="1368936"/>
          </a:xfrm>
          <a:prstGeom prst="rect">
            <a:avLst/>
          </a:prstGeom>
          <a:noFill/>
          <a:extLst>
            <a:ext uri="{909E8E84-426E-40DD-AFC4-6F175D3DCCD1}">
              <a14:hiddenFill xmlns:a14="http://schemas.microsoft.com/office/drawing/2010/main">
                <a:solidFill>
                  <a:srgbClr val="FFFFFF"/>
                </a:solidFill>
              </a14:hiddenFill>
            </a:ext>
          </a:extLst>
        </p:spPr>
      </p:pic>
      <p:pic>
        <p:nvPicPr>
          <p:cNvPr id="136" name="Image 1" descr="preencoded.png">
            <a:extLst>
              <a:ext uri="{FF2B5EF4-FFF2-40B4-BE49-F238E27FC236}">
                <a16:creationId xmlns:a16="http://schemas.microsoft.com/office/drawing/2014/main" id="{499E1A17-20E6-B78C-103A-F6245261FED0}"/>
              </a:ext>
            </a:extLst>
          </p:cNvPr>
          <p:cNvPicPr>
            <a:picLocks noChangeAspect="1"/>
          </p:cNvPicPr>
          <p:nvPr/>
        </p:nvPicPr>
        <p:blipFill>
          <a:blip r:embed="rId6"/>
          <a:stretch>
            <a:fillRect/>
          </a:stretch>
        </p:blipFill>
        <p:spPr>
          <a:xfrm>
            <a:off x="3584524" y="2862335"/>
            <a:ext cx="1916510" cy="1368936"/>
          </a:xfrm>
          <a:prstGeom prst="rect">
            <a:avLst/>
          </a:prstGeom>
        </p:spPr>
      </p:pic>
      <p:pic>
        <p:nvPicPr>
          <p:cNvPr id="1028" name="Picture 4" descr="Lotka-Volterra-Model-(1)">
            <a:extLst>
              <a:ext uri="{FF2B5EF4-FFF2-40B4-BE49-F238E27FC236}">
                <a16:creationId xmlns:a16="http://schemas.microsoft.com/office/drawing/2014/main" id="{F67C63C7-E0FA-E050-F3C7-0BFE4E68389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17070" y="2838354"/>
            <a:ext cx="1914822" cy="1368936"/>
          </a:xfrm>
          <a:prstGeom prst="rect">
            <a:avLst/>
          </a:prstGeom>
          <a:noFill/>
          <a:extLst>
            <a:ext uri="{909E8E84-426E-40DD-AFC4-6F175D3DCCD1}">
              <a14:hiddenFill xmlns:a14="http://schemas.microsoft.com/office/drawing/2010/main">
                <a:solidFill>
                  <a:srgbClr val="FFFFFF"/>
                </a:solidFill>
              </a14:hiddenFill>
            </a:ext>
          </a:extLst>
        </p:spPr>
      </p:pic>
      <p:pic>
        <p:nvPicPr>
          <p:cNvPr id="4" name="object 10">
            <a:extLst>
              <a:ext uri="{FF2B5EF4-FFF2-40B4-BE49-F238E27FC236}">
                <a16:creationId xmlns:a16="http://schemas.microsoft.com/office/drawing/2014/main" id="{A18338DD-8E14-70D8-B002-6715491A3F32}"/>
              </a:ext>
            </a:extLst>
          </p:cNvPr>
          <p:cNvPicPr/>
          <p:nvPr/>
        </p:nvPicPr>
        <p:blipFill>
          <a:blip r:embed="rId8" cstate="print"/>
          <a:stretch>
            <a:fillRect/>
          </a:stretch>
        </p:blipFill>
        <p:spPr>
          <a:xfrm>
            <a:off x="8317963" y="35415"/>
            <a:ext cx="790024" cy="7946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500"/>
                                        <p:tgtEl>
                                          <p:spTgt spid="9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animEffect transition="in" filter="fade">
                                      <p:cBhvr>
                                        <p:cTn id="13" dur="500"/>
                                        <p:tgtEl>
                                          <p:spTgt spid="99"/>
                                        </p:tgtEl>
                                      </p:cBhvr>
                                    </p:animEffect>
                                  </p:childTnLst>
                                </p:cTn>
                              </p:par>
                              <p:par>
                                <p:cTn id="14" presetID="10" presetClass="entr" presetSubtype="0" fill="hold" nodeType="withEffect">
                                  <p:stCondLst>
                                    <p:cond delay="0"/>
                                  </p:stCondLst>
                                  <p:childTnLst>
                                    <p:set>
                                      <p:cBhvr>
                                        <p:cTn id="15" dur="1" fill="hold">
                                          <p:stCondLst>
                                            <p:cond delay="0"/>
                                          </p:stCondLst>
                                        </p:cTn>
                                        <p:tgtEl>
                                          <p:spTgt spid="2050"/>
                                        </p:tgtEl>
                                        <p:attrNameLst>
                                          <p:attrName>style.visibility</p:attrName>
                                        </p:attrNameLst>
                                      </p:cBhvr>
                                      <p:to>
                                        <p:strVal val="visible"/>
                                      </p:to>
                                    </p:set>
                                    <p:animEffect transition="in" filter="fade">
                                      <p:cBhvr>
                                        <p:cTn id="16" dur="500"/>
                                        <p:tgtEl>
                                          <p:spTgt spid="205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2"/>
                                        </p:tgtEl>
                                        <p:attrNameLst>
                                          <p:attrName>style.visibility</p:attrName>
                                        </p:attrNameLst>
                                      </p:cBhvr>
                                      <p:to>
                                        <p:strVal val="visible"/>
                                      </p:to>
                                    </p:set>
                                    <p:animEffect transition="in" filter="fade">
                                      <p:cBhvr>
                                        <p:cTn id="22" dur="500"/>
                                        <p:tgtEl>
                                          <p:spTgt spid="10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500"/>
                                        <p:tgtEl>
                                          <p:spTgt spid="10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8"/>
                                        </p:tgtEl>
                                        <p:attrNameLst>
                                          <p:attrName>style.visibility</p:attrName>
                                        </p:attrNameLst>
                                      </p:cBhvr>
                                      <p:to>
                                        <p:strVal val="visible"/>
                                      </p:to>
                                    </p:set>
                                    <p:animEffect transition="in" filter="fade">
                                      <p:cBhvr>
                                        <p:cTn id="30" dur="500"/>
                                        <p:tgtEl>
                                          <p:spTgt spid="10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136"/>
                                        </p:tgtEl>
                                        <p:attrNameLst>
                                          <p:attrName>style.visibility</p:attrName>
                                        </p:attrNameLst>
                                      </p:cBhvr>
                                      <p:to>
                                        <p:strVal val="visible"/>
                                      </p:to>
                                    </p:set>
                                    <p:animEffect transition="in" filter="fade">
                                      <p:cBhvr>
                                        <p:cTn id="36" dur="500"/>
                                        <p:tgtEl>
                                          <p:spTgt spid="1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2"/>
                                        </p:tgtEl>
                                        <p:attrNameLst>
                                          <p:attrName>style.visibility</p:attrName>
                                        </p:attrNameLst>
                                      </p:cBhvr>
                                      <p:to>
                                        <p:strVal val="visible"/>
                                      </p:to>
                                    </p:set>
                                    <p:animEffect transition="in" filter="fade">
                                      <p:cBhvr>
                                        <p:cTn id="39" dur="500"/>
                                        <p:tgtEl>
                                          <p:spTgt spid="1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5"/>
                                        </p:tgtEl>
                                        <p:attrNameLst>
                                          <p:attrName>style.visibility</p:attrName>
                                        </p:attrNameLst>
                                      </p:cBhvr>
                                      <p:to>
                                        <p:strVal val="visible"/>
                                      </p:to>
                                    </p:set>
                                    <p:animEffect transition="in" filter="fade">
                                      <p:cBhvr>
                                        <p:cTn id="42" dur="500"/>
                                        <p:tgtEl>
                                          <p:spTgt spid="1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7"/>
                                        </p:tgtEl>
                                        <p:attrNameLst>
                                          <p:attrName>style.visibility</p:attrName>
                                        </p:attrNameLst>
                                      </p:cBhvr>
                                      <p:to>
                                        <p:strVal val="visible"/>
                                      </p:to>
                                    </p:set>
                                    <p:animEffect transition="in" filter="fade">
                                      <p:cBhvr>
                                        <p:cTn id="48" dur="500"/>
                                        <p:tgtEl>
                                          <p:spTgt spid="1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1"/>
                                        </p:tgtEl>
                                        <p:attrNameLst>
                                          <p:attrName>style.visibility</p:attrName>
                                        </p:attrNameLst>
                                      </p:cBhvr>
                                      <p:to>
                                        <p:strVal val="visible"/>
                                      </p:to>
                                    </p:set>
                                    <p:animEffect transition="in" filter="fade">
                                      <p:cBhvr>
                                        <p:cTn id="53" dur="500"/>
                                        <p:tgtEl>
                                          <p:spTgt spid="1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2"/>
                                        </p:tgtEl>
                                        <p:attrNameLst>
                                          <p:attrName>style.visibility</p:attrName>
                                        </p:attrNameLst>
                                      </p:cBhvr>
                                      <p:to>
                                        <p:strVal val="visible"/>
                                      </p:to>
                                    </p:set>
                                    <p:animEffect transition="in" filter="fade">
                                      <p:cBhvr>
                                        <p:cTn id="56" dur="500"/>
                                        <p:tgtEl>
                                          <p:spTgt spid="1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8"/>
                                        </p:tgtEl>
                                        <p:attrNameLst>
                                          <p:attrName>style.visibility</p:attrName>
                                        </p:attrNameLst>
                                      </p:cBhvr>
                                      <p:to>
                                        <p:strVal val="visible"/>
                                      </p:to>
                                    </p:set>
                                    <p:animEffect transition="in" filter="fade">
                                      <p:cBhvr>
                                        <p:cTn id="59" dur="500"/>
                                        <p:tgtEl>
                                          <p:spTgt spid="1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25"/>
                                        </p:tgtEl>
                                        <p:attrNameLst>
                                          <p:attrName>style.visibility</p:attrName>
                                        </p:attrNameLst>
                                      </p:cBhvr>
                                      <p:to>
                                        <p:strVal val="visible"/>
                                      </p:to>
                                    </p:set>
                                    <p:animEffect transition="in" filter="fade">
                                      <p:cBhvr>
                                        <p:cTn id="62" dur="500"/>
                                        <p:tgtEl>
                                          <p:spTgt spid="125"/>
                                        </p:tgtEl>
                                      </p:cBhvr>
                                    </p:animEffect>
                                  </p:childTnLst>
                                </p:cTn>
                              </p:par>
                              <p:par>
                                <p:cTn id="63" presetID="10" presetClass="entr" presetSubtype="0" fill="hold" nodeType="withEffect">
                                  <p:stCondLst>
                                    <p:cond delay="0"/>
                                  </p:stCondLst>
                                  <p:childTnLst>
                                    <p:set>
                                      <p:cBhvr>
                                        <p:cTn id="64" dur="1" fill="hold">
                                          <p:stCondLst>
                                            <p:cond delay="0"/>
                                          </p:stCondLst>
                                        </p:cTn>
                                        <p:tgtEl>
                                          <p:spTgt spid="1028"/>
                                        </p:tgtEl>
                                        <p:attrNameLst>
                                          <p:attrName>style.visibility</p:attrName>
                                        </p:attrNameLst>
                                      </p:cBhvr>
                                      <p:to>
                                        <p:strVal val="visible"/>
                                      </p:to>
                                    </p:set>
                                    <p:animEffect transition="in" filter="fade">
                                      <p:cBhvr>
                                        <p:cTn id="65" dur="500"/>
                                        <p:tgtEl>
                                          <p:spTgt spid="10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9"/>
                                        </p:tgtEl>
                                        <p:attrNameLst>
                                          <p:attrName>style.visibility</p:attrName>
                                        </p:attrNameLst>
                                      </p:cBhvr>
                                      <p:to>
                                        <p:strVal val="visible"/>
                                      </p:to>
                                    </p:set>
                                    <p:animEffect transition="in" filter="fade">
                                      <p:cBhvr>
                                        <p:cTn id="68" dur="500"/>
                                        <p:tgtEl>
                                          <p:spTgt spid="1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30"/>
                                        </p:tgtEl>
                                        <p:attrNameLst>
                                          <p:attrName>style.visibility</p:attrName>
                                        </p:attrNameLst>
                                      </p:cBhvr>
                                      <p:to>
                                        <p:strVal val="visible"/>
                                      </p:to>
                                    </p:set>
                                    <p:animEffect transition="in" filter="fade">
                                      <p:cBhvr>
                                        <p:cTn id="71"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8" grpId="0" animBg="1"/>
      <p:bldP spid="99" grpId="0" animBg="1"/>
      <p:bldP spid="102" grpId="0" animBg="1"/>
      <p:bldP spid="103" grpId="0" animBg="1"/>
      <p:bldP spid="104" grpId="0" animBg="1"/>
      <p:bldP spid="108" grpId="0" animBg="1"/>
      <p:bldP spid="109" grpId="0" animBg="1"/>
      <p:bldP spid="112" grpId="0" animBg="1"/>
      <p:bldP spid="115" grpId="0" animBg="1"/>
      <p:bldP spid="116" grpId="0" animBg="1"/>
      <p:bldP spid="117" grpId="0" animBg="1"/>
      <p:bldP spid="121" grpId="0" animBg="1"/>
      <p:bldP spid="122" grpId="0" animBg="1"/>
      <p:bldP spid="125" grpId="0" animBg="1"/>
      <p:bldP spid="128" grpId="0" animBg="1"/>
      <p:bldP spid="129" grpId="0" animBg="1"/>
      <p:bldP spid="13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III. </a:t>
            </a:r>
            <a:r>
              <a:rPr lang="en-US" sz="2800" dirty="0" err="1"/>
              <a:t>Phương</a:t>
            </a:r>
            <a:r>
              <a:rPr lang="en-US" sz="2800" dirty="0"/>
              <a:t> </a:t>
            </a:r>
            <a:r>
              <a:rPr lang="en-US" sz="2800" dirty="0" err="1"/>
              <a:t>pháp</a:t>
            </a:r>
            <a:r>
              <a:rPr lang="en-US" sz="2800" dirty="0"/>
              <a:t> </a:t>
            </a:r>
            <a:r>
              <a:rPr lang="en-US" sz="2800" dirty="0" err="1"/>
              <a:t>giải</a:t>
            </a:r>
            <a:r>
              <a:rPr lang="en-US" sz="2800" dirty="0"/>
              <a:t> </a:t>
            </a:r>
            <a:r>
              <a:rPr lang="en-US" sz="2800" dirty="0" err="1"/>
              <a:t>tích</a:t>
            </a:r>
            <a:r>
              <a:rPr lang="en-US" sz="2800" dirty="0"/>
              <a:t> </a:t>
            </a:r>
            <a:r>
              <a:rPr lang="en-US" sz="2800" dirty="0" err="1"/>
              <a:t>sô</a:t>
            </a:r>
            <a:r>
              <a:rPr lang="en-US" sz="2800" dirty="0"/>
              <a:t>́ </a:t>
            </a:r>
            <a:endParaRPr sz="28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4</a:t>
            </a:fld>
            <a:endParaRPr sz="1200"/>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12" name="TextBox 11">
            <a:extLst>
              <a:ext uri="{FF2B5EF4-FFF2-40B4-BE49-F238E27FC236}">
                <a16:creationId xmlns:a16="http://schemas.microsoft.com/office/drawing/2014/main" id="{5C5B71C4-70C2-34E5-111B-A96AD13B50B3}"/>
              </a:ext>
            </a:extLst>
          </p:cNvPr>
          <p:cNvSpPr txBox="1"/>
          <p:nvPr/>
        </p:nvSpPr>
        <p:spPr>
          <a:xfrm>
            <a:off x="574632" y="1002089"/>
            <a:ext cx="7296150"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3.1. </a:t>
            </a:r>
            <a:r>
              <a:rPr lang="en-US" dirty="0" err="1">
                <a:latin typeface="Times New Roman" panose="02020603050405020304" pitchFamily="18" charset="0"/>
                <a:cs typeface="Times New Roman" panose="02020603050405020304" pitchFamily="18" charset="0"/>
              </a:rPr>
              <a:t>Tại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sô</a:t>
            </a:r>
            <a:r>
              <a:rPr lang="en-US" dirty="0">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Hạn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chế</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tích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Chỉ</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phương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đơn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Khi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biến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thiên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theo</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thời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gian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hệ</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phi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tuyến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phức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việc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tìm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công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thức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nghiệm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là</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bất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khả</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Ưu</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điểm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phương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Tìm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nghiệm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gần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đúng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điểm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rời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rạc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biến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bài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toán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phân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thành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phép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tính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đại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mà</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máy</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tính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xử</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nhanh</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chóng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
              <a:tabLst/>
            </a:pP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phương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xem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xét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Phương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pháp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Euler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đơn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nhưng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lớn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Runge-</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Kutta</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bậc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a:t>
            </a:r>
          </a:p>
          <a:p>
            <a:endParaRPr lang="en-US" dirty="0"/>
          </a:p>
          <a:p>
            <a:endParaRPr lang="en-US" dirty="0"/>
          </a:p>
        </p:txBody>
      </p:sp>
      <p:pic>
        <p:nvPicPr>
          <p:cNvPr id="5" name="Picture 4" descr="Confused Bee">
            <a:extLst>
              <a:ext uri="{FF2B5EF4-FFF2-40B4-BE49-F238E27FC236}">
                <a16:creationId xmlns:a16="http://schemas.microsoft.com/office/drawing/2014/main" id="{6C53BC27-CAB9-611A-45CE-63ACD9F5FB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1207" y="3381475"/>
            <a:ext cx="1650957" cy="1650957"/>
          </a:xfrm>
          <a:prstGeom prst="rect">
            <a:avLst/>
          </a:prstGeom>
        </p:spPr>
      </p:pic>
      <p:pic>
        <p:nvPicPr>
          <p:cNvPr id="4" name="object 10">
            <a:extLst>
              <a:ext uri="{FF2B5EF4-FFF2-40B4-BE49-F238E27FC236}">
                <a16:creationId xmlns:a16="http://schemas.microsoft.com/office/drawing/2014/main" id="{EE04914F-FB89-A82B-221A-B8AA0BF2379B}"/>
              </a:ext>
            </a:extLst>
          </p:cNvPr>
          <p:cNvPicPr/>
          <p:nvPr/>
        </p:nvPicPr>
        <p:blipFill>
          <a:blip r:embed="rId3" cstate="print"/>
          <a:stretch>
            <a:fillRect/>
          </a:stretch>
        </p:blipFill>
        <p:spPr>
          <a:xfrm>
            <a:off x="8285864" y="27351"/>
            <a:ext cx="790024" cy="7946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III. </a:t>
            </a:r>
            <a:r>
              <a:rPr lang="en-US" sz="2800" dirty="0" err="1"/>
              <a:t>Phương</a:t>
            </a:r>
            <a:r>
              <a:rPr lang="en-US" sz="2800" dirty="0"/>
              <a:t> </a:t>
            </a:r>
            <a:r>
              <a:rPr lang="en-US" sz="2800" dirty="0" err="1"/>
              <a:t>pháp</a:t>
            </a:r>
            <a:r>
              <a:rPr lang="en-US" sz="2800" dirty="0"/>
              <a:t> </a:t>
            </a:r>
            <a:r>
              <a:rPr lang="en-US" sz="2800" dirty="0" err="1"/>
              <a:t>giải</a:t>
            </a:r>
            <a:r>
              <a:rPr lang="en-US" sz="2800" dirty="0"/>
              <a:t> </a:t>
            </a:r>
            <a:r>
              <a:rPr lang="en-US" sz="2800" dirty="0" err="1"/>
              <a:t>tích</a:t>
            </a:r>
            <a:r>
              <a:rPr lang="en-US" sz="2800" dirty="0"/>
              <a:t> </a:t>
            </a:r>
            <a:r>
              <a:rPr lang="en-US" sz="2800" dirty="0" err="1"/>
              <a:t>sô</a:t>
            </a:r>
            <a:r>
              <a:rPr lang="en-US" sz="2800" dirty="0"/>
              <a:t>́</a:t>
            </a:r>
            <a:endParaRPr sz="28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5</a:t>
            </a:fld>
            <a:endParaRPr sz="1200"/>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C5B71C4-70C2-34E5-111B-A96AD13B50B3}"/>
                  </a:ext>
                </a:extLst>
              </p:cNvPr>
              <p:cNvSpPr txBox="1"/>
              <p:nvPr/>
            </p:nvSpPr>
            <p:spPr>
              <a:xfrm>
                <a:off x="628650" y="911186"/>
                <a:ext cx="7296150" cy="164083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3.2.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pháp</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trình</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thường</a:t>
                </a:r>
                <a:r>
                  <a:rPr lang="en-US" dirty="0">
                    <a:latin typeface="Times New Roman" panose="02020603050405020304" pitchFamily="18" charset="0"/>
                    <a:cs typeface="Times New Roman" panose="02020603050405020304" pitchFamily="18" charset="0"/>
                  </a:rPr>
                  <a:t>:</a:t>
                </a:r>
              </a:p>
              <a:p>
                <a:r>
                  <a:rPr lang="en-US" kern="100" dirty="0">
                    <a:effectLst/>
                    <a:ea typeface="Aptos" panose="020B0004020202020204" pitchFamily="34" charset="0"/>
                    <a:cs typeface="Times New Roman" panose="02020603050405020304" pitchFamily="18" charset="0"/>
                  </a:rPr>
                  <a:t>         </a:t>
                </a:r>
                <a14:m>
                  <m:oMath xmlns:m="http://schemas.openxmlformats.org/officeDocument/2006/math">
                    <m:f>
                      <m:fPr>
                        <m:ctrlPr>
                          <a:rPr lang="en-US" i="1" kern="10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en-US" i="1" kern="100">
                            <a:effectLst/>
                            <a:latin typeface="Cambria Math" panose="02040503050406030204" pitchFamily="18" charset="0"/>
                            <a:ea typeface="Aptos" panose="020B0004020202020204" pitchFamily="34" charset="0"/>
                            <a:cs typeface="Times New Roman" panose="02020603050405020304" pitchFamily="18" charset="0"/>
                          </a:rPr>
                          <m:t>𝑑𝑦</m:t>
                        </m:r>
                      </m:num>
                      <m:den>
                        <m:r>
                          <a:rPr lang="en-US" i="1" kern="100">
                            <a:effectLst/>
                            <a:latin typeface="Cambria Math" panose="02040503050406030204" pitchFamily="18" charset="0"/>
                            <a:ea typeface="Aptos" panose="020B0004020202020204" pitchFamily="34" charset="0"/>
                            <a:cs typeface="Times New Roman" panose="02020603050405020304" pitchFamily="18" charset="0"/>
                          </a:rPr>
                          <m:t>𝑑𝑡</m:t>
                        </m:r>
                        <m:r>
                          <a:rPr lang="en-US" i="1" kern="100">
                            <a:effectLst/>
                            <a:latin typeface="Cambria Math" panose="02040503050406030204" pitchFamily="18" charset="0"/>
                            <a:ea typeface="Aptos" panose="020B0004020202020204" pitchFamily="34" charset="0"/>
                            <a:cs typeface="Times New Roman" panose="02020603050405020304" pitchFamily="18" charset="0"/>
                          </a:rPr>
                          <m:t> </m:t>
                        </m:r>
                      </m:den>
                    </m:f>
                    <m:r>
                      <a:rPr lang="en-US" i="1" kern="100">
                        <a:effectLst/>
                        <a:latin typeface="Cambria Math" panose="02040503050406030204" pitchFamily="18" charset="0"/>
                        <a:ea typeface="Aptos" panose="020B0004020202020204" pitchFamily="34" charset="0"/>
                        <a:cs typeface="Times New Roman" panose="02020603050405020304" pitchFamily="18" charset="0"/>
                      </a:rPr>
                      <m:t>=</m:t>
                    </m:r>
                    <m:r>
                      <a:rPr lang="en-US" i="1" kern="100">
                        <a:effectLst/>
                        <a:latin typeface="Cambria Math" panose="02040503050406030204" pitchFamily="18" charset="0"/>
                        <a:ea typeface="Aptos" panose="020B0004020202020204" pitchFamily="34" charset="0"/>
                        <a:cs typeface="Times New Roman" panose="02020603050405020304" pitchFamily="18" charset="0"/>
                      </a:rPr>
                      <m:t>𝑓</m:t>
                    </m:r>
                    <m:d>
                      <m:d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i="1" kern="100">
                            <a:effectLst/>
                            <a:latin typeface="Cambria Math" panose="02040503050406030204" pitchFamily="18" charset="0"/>
                            <a:ea typeface="Aptos" panose="020B0004020202020204" pitchFamily="34" charset="0"/>
                            <a:cs typeface="Times New Roman" panose="02020603050405020304" pitchFamily="18" charset="0"/>
                          </a:rPr>
                          <m:t>𝑡</m:t>
                        </m:r>
                        <m:r>
                          <a:rPr lang="en-US" i="1" kern="100">
                            <a:effectLst/>
                            <a:latin typeface="Cambria Math" panose="02040503050406030204" pitchFamily="18" charset="0"/>
                            <a:ea typeface="Aptos" panose="020B0004020202020204" pitchFamily="34" charset="0"/>
                            <a:cs typeface="Times New Roman" panose="02020603050405020304" pitchFamily="18" charset="0"/>
                          </a:rPr>
                          <m:t>, </m:t>
                        </m:r>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e>
                    </m:d>
                  </m:oMath>
                </a14:m>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r>
                  <a:rPr lang="en-US" kern="100" dirty="0">
                    <a:effectLst/>
                    <a:ea typeface="Aptos" panose="020B0004020202020204" pitchFamily="34" charset="0"/>
                    <a:cs typeface="Times New Roman" panose="02020603050405020304" pitchFamily="18" charset="0"/>
                  </a:rPr>
                  <a:t>       </a:t>
                </a:r>
                <a14:m>
                  <m:oMath xmlns:m="http://schemas.openxmlformats.org/officeDocument/2006/math">
                    <m:r>
                      <a:rPr lang="en-US" i="1" kern="100" smtClean="0">
                        <a:effectLst/>
                        <a:latin typeface="Cambria Math" panose="02040503050406030204" pitchFamily="18" charset="0"/>
                        <a:ea typeface="Aptos" panose="020B0004020202020204" pitchFamily="34" charset="0"/>
                        <a:cs typeface="Times New Roman" panose="02020603050405020304" pitchFamily="18" charset="0"/>
                      </a:rPr>
                      <m:t>𝑉</m:t>
                    </m:r>
                    <m:acc>
                      <m:accPr>
                        <m:chr m:val="̀"/>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accPr>
                      <m:e>
                        <m:r>
                          <a:rPr lang="en-US" i="1" kern="100">
                            <a:effectLst/>
                            <a:latin typeface="Cambria Math" panose="02040503050406030204" pitchFamily="18" charset="0"/>
                            <a:ea typeface="Aptos" panose="020B0004020202020204" pitchFamily="34" charset="0"/>
                            <a:cs typeface="Times New Roman" panose="02020603050405020304" pitchFamily="18" charset="0"/>
                          </a:rPr>
                          <m:t>𝑎</m:t>
                        </m:r>
                      </m:e>
                    </m:acc>
                    <m:r>
                      <a:rPr lang="en-US" i="1" kern="100">
                        <a:effectLst/>
                        <a:latin typeface="Cambria Math" panose="02040503050406030204" pitchFamily="18" charset="0"/>
                        <a:ea typeface="Aptos" panose="020B0004020202020204" pitchFamily="34" charset="0"/>
                        <a:cs typeface="Times New Roman" panose="02020603050405020304" pitchFamily="18" charset="0"/>
                      </a:rPr>
                      <m:t> </m:t>
                    </m:r>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d>
                      <m:d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0</m:t>
                            </m:r>
                          </m:sub>
                        </m:sSub>
                      </m:e>
                    </m:d>
                    <m:r>
                      <a:rPr lang="en-US"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0</m:t>
                        </m:r>
                      </m:sub>
                    </m:sSub>
                  </m:oMath>
                </a14:m>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mc:Choice>
        <mc:Fallback xmlns="">
          <p:sp>
            <p:nvSpPr>
              <p:cNvPr id="12" name="TextBox 11">
                <a:extLst>
                  <a:ext uri="{FF2B5EF4-FFF2-40B4-BE49-F238E27FC236}">
                    <a16:creationId xmlns:a16="http://schemas.microsoft.com/office/drawing/2014/main" id="{5C5B71C4-70C2-34E5-111B-A96AD13B50B3}"/>
                  </a:ext>
                </a:extLst>
              </p:cNvPr>
              <p:cNvSpPr txBox="1">
                <a:spLocks noRot="1" noChangeAspect="1" noMove="1" noResize="1" noEditPoints="1" noAdjustHandles="1" noChangeArrowheads="1" noChangeShapeType="1" noTextEdit="1"/>
              </p:cNvSpPr>
              <p:nvPr/>
            </p:nvSpPr>
            <p:spPr>
              <a:xfrm>
                <a:off x="628650" y="911186"/>
                <a:ext cx="7296150" cy="1640834"/>
              </a:xfrm>
              <a:prstGeom prst="rect">
                <a:avLst/>
              </a:prstGeom>
              <a:blipFill>
                <a:blip r:embed="rId2"/>
                <a:stretch>
                  <a:fillRect l="-668" t="-1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99D74F-CD19-F9C7-27AE-D0FB9B216AEC}"/>
                  </a:ext>
                </a:extLst>
              </p:cNvPr>
              <p:cNvSpPr txBox="1"/>
              <p:nvPr/>
            </p:nvSpPr>
            <p:spPr>
              <a:xfrm>
                <a:off x="591240" y="2548455"/>
                <a:ext cx="3768768" cy="2229841"/>
              </a:xfrm>
              <a:prstGeom prst="rect">
                <a:avLst/>
              </a:prstGeom>
              <a:noFill/>
            </p:spPr>
            <p:txBody>
              <a:bodyPr wrap="square" rtlCol="0">
                <a:spAutoFit/>
              </a:bodyPr>
              <a:lstStyle/>
              <a:p>
                <a:r>
                  <a:rPr lang="en-US" sz="1300" kern="100" dirty="0" err="1">
                    <a:latin typeface="Times New Roman" panose="02020603050405020304" pitchFamily="18" charset="0"/>
                    <a:ea typeface="Aptos" panose="020B0004020202020204" pitchFamily="34" charset="0"/>
                    <a:cs typeface="Times New Roman" panose="02020603050405020304" pitchFamily="18" charset="0"/>
                  </a:rPr>
                  <a:t>Phương</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latin typeface="Times New Roman" panose="02020603050405020304" pitchFamily="18" charset="0"/>
                    <a:ea typeface="Aptos" panose="020B0004020202020204" pitchFamily="34" charset="0"/>
                    <a:cs typeface="Times New Roman" panose="02020603050405020304" pitchFamily="18" charset="0"/>
                  </a:rPr>
                  <a:t>pháp</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Euler:</a:t>
                </a:r>
              </a:p>
              <a:p>
                <a:pPr marL="342900" lvl="0" indent="-342900">
                  <a:lnSpc>
                    <a:spcPct val="115000"/>
                  </a:lnSpc>
                  <a:buFont typeface="Courier New" panose="02070309020205020404" pitchFamily="49" charset="0"/>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thức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lặp</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𝑛</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𝑛</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h</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𝑓</m:t>
                      </m:r>
                      <m:d>
                        <m:d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𝑛</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𝑛</m:t>
                              </m:r>
                            </m:sub>
                          </m:sSub>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85750" indent="-285750">
                  <a:buFont typeface="Courier New" panose="02070309020205020404" pitchFamily="49" charset="0"/>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Đánh</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gia</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Euler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rất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dễ</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cài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đặt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nhưng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tích</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lũy</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lớn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tỉ</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lệ</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thuận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bước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nhảy</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h). Do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nó</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ít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dùng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bài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toán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cần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cao</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dài</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a:t>
                </a:r>
              </a:p>
              <a:p>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mc:Choice>
        <mc:Fallback xmlns="">
          <p:sp>
            <p:nvSpPr>
              <p:cNvPr id="6" name="TextBox 5">
                <a:extLst>
                  <a:ext uri="{FF2B5EF4-FFF2-40B4-BE49-F238E27FC236}">
                    <a16:creationId xmlns:a16="http://schemas.microsoft.com/office/drawing/2014/main" id="{8E99D74F-CD19-F9C7-27AE-D0FB9B216AEC}"/>
                  </a:ext>
                </a:extLst>
              </p:cNvPr>
              <p:cNvSpPr txBox="1">
                <a:spLocks noRot="1" noChangeAspect="1" noMove="1" noResize="1" noEditPoints="1" noAdjustHandles="1" noChangeArrowheads="1" noChangeShapeType="1" noTextEdit="1"/>
              </p:cNvSpPr>
              <p:nvPr/>
            </p:nvSpPr>
            <p:spPr>
              <a:xfrm>
                <a:off x="591240" y="2548455"/>
                <a:ext cx="3768768" cy="2229841"/>
              </a:xfrm>
              <a:prstGeom prst="rect">
                <a:avLst/>
              </a:prstGeom>
              <a:blipFill>
                <a:blip r:embed="rId3"/>
                <a:stretch>
                  <a:fillRect l="-324" t="-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149286B-DC56-C378-3727-FAF1A69DA184}"/>
                  </a:ext>
                </a:extLst>
              </p:cNvPr>
              <p:cNvSpPr txBox="1"/>
              <p:nvPr/>
            </p:nvSpPr>
            <p:spPr>
              <a:xfrm>
                <a:off x="4800600" y="911186"/>
                <a:ext cx="3768768" cy="5087418"/>
              </a:xfrm>
              <a:prstGeom prst="rect">
                <a:avLst/>
              </a:prstGeom>
              <a:noFill/>
            </p:spPr>
            <p:txBody>
              <a:bodyPr wrap="square" rtlCol="0">
                <a:spAutoFit/>
              </a:bodyPr>
              <a:lstStyle/>
              <a:p>
                <a:r>
                  <a:rPr lang="en-US" sz="1300" kern="100" dirty="0" err="1">
                    <a:latin typeface="Times New Roman" panose="02020603050405020304" pitchFamily="18" charset="0"/>
                    <a:ea typeface="Aptos" panose="020B0004020202020204" pitchFamily="34" charset="0"/>
                    <a:cs typeface="Times New Roman" panose="02020603050405020304" pitchFamily="18" charset="0"/>
                  </a:rPr>
                  <a:t>Phương</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latin typeface="Times New Roman" panose="02020603050405020304" pitchFamily="18" charset="0"/>
                    <a:ea typeface="Aptos" panose="020B0004020202020204" pitchFamily="34" charset="0"/>
                    <a:cs typeface="Times New Roman" panose="02020603050405020304" pitchFamily="18" charset="0"/>
                  </a:rPr>
                  <a:t>pháp</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Runge-</a:t>
                </a:r>
                <a:r>
                  <a:rPr lang="en-US" sz="1300" kern="100" dirty="0" err="1">
                    <a:latin typeface="Times New Roman" panose="02020603050405020304" pitchFamily="18" charset="0"/>
                    <a:ea typeface="Aptos" panose="020B0004020202020204" pitchFamily="34" charset="0"/>
                    <a:cs typeface="Times New Roman" panose="02020603050405020304" pitchFamily="18" charset="0"/>
                  </a:rPr>
                  <a:t>kutta</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latin typeface="Times New Roman" panose="02020603050405020304" pitchFamily="18" charset="0"/>
                    <a:ea typeface="Aptos" panose="020B0004020202020204" pitchFamily="34" charset="0"/>
                    <a:cs typeface="Times New Roman" panose="02020603050405020304" pitchFamily="18" charset="0"/>
                  </a:rPr>
                  <a:t>bậc</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4</a:t>
                </a:r>
              </a:p>
              <a:p>
                <a:pPr marL="342900" lvl="0" indent="-342900">
                  <a:lnSpc>
                    <a:spcPct val="115000"/>
                  </a:lnSpc>
                  <a:buFont typeface="Courier New" panose="02070309020205020404" pitchFamily="49" charset="0"/>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thức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lặp</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300" i="1" kern="100">
                              <a:effectLst/>
                              <a:latin typeface="Cambria Math" panose="02040503050406030204" pitchFamily="18" charset="0"/>
                              <a:ea typeface="Aptos" panose="020B0004020202020204" pitchFamily="34" charset="0"/>
                              <a:cs typeface="Times New Roman" panose="02020603050405020304" pitchFamily="18" charset="0"/>
                            </a:rPr>
                            <m:t>1</m:t>
                          </m:r>
                        </m:num>
                        <m:den>
                          <m:r>
                            <a:rPr lang="en-US" sz="1300" i="1" kern="100">
                              <a:effectLst/>
                              <a:latin typeface="Cambria Math" panose="02040503050406030204" pitchFamily="18" charset="0"/>
                              <a:ea typeface="Aptos" panose="020B0004020202020204" pitchFamily="34" charset="0"/>
                              <a:cs typeface="Times New Roman" panose="02020603050405020304" pitchFamily="18" charset="0"/>
                            </a:rPr>
                            <m:t>6</m:t>
                          </m:r>
                        </m:den>
                      </m:f>
                      <m:d>
                        <m:d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𝑘</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2</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𝑘</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2</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2</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𝑘</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3</m:t>
                              </m:r>
                            </m:sub>
                          </m:s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𝑘</m:t>
                              </m:r>
                            </m:e>
                            <m:sub>
                              <m:r>
                                <a:rPr lang="en-US" sz="1300" i="1" kern="100">
                                  <a:effectLst/>
                                  <a:latin typeface="Cambria Math" panose="02040503050406030204" pitchFamily="18" charset="0"/>
                                  <a:ea typeface="Aptos" panose="020B0004020202020204" pitchFamily="34" charset="0"/>
                                  <a:cs typeface="Times New Roman" panose="02020603050405020304" pitchFamily="18" charset="0"/>
                                </a:rPr>
                                <m:t>4</m:t>
                              </m:r>
                            </m:sub>
                          </m:sSub>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r>
                  <a:rPr lang="en-US" sz="1300" kern="100" dirty="0" err="1">
                    <a:latin typeface="Times New Roman" panose="02020603050405020304" pitchFamily="18" charset="0"/>
                    <a:ea typeface="Aptos" panose="020B0004020202020204" pitchFamily="34" charset="0"/>
                    <a:cs typeface="Times New Roman" panose="02020603050405020304" pitchFamily="18" charset="0"/>
                  </a:rPr>
                  <a:t>Với</a:t>
                </a:r>
                <a:r>
                  <a:rPr lang="en-US" sz="1300" kern="100" dirty="0">
                    <a:latin typeface="Times New Roman" panose="02020603050405020304" pitchFamily="18" charset="0"/>
                    <a:ea typeface="Aptos" panose="020B0004020202020204" pitchFamily="34" charset="0"/>
                    <a:cs typeface="Times New Roman" panose="02020603050405020304" pitchFamily="18" charset="0"/>
                  </a:rPr>
                  <a:t>: </a:t>
                </a: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num>
                            <m:den>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num>
                            <m:den>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num>
                            <m:den>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14:m>
                  <m:oMathPara xmlns:m="http://schemas.openxmlformats.org/officeDocument/2006/math">
                    <m:oMathParaPr>
                      <m:jc m:val="centerGroup"/>
                    </m:oMathParaPr>
                    <m:oMath xmlns:m="http://schemas.openxmlformats.org/officeDocument/2006/math">
                      <m:sSub>
                        <m:sSubPr>
                          <m:ctrlP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3</m:t>
                              </m:r>
                            </m:sub>
                          </m:sSub>
                        </m:e>
                      </m:d>
                    </m:oMath>
                  </m:oMathPara>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85750" indent="-285750">
                  <a:lnSpc>
                    <a:spcPct val="115000"/>
                  </a:lnSpc>
                  <a:buFont typeface="Courier New" panose="02070309020205020404" pitchFamily="49" charset="0"/>
                  <a:buChar char="-"/>
                </a:pP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Ưu</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điểm</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Sai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cục</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bộ</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RK4</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vô</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cùng</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nhỏ</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𝑂</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e>
                      <m:sup>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5</m:t>
                        </m:r>
                      </m:sup>
                    </m:sSup>
                  </m:oMath>
                </a14:m>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đảm</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độ</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xác</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ổn</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ngay</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cả</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bước</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nhảy</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h</m:t>
                    </m:r>
                  </m:oMath>
                </a14:m>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lớn</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hơn</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so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Euler.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Đây</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do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RK4</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lựa</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làm</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thuật</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toán</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cốt</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lõi</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đề</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tài</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kern="100" dirty="0" err="1">
                    <a:effectLst/>
                    <a:latin typeface="Times New Roman" panose="02020603050405020304" pitchFamily="18" charset="0"/>
                    <a:ea typeface="Times New Roman" panose="02020603050405020304" pitchFamily="18" charset="0"/>
                    <a:cs typeface="Times New Roman" panose="02020603050405020304" pitchFamily="18" charset="0"/>
                  </a:rPr>
                  <a:t>này</a:t>
                </a:r>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mc:Choice>
        <mc:Fallback xmlns="">
          <p:sp>
            <p:nvSpPr>
              <p:cNvPr id="7" name="TextBox 6">
                <a:extLst>
                  <a:ext uri="{FF2B5EF4-FFF2-40B4-BE49-F238E27FC236}">
                    <a16:creationId xmlns:a16="http://schemas.microsoft.com/office/drawing/2014/main" id="{1149286B-DC56-C378-3727-FAF1A69DA184}"/>
                  </a:ext>
                </a:extLst>
              </p:cNvPr>
              <p:cNvSpPr txBox="1">
                <a:spLocks noRot="1" noChangeAspect="1" noMove="1" noResize="1" noEditPoints="1" noAdjustHandles="1" noChangeArrowheads="1" noChangeShapeType="1" noTextEdit="1"/>
              </p:cNvSpPr>
              <p:nvPr/>
            </p:nvSpPr>
            <p:spPr>
              <a:xfrm>
                <a:off x="4800600" y="911186"/>
                <a:ext cx="3768768" cy="5087418"/>
              </a:xfrm>
              <a:prstGeom prst="rect">
                <a:avLst/>
              </a:prstGeom>
              <a:blipFill>
                <a:blip r:embed="rId4"/>
                <a:stretch>
                  <a:fillRect l="-324" t="-120" r="-809"/>
                </a:stretch>
              </a:blipFill>
            </p:spPr>
            <p:txBody>
              <a:bodyPr/>
              <a:lstStyle/>
              <a:p>
                <a:r>
                  <a:rPr lang="en-US">
                    <a:noFill/>
                  </a:rPr>
                  <a:t> </a:t>
                </a:r>
              </a:p>
            </p:txBody>
          </p:sp>
        </mc:Fallback>
      </mc:AlternateContent>
      <p:pic>
        <p:nvPicPr>
          <p:cNvPr id="14" name="Picture 13" descr="Hi Bee">
            <a:extLst>
              <a:ext uri="{FF2B5EF4-FFF2-40B4-BE49-F238E27FC236}">
                <a16:creationId xmlns:a16="http://schemas.microsoft.com/office/drawing/2014/main" id="{F986DAD9-59E6-4C6B-F88B-E3D25A0F8D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299" y="3961448"/>
            <a:ext cx="1123950" cy="1123950"/>
          </a:xfrm>
          <a:prstGeom prst="rect">
            <a:avLst/>
          </a:prstGeom>
        </p:spPr>
      </p:pic>
      <p:pic>
        <p:nvPicPr>
          <p:cNvPr id="4" name="object 10">
            <a:extLst>
              <a:ext uri="{FF2B5EF4-FFF2-40B4-BE49-F238E27FC236}">
                <a16:creationId xmlns:a16="http://schemas.microsoft.com/office/drawing/2014/main" id="{AEB8FB64-EE25-295F-A099-CCD04863FFA7}"/>
              </a:ext>
            </a:extLst>
          </p:cNvPr>
          <p:cNvPicPr/>
          <p:nvPr/>
        </p:nvPicPr>
        <p:blipFill>
          <a:blip r:embed="rId6" cstate="print"/>
          <a:stretch>
            <a:fillRect/>
          </a:stretch>
        </p:blipFill>
        <p:spPr>
          <a:xfrm>
            <a:off x="8254322" y="27351"/>
            <a:ext cx="790024" cy="794649"/>
          </a:xfrm>
          <a:prstGeom prst="rect">
            <a:avLst/>
          </a:prstGeom>
        </p:spPr>
      </p:pic>
    </p:spTree>
    <p:extLst>
      <p:ext uri="{BB962C8B-B14F-4D97-AF65-F5344CB8AC3E}">
        <p14:creationId xmlns:p14="http://schemas.microsoft.com/office/powerpoint/2010/main" val="326266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IV. </a:t>
            </a:r>
            <a:r>
              <a:rPr lang="en-US" sz="2800" dirty="0" err="1"/>
              <a:t>Tìm</a:t>
            </a:r>
            <a:r>
              <a:rPr lang="en-US" sz="2800" dirty="0"/>
              <a:t> </a:t>
            </a:r>
            <a:r>
              <a:rPr lang="en-US" sz="2800" dirty="0" err="1"/>
              <a:t>các</a:t>
            </a:r>
            <a:r>
              <a:rPr lang="en-US" sz="2800" dirty="0"/>
              <a:t> </a:t>
            </a:r>
            <a:r>
              <a:rPr lang="en-US" sz="2800" dirty="0" err="1"/>
              <a:t>tham</a:t>
            </a:r>
            <a:r>
              <a:rPr lang="en-US" sz="2800" dirty="0"/>
              <a:t> </a:t>
            </a:r>
            <a:r>
              <a:rPr lang="en-US" sz="2800" dirty="0" err="1"/>
              <a:t>sô</a:t>
            </a:r>
            <a:r>
              <a:rPr lang="en-US" sz="2800" dirty="0"/>
              <a:t>́</a:t>
            </a:r>
            <a:endParaRPr sz="28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6</a:t>
            </a:fld>
            <a:endParaRPr sz="1200"/>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C5B71C4-70C2-34E5-111B-A96AD13B50B3}"/>
                  </a:ext>
                </a:extLst>
              </p:cNvPr>
              <p:cNvSpPr txBox="1"/>
              <p:nvPr/>
            </p:nvSpPr>
            <p:spPr>
              <a:xfrm>
                <a:off x="574632" y="1002089"/>
                <a:ext cx="7675964" cy="315317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4.1. </a:t>
                </a:r>
                <a:r>
                  <a:rPr lang="en-US" dirty="0" err="1">
                    <a:latin typeface="Times New Roman" panose="02020603050405020304" pitchFamily="18" charset="0"/>
                    <a:cs typeface="Times New Roman" panose="02020603050405020304" pitchFamily="18" charset="0"/>
                  </a:rPr>
                  <a:t>Dư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đầu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vào</a:t>
                </a:r>
                <a:endParaRPr lang="en-US" dirty="0">
                  <a:latin typeface="Times New Roman" panose="02020603050405020304" pitchFamily="18" charset="0"/>
                  <a:cs typeface="Times New Roman" panose="02020603050405020304" pitchFamily="18" charset="0"/>
                </a:endParaRPr>
              </a:p>
              <a:p>
                <a:pPr marL="342900" lvl="0" indent="-342900">
                  <a:lnSpc>
                    <a:spcPct val="115000"/>
                  </a:lnSpc>
                  <a:buFont typeface="Courier New" panose="02070309020205020404" pitchFamily="49"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Việt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Nam.</a:t>
                </a:r>
              </a:p>
              <a:p>
                <a:pPr marL="342900" lvl="0" indent="-342900">
                  <a:lnSpc>
                    <a:spcPct val="115000"/>
                  </a:lnSpc>
                  <a:buFont typeface="Courier New" panose="02070309020205020404" pitchFamily="49"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Nguồn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dư</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liệu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Ngân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hàng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Thế</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(World Bank) -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Chỉ</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phát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triển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thế</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giới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15000"/>
                  </a:lnSpc>
                  <a:buFont typeface="Courier New" panose="02070309020205020404" pitchFamily="49"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Giai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đoạn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thập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Từ</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1990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đến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2020.</a:t>
                </a:r>
              </a:p>
              <a:p>
                <a:pPr marL="342900" lvl="1" indent="-342900">
                  <a:lnSpc>
                    <a:spcPct val="115000"/>
                  </a:lnSpc>
                  <a:buFont typeface="Courier New" panose="02070309020205020404" pitchFamily="49" charset="0"/>
                  <a:buChar char="-"/>
                </a:pP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Dư</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liệu</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mẫu</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dùng</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đê</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tính</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sô</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p>
              <a:p>
                <a:pPr lvl="4">
                  <a:lnSpc>
                    <a:spcPct val="115000"/>
                  </a:lnSpc>
                </a:pPr>
                <a:r>
                  <a:rPr lang="en-US" kern="100" dirty="0">
                    <a:latin typeface="Times New Roman" panose="02020603050405020304" pitchFamily="18" charset="0"/>
                    <a:ea typeface="Aptos" panose="020B0004020202020204" pitchFamily="34" charset="0"/>
                    <a:cs typeface="Times New Roman" panose="02020603050405020304" pitchFamily="18" charset="0"/>
                  </a:rPr>
                  <a:t>	+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a:latin typeface="Times New Roman" panose="02020603050405020304" pitchFamily="18" charset="0"/>
                    <a:ea typeface="Aptos" panose="020B0004020202020204" pitchFamily="34" charset="0"/>
                    <a:cs typeface="Times New Roman" panose="02020603050405020304" pitchFamily="18" charset="0"/>
                  </a:rPr>
                  <a:t>1990</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 = 0): </a:t>
                </a:r>
                <a14:m>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0</m:t>
                        </m:r>
                      </m:sub>
                    </m:sSub>
                    <m:r>
                      <a:rPr lang="en-US" i="1" kern="100">
                        <a:effectLst/>
                        <a:latin typeface="Cambria Math" panose="02040503050406030204" pitchFamily="18" charset="0"/>
                        <a:ea typeface="Aptos" panose="020B0004020202020204" pitchFamily="34" charset="0"/>
                        <a:cs typeface="Times New Roman" panose="02020603050405020304" pitchFamily="18" charset="0"/>
                      </a:rPr>
                      <m:t>=</m:t>
                    </m:r>
                    <m:r>
                      <a:rPr lang="en-US" b="0" i="1" kern="100" smtClean="0">
                        <a:effectLst/>
                        <a:latin typeface="Cambria Math" panose="02040503050406030204" pitchFamily="18" charset="0"/>
                        <a:ea typeface="Aptos" panose="020B0004020202020204" pitchFamily="34" charset="0"/>
                        <a:cs typeface="Times New Roman" panose="02020603050405020304" pitchFamily="18" charset="0"/>
                      </a:rPr>
                      <m:t>65504502</m:t>
                    </m:r>
                  </m:oMath>
                </a14:m>
                <a:r>
                  <a:rPr lang="en-US"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kern="100" dirty="0" err="1">
                    <a:effectLst/>
                    <a:latin typeface="Times New Roman" panose="02020603050405020304" pitchFamily="18" charset="0"/>
                    <a:ea typeface="Times New Roman" panose="02020603050405020304" pitchFamily="18" charset="0"/>
                    <a:cs typeface="Times New Roman" panose="02020603050405020304" pitchFamily="18" charset="0"/>
                  </a:rPr>
                  <a:t>người</a:t>
                </a:r>
                <a:r>
                  <a:rPr lang="en-US"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3">
                  <a:lnSpc>
                    <a:spcPct val="115000"/>
                  </a:lnSpc>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a:latin typeface="Times New Roman" panose="02020603050405020304" pitchFamily="18" charset="0"/>
                    <a:ea typeface="Aptos" panose="020B0004020202020204" pitchFamily="34" charset="0"/>
                    <a:cs typeface="Times New Roman" panose="02020603050405020304" pitchFamily="18" charset="0"/>
                  </a:rPr>
                  <a:t>1991</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(t=1): </a:t>
                </a:r>
                <a14:m>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1</m:t>
                        </m:r>
                      </m:sub>
                    </m:sSub>
                  </m:oMath>
                </a14:m>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kern="100" dirty="0">
                    <a:latin typeface="Times New Roman" panose="02020603050405020304" pitchFamily="18" charset="0"/>
                    <a:ea typeface="Aptos" panose="020B0004020202020204" pitchFamily="34" charset="0"/>
                    <a:cs typeface="Times New Roman" panose="02020603050405020304" pitchFamily="18" charset="0"/>
                  </a:rPr>
                  <a:t>66891775</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người</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2">
                  <a:lnSpc>
                    <a:spcPct val="115000"/>
                  </a:lnSpc>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a:latin typeface="Times New Roman" panose="02020603050405020304" pitchFamily="18" charset="0"/>
                    <a:ea typeface="Aptos" panose="020B0004020202020204" pitchFamily="34" charset="0"/>
                    <a:cs typeface="Times New Roman" panose="02020603050405020304" pitchFamily="18" charset="0"/>
                  </a:rPr>
                  <a:t>1992</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(t=2): </a:t>
                </a:r>
                <a14:m>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2</m:t>
                        </m:r>
                      </m:sub>
                    </m:sSub>
                    <m:r>
                      <a:rPr lang="en-US"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n-US" kern="100" dirty="0">
                    <a:effectLst/>
                    <a:latin typeface="Times New Roman" panose="02020603050405020304" pitchFamily="18" charset="0"/>
                    <a:ea typeface="Aptos" panose="020B0004020202020204" pitchFamily="34" charset="0"/>
                    <a:cs typeface="Times New Roman" panose="02020603050405020304" pitchFamily="18" charset="0"/>
                  </a:rPr>
                  <a:t> 68260337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người</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a:t>
                </a:r>
              </a:p>
              <a:p>
                <a:endParaRPr lang="en-US" dirty="0"/>
              </a:p>
              <a:p>
                <a:endParaRPr lang="en-US" dirty="0"/>
              </a:p>
            </p:txBody>
          </p:sp>
        </mc:Choice>
        <mc:Fallback>
          <p:sp>
            <p:nvSpPr>
              <p:cNvPr id="12" name="TextBox 11">
                <a:extLst>
                  <a:ext uri="{FF2B5EF4-FFF2-40B4-BE49-F238E27FC236}">
                    <a16:creationId xmlns:a16="http://schemas.microsoft.com/office/drawing/2014/main" id="{5C5B71C4-70C2-34E5-111B-A96AD13B50B3}"/>
                  </a:ext>
                </a:extLst>
              </p:cNvPr>
              <p:cNvSpPr txBox="1">
                <a:spLocks noRot="1" noChangeAspect="1" noMove="1" noResize="1" noEditPoints="1" noAdjustHandles="1" noChangeArrowheads="1" noChangeShapeType="1" noTextEdit="1"/>
              </p:cNvSpPr>
              <p:nvPr/>
            </p:nvSpPr>
            <p:spPr>
              <a:xfrm>
                <a:off x="574632" y="1002089"/>
                <a:ext cx="7675964" cy="3153171"/>
              </a:xfrm>
              <a:prstGeom prst="rect">
                <a:avLst/>
              </a:prstGeom>
              <a:blipFill>
                <a:blip r:embed="rId2"/>
                <a:stretch>
                  <a:fillRect l="-635" t="-965" r="-397"/>
                </a:stretch>
              </a:blipFill>
            </p:spPr>
            <p:txBody>
              <a:bodyPr/>
              <a:lstStyle/>
              <a:p>
                <a:r>
                  <a:rPr lang="en-US">
                    <a:noFill/>
                  </a:rPr>
                  <a:t> </a:t>
                </a:r>
              </a:p>
            </p:txBody>
          </p:sp>
        </mc:Fallback>
      </mc:AlternateContent>
      <p:pic>
        <p:nvPicPr>
          <p:cNvPr id="4" name="Picture 3" descr="Happy Bee">
            <a:extLst>
              <a:ext uri="{FF2B5EF4-FFF2-40B4-BE49-F238E27FC236}">
                <a16:creationId xmlns:a16="http://schemas.microsoft.com/office/drawing/2014/main" id="{B99E32BE-4E6C-EF39-8D58-AB944F4658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135" y="3634877"/>
            <a:ext cx="1428750" cy="1428750"/>
          </a:xfrm>
          <a:prstGeom prst="rect">
            <a:avLst/>
          </a:prstGeom>
        </p:spPr>
      </p:pic>
      <p:pic>
        <p:nvPicPr>
          <p:cNvPr id="5" name="object 10">
            <a:extLst>
              <a:ext uri="{FF2B5EF4-FFF2-40B4-BE49-F238E27FC236}">
                <a16:creationId xmlns:a16="http://schemas.microsoft.com/office/drawing/2014/main" id="{039C5A36-CB14-B7FC-1C2F-161606DBB545}"/>
              </a:ext>
            </a:extLst>
          </p:cNvPr>
          <p:cNvPicPr/>
          <p:nvPr/>
        </p:nvPicPr>
        <p:blipFill>
          <a:blip r:embed="rId4" cstate="print"/>
          <a:stretch>
            <a:fillRect/>
          </a:stretch>
        </p:blipFill>
        <p:spPr>
          <a:xfrm>
            <a:off x="8254322" y="39282"/>
            <a:ext cx="790024" cy="794649"/>
          </a:xfrm>
          <a:prstGeom prst="rect">
            <a:avLst/>
          </a:prstGeom>
        </p:spPr>
      </p:pic>
    </p:spTree>
    <p:extLst>
      <p:ext uri="{BB962C8B-B14F-4D97-AF65-F5344CB8AC3E}">
        <p14:creationId xmlns:p14="http://schemas.microsoft.com/office/powerpoint/2010/main" val="2639678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7643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IV. </a:t>
            </a:r>
            <a:r>
              <a:rPr lang="en-US" sz="2800" dirty="0" err="1"/>
              <a:t>Tìm</a:t>
            </a:r>
            <a:r>
              <a:rPr lang="en-US" sz="2800" dirty="0"/>
              <a:t> </a:t>
            </a:r>
            <a:r>
              <a:rPr lang="en-US" sz="2800" dirty="0" err="1"/>
              <a:t>các</a:t>
            </a:r>
            <a:r>
              <a:rPr lang="en-US" sz="2800" dirty="0"/>
              <a:t> </a:t>
            </a:r>
            <a:r>
              <a:rPr lang="en-US" sz="2800" dirty="0" err="1"/>
              <a:t>tham</a:t>
            </a:r>
            <a:r>
              <a:rPr lang="en-US" sz="2800" dirty="0"/>
              <a:t> </a:t>
            </a:r>
            <a:r>
              <a:rPr lang="en-US" sz="2800" dirty="0" err="1"/>
              <a:t>sô</a:t>
            </a:r>
            <a:r>
              <a:rPr lang="en-US" sz="2800" dirty="0"/>
              <a:t>́</a:t>
            </a:r>
            <a:endParaRPr sz="2800" dirty="0"/>
          </a:p>
        </p:txBody>
      </p:sp>
      <p:sp>
        <p:nvSpPr>
          <p:cNvPr id="3" name="object 3"/>
          <p:cNvSpPr/>
          <p:nvPr/>
        </p:nvSpPr>
        <p:spPr>
          <a:xfrm>
            <a:off x="548725" y="694350"/>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xfrm>
            <a:off x="8626607" y="4723311"/>
            <a:ext cx="261798" cy="226695"/>
          </a:xfrm>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7</a:t>
            </a:fld>
            <a:endParaRPr sz="1200"/>
          </a:p>
        </p:txBody>
      </p:sp>
      <p:sp>
        <p:nvSpPr>
          <p:cNvPr id="10" name="object 10"/>
          <p:cNvSpPr txBox="1">
            <a:spLocks noGrp="1"/>
          </p:cNvSpPr>
          <p:nvPr>
            <p:ph type="dt" sz="half" idx="6"/>
          </p:nvPr>
        </p:nvSpPr>
        <p:spPr>
          <a:xfrm>
            <a:off x="87093" y="4742281"/>
            <a:ext cx="386715" cy="252729"/>
          </a:xfrm>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xfrm>
            <a:off x="3660911" y="4742281"/>
            <a:ext cx="1586864" cy="252729"/>
          </a:xfrm>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12" name="TextBox 11">
            <a:extLst>
              <a:ext uri="{FF2B5EF4-FFF2-40B4-BE49-F238E27FC236}">
                <a16:creationId xmlns:a16="http://schemas.microsoft.com/office/drawing/2014/main" id="{5C5B71C4-70C2-34E5-111B-A96AD13B50B3}"/>
              </a:ext>
            </a:extLst>
          </p:cNvPr>
          <p:cNvSpPr txBox="1"/>
          <p:nvPr/>
        </p:nvSpPr>
        <p:spPr>
          <a:xfrm>
            <a:off x="457200" y="728677"/>
            <a:ext cx="729615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4.2. </a:t>
            </a:r>
            <a:r>
              <a:rPr lang="en-US" dirty="0" err="1">
                <a:latin typeface="Times New Roman" panose="02020603050405020304" pitchFamily="18" charset="0"/>
                <a:cs typeface="Times New Roman" panose="02020603050405020304" pitchFamily="18" charset="0"/>
              </a:rPr>
              <a:t>Xác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phỏng</a:t>
            </a:r>
            <a:endParaRPr lang="en-US" dirty="0">
              <a:latin typeface="Times New Roman" panose="02020603050405020304" pitchFamily="18" charset="0"/>
              <a:cs typeface="Times New Roman" panose="02020603050405020304" pitchFamily="18" charset="0"/>
            </a:endParaRPr>
          </a:p>
          <a:p>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
            </a:r>
            <a:r>
              <a:rPr lang="en-US" altLang="en-US" dirty="0" err="1">
                <a:solidFill>
                  <a:schemeClr val="tx1"/>
                </a:solidFill>
                <a:latin typeface="Times New Roman" panose="02020603050405020304" pitchFamily="18" charset="0"/>
                <a:cs typeface="Times New Roman" panose="02020603050405020304" pitchFamily="18" charset="0"/>
              </a:rPr>
              <a:t>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hình</a:t>
            </a:r>
            <a:r>
              <a:rPr lang="en-US" altLang="en-US" dirty="0">
                <a:solidFill>
                  <a:schemeClr val="tx1"/>
                </a:solidFill>
                <a:latin typeface="Times New Roman" panose="02020603050405020304" pitchFamily="18" charset="0"/>
                <a:cs typeface="Times New Roman" panose="02020603050405020304" pitchFamily="18" charset="0"/>
              </a:rPr>
              <a:t> Logistic</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22984BA-DE1E-93F1-11C4-AB222077C8AD}"/>
                  </a:ext>
                </a:extLst>
              </p:cNvPr>
              <p:cNvSpPr txBox="1"/>
              <p:nvPr/>
            </p:nvSpPr>
            <p:spPr>
              <a:xfrm>
                <a:off x="457200" y="1404851"/>
                <a:ext cx="3006768" cy="2601418"/>
              </a:xfrm>
              <a:prstGeom prst="rect">
                <a:avLst/>
              </a:prstGeom>
              <a:noFill/>
            </p:spPr>
            <p:txBody>
              <a:bodyPr wrap="square" rtlCol="0">
                <a:spAutoFit/>
              </a:bodyPr>
              <a:lstStyle/>
              <a:p>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Theo </a:t>
                </a:r>
                <a:r>
                  <a:rPr kumimoji="0" lang="en-US" altLang="en-US" sz="1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t>
                </a:r>
                <a:r>
                  <a:rPr lang="en-US" altLang="en-US" sz="1400" dirty="0" err="1">
                    <a:solidFill>
                      <a:schemeClr val="tx1"/>
                    </a:solidFill>
                    <a:latin typeface="Times New Roman" panose="02020603050405020304" pitchFamily="18" charset="0"/>
                    <a:cs typeface="Times New Roman" panose="02020603050405020304" pitchFamily="18" charset="0"/>
                  </a:rPr>
                  <a:t>ông</a:t>
                </a:r>
                <a:r>
                  <a:rPr lang="en-US" altLang="en-US" sz="1400" dirty="0">
                    <a:solidFill>
                      <a:schemeClr val="tx1"/>
                    </a:solidFill>
                    <a:latin typeface="Times New Roman" panose="02020603050405020304" pitchFamily="18" charset="0"/>
                    <a:cs typeface="Times New Roman" panose="02020603050405020304" pitchFamily="18" charset="0"/>
                  </a:rPr>
                  <a:t> </a:t>
                </a:r>
                <a:r>
                  <a:rPr lang="en-US" altLang="en-US" sz="1400" dirty="0" err="1">
                    <a:solidFill>
                      <a:schemeClr val="tx1"/>
                    </a:solidFill>
                    <a:latin typeface="Times New Roman" panose="02020603050405020304" pitchFamily="18" charset="0"/>
                    <a:cs typeface="Times New Roman" panose="02020603050405020304" pitchFamily="18" charset="0"/>
                  </a:rPr>
                  <a:t>thức</a:t>
                </a:r>
                <a:r>
                  <a:rPr lang="en-US" altLang="en-US" sz="1400" dirty="0">
                    <a:solidFill>
                      <a:schemeClr val="tx1"/>
                    </a:solidFill>
                    <a:latin typeface="Times New Roman" panose="02020603050405020304" pitchFamily="18" charset="0"/>
                    <a:cs typeface="Times New Roman" panose="02020603050405020304" pitchFamily="18" charset="0"/>
                  </a:rPr>
                  <a:t>:</a:t>
                </a:r>
              </a:p>
              <a:p>
                <a:pPr/>
                <a14:m>
                  <m:oMathPara xmlns:m="http://schemas.openxmlformats.org/officeDocument/2006/math">
                    <m:oMathParaPr>
                      <m:jc m:val="left"/>
                    </m:oMathParaPr>
                    <m:oMath xmlns:m="http://schemas.openxmlformats.org/officeDocument/2006/math">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400" kern="100">
                              <a:effectLst/>
                              <a:latin typeface="Cambria Math" panose="02040503050406030204" pitchFamily="18" charset="0"/>
                              <a:ea typeface="Times New Roman" panose="02020603050405020304" pitchFamily="18" charset="0"/>
                              <a:cs typeface="Times New Roman" panose="02020603050405020304" pitchFamily="18" charset="0"/>
                            </a:rPr>
                            <m:t>ln</m:t>
                          </m:r>
                        </m:fName>
                        <m:e>
                          <m:f>
                            <m:f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2</m:t>
                                  </m:r>
                                </m:sub>
                              </m:sSub>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0</m:t>
                                      </m:r>
                                    </m:sub>
                                  </m:sSub>
                                </m:e>
                              </m:d>
                            </m:num>
                            <m:den>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0</m:t>
                                  </m:r>
                                </m:sub>
                              </m:sSub>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2</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ub>
                                  </m:sSub>
                                </m:e>
                              </m:d>
                            </m:den>
                          </m:f>
                        </m:e>
                      </m:func>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03619</m:t>
                      </m:r>
                    </m:oMath>
                  </m:oMathPara>
                </a14:m>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400" i="1" smtClean="0">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1400" i="1">
                            <a:effectLst/>
                            <a:latin typeface="Cambria Math" panose="02040503050406030204" pitchFamily="18" charset="0"/>
                            <a:ea typeface="Times New Roman" panose="02020603050405020304" pitchFamily="18" charset="0"/>
                          </a:rPr>
                        </m:ctrlPr>
                      </m:fPr>
                      <m:num>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US" sz="1400" i="1">
                                <a:effectLst/>
                                <a:latin typeface="Cambria Math" panose="02040503050406030204" pitchFamily="18" charset="0"/>
                                <a:ea typeface="Times New Roman" panose="02020603050405020304" pitchFamily="18" charset="0"/>
                              </a:rPr>
                            </m:ctrlPr>
                          </m:dPr>
                          <m:e>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0</m:t>
                                </m:r>
                              </m:sub>
                            </m:sSub>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0</m:t>
                                </m:r>
                              </m:sub>
                            </m:sSub>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d>
                      </m:num>
                      <m:den>
                        <m:d>
                          <m:dPr>
                            <m:ctrlPr>
                              <a:rPr lang="en-US" sz="1400" i="1">
                                <a:effectLst/>
                                <a:latin typeface="Cambria Math" panose="02040503050406030204" pitchFamily="18" charset="0"/>
                                <a:ea typeface="Times New Roman" panose="02020603050405020304" pitchFamily="18" charset="0"/>
                              </a:rPr>
                            </m:ctrlPr>
                          </m:dPr>
                          <m:e>
                            <m:sSubSup>
                              <m:sSubSupPr>
                                <m:ctrlPr>
                                  <a:rPr lang="en-US" sz="1400" i="1">
                                    <a:effectLst/>
                                    <a:latin typeface="Cambria Math" panose="02040503050406030204" pitchFamily="18" charset="0"/>
                                    <a:ea typeface="Times New Roman" panose="02020603050405020304" pitchFamily="18" charset="0"/>
                                  </a:rPr>
                                </m:ctrlPr>
                              </m:sSubSup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0</m:t>
                                </m:r>
                              </m:sub>
                            </m:sSub>
                            <m:sSub>
                              <m:sSubPr>
                                <m:ctrlPr>
                                  <a:rPr lang="en-US" sz="1400" i="1">
                                    <a:effectLst/>
                                    <a:latin typeface="Cambria Math" panose="02040503050406030204" pitchFamily="18" charset="0"/>
                                    <a:ea typeface="Times New Roman" panose="02020603050405020304" pitchFamily="18" charset="0"/>
                                  </a:rPr>
                                </m:ctrlPr>
                              </m:sSubPr>
                              <m:e>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d>
                      </m:den>
                    </m:f>
                  </m:oMath>
                </a14:m>
                <a:r>
                  <a:rPr lang="en-US" sz="1400" dirty="0"/>
                  <a:t>  </a:t>
                </a:r>
                <a14:m>
                  <m:oMath xmlns:m="http://schemas.openxmlformats.org/officeDocument/2006/math">
                    <m:r>
                      <a:rPr lang="en-US" sz="1400" b="0" i="0" smtClean="0">
                        <a:latin typeface="Cambria Math" panose="02040503050406030204" pitchFamily="18" charset="0"/>
                      </a:rPr>
                      <m:t>           =</m:t>
                    </m:r>
                    <m:r>
                      <a:rPr lang="en-US" sz="1400" i="1">
                        <a:latin typeface="Cambria Math" panose="02040503050406030204" pitchFamily="18" charset="0"/>
                      </a:rPr>
                      <m:t>109316435</m:t>
                    </m:r>
                    <m:r>
                      <a:rPr lang="en-US" sz="1400" i="1">
                        <a:latin typeface="Cambria Math" panose="02040503050406030204" pitchFamily="18" charset="0"/>
                      </a:rPr>
                      <m:t> </m:t>
                    </m:r>
                    <m:r>
                      <a:rPr lang="en-US" sz="1400" i="1">
                        <a:latin typeface="Cambria Math" panose="02040503050406030204" pitchFamily="18" charset="0"/>
                      </a:rPr>
                      <m:t>𝑛𝑔</m:t>
                    </m:r>
                    <m:r>
                      <a:rPr lang="en-US" sz="1400" i="1">
                        <a:latin typeface="Cambria Math" panose="02040503050406030204" pitchFamily="18" charset="0"/>
                      </a:rPr>
                      <m:t>ư</m:t>
                    </m:r>
                    <m:acc>
                      <m:accPr>
                        <m:chr m:val="̀"/>
                        <m:ctrlPr>
                          <a:rPr lang="en-US" sz="1400" i="1">
                            <a:latin typeface="Cambria Math" panose="02040503050406030204" pitchFamily="18" charset="0"/>
                          </a:rPr>
                        </m:ctrlPr>
                      </m:accPr>
                      <m:e>
                        <m:r>
                          <a:rPr lang="en-US" sz="1400" i="1">
                            <a:latin typeface="Cambria Math" panose="02040503050406030204" pitchFamily="18" charset="0"/>
                          </a:rPr>
                          <m:t>ơ</m:t>
                        </m:r>
                      </m:e>
                    </m:acc>
                    <m:r>
                      <a:rPr lang="en-US" sz="1400" i="1">
                        <a:latin typeface="Cambria Math" panose="02040503050406030204" pitchFamily="18" charset="0"/>
                      </a:rPr>
                      <m:t>𝑖</m:t>
                    </m:r>
                  </m:oMath>
                </a14:m>
                <a:endParaRPr lang="en-US" sz="1400" i="1" dirty="0"/>
              </a:p>
              <a:p>
                <a:endParaRPr lang="en-US" sz="1300" i="1" kern="100" dirty="0">
                  <a:effectLst/>
                  <a:latin typeface="Cambria Math" panose="02040503050406030204" pitchFamily="18" charset="0"/>
                  <a:ea typeface="Times New Roman" panose="02020603050405020304" pitchFamily="18" charset="0"/>
                  <a:cs typeface="Times New Roman" panose="02020603050405020304" pitchFamily="18" charset="0"/>
                </a:endParaRPr>
              </a:p>
              <a:p>
                <a14:m>
                  <m:oMath xmlns:m="http://schemas.openxmlformats.org/officeDocument/2006/math">
                    <m: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t>=&gt;</m:t>
                    </m:r>
                    <m: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sz="13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𝑎</m:t>
                        </m:r>
                      </m:num>
                      <m:den>
                        <m:sSub>
                          <m:sSub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den>
                    </m:f>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31</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300" kern="100" dirty="0">
                    <a:effectLst/>
                    <a:latin typeface="Times New Roman" panose="02020603050405020304" pitchFamily="18" charset="0"/>
                    <a:ea typeface="Times New Roman" panose="02020603050405020304" pitchFamily="18" charset="0"/>
                    <a:cs typeface="Times New Roman" panose="02020603050405020304" pitchFamily="18" charset="0"/>
                  </a:rPr>
                  <a:t>x </a:t>
                </a:r>
                <a14:m>
                  <m:oMath xmlns:m="http://schemas.openxmlformats.org/officeDocument/2006/math">
                    <m:sSup>
                      <m:sSupPr>
                        <m:ctrlP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300" i="1" kern="100">
                            <a:effectLst/>
                            <a:latin typeface="Cambria Math" panose="02040503050406030204" pitchFamily="18" charset="0"/>
                            <a:ea typeface="Times New Roman" panose="02020603050405020304" pitchFamily="18" charset="0"/>
                            <a:cs typeface="Times New Roman" panose="02020603050405020304" pitchFamily="18" charset="0"/>
                          </a:rPr>
                          <m:t>10</m:t>
                        </m:r>
                      </m:sup>
                    </m:sSup>
                  </m:oMath>
                </a14:m>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a:p>
                <a:endParaRPr lang="en-US" dirty="0"/>
              </a:p>
            </p:txBody>
          </p:sp>
        </mc:Choice>
        <mc:Fallback xmlns="">
          <p:sp>
            <p:nvSpPr>
              <p:cNvPr id="4" name="TextBox 3">
                <a:extLst>
                  <a:ext uri="{FF2B5EF4-FFF2-40B4-BE49-F238E27FC236}">
                    <a16:creationId xmlns:a16="http://schemas.microsoft.com/office/drawing/2014/main" id="{A22984BA-DE1E-93F1-11C4-AB222077C8AD}"/>
                  </a:ext>
                </a:extLst>
              </p:cNvPr>
              <p:cNvSpPr txBox="1">
                <a:spLocks noRot="1" noChangeAspect="1" noMove="1" noResize="1" noEditPoints="1" noAdjustHandles="1" noChangeArrowheads="1" noChangeShapeType="1" noTextEdit="1"/>
              </p:cNvSpPr>
              <p:nvPr/>
            </p:nvSpPr>
            <p:spPr>
              <a:xfrm>
                <a:off x="457200" y="1404851"/>
                <a:ext cx="3006768" cy="2601418"/>
              </a:xfrm>
              <a:prstGeom prst="rect">
                <a:avLst/>
              </a:prstGeom>
              <a:blipFill>
                <a:blip r:embed="rId2"/>
                <a:stretch>
                  <a:fillRect l="-609" t="-23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A9D48F5-0A58-F987-DD5F-7FF99DB16A84}"/>
              </a:ext>
            </a:extLst>
          </p:cNvPr>
          <p:cNvSpPr txBox="1"/>
          <p:nvPr/>
        </p:nvSpPr>
        <p:spPr>
          <a:xfrm>
            <a:off x="3996933" y="771684"/>
            <a:ext cx="4967918" cy="98642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Theo </a:t>
            </a:r>
            <a:r>
              <a:rPr lang="en-US" sz="1400" dirty="0" err="1">
                <a:latin typeface="Times New Roman" panose="02020603050405020304" pitchFamily="18" charset="0"/>
                <a:cs typeface="Times New Roman" panose="02020603050405020304" pitchFamily="18" charset="0"/>
              </a:rPr>
              <a:t>phương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pháp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phương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tối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thiểu</a:t>
            </a:r>
            <a:endParaRPr lang="en-US" sz="14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
            </a:pPr>
            <a:r>
              <a:rPr lang="en-US" sz="1400" dirty="0" err="1">
                <a:latin typeface="Times New Roman" panose="02020603050405020304" pitchFamily="18" charset="0"/>
                <a:cs typeface="Times New Roman" panose="02020603050405020304" pitchFamily="18" charset="0"/>
              </a:rPr>
              <a:t>Cơ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thuyết</a:t>
            </a:r>
            <a:endParaRPr lang="en-US" sz="1400" dirty="0">
              <a:latin typeface="Times New Roman" panose="02020603050405020304" pitchFamily="18" charset="0"/>
              <a:cs typeface="Times New Roman" panose="02020603050405020304" pitchFamily="18" charset="0"/>
            </a:endParaRPr>
          </a:p>
          <a:p>
            <a:pPr lvl="2">
              <a:lnSpc>
                <a:spcPct val="115000"/>
              </a:lnSpc>
            </a:pPr>
            <a:r>
              <a:rPr lang="en-US" sz="1400" kern="100" dirty="0">
                <a:latin typeface="Times New Roman" panose="02020603050405020304" pitchFamily="18" charset="0"/>
                <a:ea typeface="Aptos" panose="020B0004020202020204" pitchFamily="34" charset="0"/>
                <a:cs typeface="Times New Roman" panose="02020603050405020304" pitchFamily="18" charset="0"/>
              </a:rPr>
              <a:t>     </a:t>
            </a:r>
            <a:endParaRPr lang="en-US" sz="1400" dirty="0"/>
          </a:p>
          <a:p>
            <a:endParaRPr lang="en-US" sz="14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0CE2C3-D2C4-85DA-DBF8-5070131D456E}"/>
                  </a:ext>
                </a:extLst>
              </p:cNvPr>
              <p:cNvSpPr txBox="1"/>
              <p:nvPr/>
            </p:nvSpPr>
            <p:spPr>
              <a:xfrm>
                <a:off x="3996933" y="3305047"/>
                <a:ext cx="4736056" cy="1776640"/>
              </a:xfrm>
              <a:prstGeom prst="rect">
                <a:avLst/>
              </a:prstGeom>
              <a:noFill/>
            </p:spPr>
            <p:txBody>
              <a:bodyPr wrap="square" rtlCol="0">
                <a:spAutoFit/>
              </a:bodyPr>
              <a:lstStyle/>
              <a:p>
                <a:pPr marL="342900" lvl="0" indent="-342900">
                  <a:lnSpc>
                    <a:spcPct val="115000"/>
                  </a:lnSpc>
                  <a:buFont typeface="Courier New" panose="02070309020205020404" pitchFamily="49" charset="0"/>
                  <a:buChar char="-"/>
                </a:pP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Cách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quyết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sử</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thư</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viện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𝑠𝑐𝑖𝑝𝑦</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𝑜𝑝𝑡𝑖𝑚𝑖𝑧𝑒</m:t>
                    </m:r>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Python.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sử</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thuật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toán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thường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Levenberg-Marquardt)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dò</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chỉnh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𝑎</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𝑏</m:t>
                    </m:r>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hàng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ngàn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lần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đến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tìm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𝑆</m:t>
                    </m:r>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nhỏ</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nhất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15000"/>
                  </a:lnSpc>
                  <a:buFont typeface="Courier New" panose="02070309020205020404" pitchFamily="49" charset="0"/>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Kết</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luận</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2">
                  <a:lnSpc>
                    <a:spcPct val="115000"/>
                  </a:lnSpc>
                </a:pPr>
                <a:r>
                  <a:rPr lang="en-US" sz="1400" kern="100" dirty="0">
                    <a:latin typeface="Times New Roman" panose="02020603050405020304" pitchFamily="18" charset="0"/>
                    <a:ea typeface="Aptos" panose="020B0004020202020204" pitchFamily="34" charset="0"/>
                    <a:cs typeface="Times New Roman" panose="02020603050405020304" pitchFamily="18" charset="0"/>
                  </a:rPr>
                  <a:t>     </a:t>
                </a:r>
                <a:endParaRPr lang="en-US" sz="1400" dirty="0"/>
              </a:p>
              <a:p>
                <a:endParaRPr lang="en-US" sz="1400" dirty="0"/>
              </a:p>
            </p:txBody>
          </p:sp>
        </mc:Choice>
        <mc:Fallback xmlns="">
          <p:sp>
            <p:nvSpPr>
              <p:cNvPr id="8" name="TextBox 7">
                <a:extLst>
                  <a:ext uri="{FF2B5EF4-FFF2-40B4-BE49-F238E27FC236}">
                    <a16:creationId xmlns:a16="http://schemas.microsoft.com/office/drawing/2014/main" id="{720CE2C3-D2C4-85DA-DBF8-5070131D456E}"/>
                  </a:ext>
                </a:extLst>
              </p:cNvPr>
              <p:cNvSpPr txBox="1">
                <a:spLocks noRot="1" noChangeAspect="1" noMove="1" noResize="1" noEditPoints="1" noAdjustHandles="1" noChangeArrowheads="1" noChangeShapeType="1" noTextEdit="1"/>
              </p:cNvSpPr>
              <p:nvPr/>
            </p:nvSpPr>
            <p:spPr>
              <a:xfrm>
                <a:off x="3996933" y="3305047"/>
                <a:ext cx="4736056" cy="1776640"/>
              </a:xfrm>
              <a:prstGeom prst="rect">
                <a:avLst/>
              </a:prstGeom>
              <a:blipFill>
                <a:blip r:embed="rId3"/>
                <a:stretch>
                  <a:fillRect l="-3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E6A3F54-C276-1B85-AAC5-EA16CF2F15C3}"/>
                  </a:ext>
                </a:extLst>
              </p:cNvPr>
              <p:cNvSpPr txBox="1"/>
              <p:nvPr/>
            </p:nvSpPr>
            <p:spPr>
              <a:xfrm>
                <a:off x="4258126" y="1222429"/>
                <a:ext cx="4706725" cy="2966261"/>
              </a:xfrm>
              <a:prstGeom prst="rect">
                <a:avLst/>
              </a:prstGeom>
              <a:noFill/>
            </p:spPr>
            <p:txBody>
              <a:bodyPr wrap="square" rtlCol="0">
                <a:spAutoFit/>
              </a:bodyPr>
              <a:lstStyle/>
              <a:p>
                <a:pPr marL="342900" indent="-342900" algn="just">
                  <a:lnSpc>
                    <a:spcPct val="115000"/>
                  </a:lnSpc>
                  <a:buFont typeface="Symbol" panose="05050102010706020507" pitchFamily="18" charset="2"/>
                  <a:buChar char=""/>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Phương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tối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thiểu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phi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tuyến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tích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hồi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quy</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nhằm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khớp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𝑓</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𝜃</m:t>
                        </m:r>
                      </m:e>
                    </m:d>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lgn="just">
                  <a:lnSpc>
                    <a:spcPct val="115000"/>
                  </a:lnSpc>
                </a:pPr>
                <a:r>
                  <a:rPr lang="en-US" sz="1400" kern="100" dirty="0">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(phi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tuyến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tính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quan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sát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oMath>
                </a14:m>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toán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tối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ưu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hóa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Mục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tiêu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tìm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𝜃</m:t>
                    </m:r>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 </a:t>
                </a:r>
                <a14:m>
                  <m:oMath xmlns:m="http://schemas.openxmlformats.org/officeDocument/2006/math">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𝑎</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𝑏</m:t>
                        </m:r>
                      </m:e>
                    </m:d>
                  </m:oMath>
                </a14:m>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sao</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tổng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giữa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nhỏ</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nhất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15000"/>
                  </a:lnSpc>
                </a:pPr>
                <a14:m>
                  <m:oMathPara xmlns:m="http://schemas.openxmlformats.org/officeDocument/2006/math">
                    <m:oMathParaPr>
                      <m:jc m:val="centerGroup"/>
                    </m:oMathParaPr>
                    <m:oMath xmlns:m="http://schemas.openxmlformats.org/officeDocument/2006/math">
                      <m:func>
                        <m:func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funcPr>
                        <m:fName>
                          <m:r>
                            <m:rPr>
                              <m:sty m:val="p"/>
                            </m:rPr>
                            <a:rPr lang="en-US" sz="1400" kern="100">
                              <a:effectLst/>
                              <a:latin typeface="Cambria Math" panose="02040503050406030204" pitchFamily="18" charset="0"/>
                              <a:ea typeface="Aptos" panose="020B0004020202020204" pitchFamily="34" charset="0"/>
                              <a:cs typeface="Times New Roman" panose="02020603050405020304" pitchFamily="18" charset="0"/>
                            </a:rPr>
                            <m:t>min</m:t>
                          </m:r>
                        </m:fName>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𝑆</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𝜃</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nary>
                            <m:naryPr>
                              <m:chr m:val="∑"/>
                              <m:limLoc m:val="undOv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𝑛</m:t>
                              </m:r>
                            </m:sup>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𝑓</m:t>
                              </m:r>
                              <m:sSup>
                                <m:s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𝜃</m:t>
                                      </m:r>
                                    </m:e>
                                  </m:d>
                                  <m:r>
                                    <a:rPr lang="en-US" sz="1400" b="0" i="1" kern="100" smtClean="0">
                                      <a:effectLst/>
                                      <a:latin typeface="Cambria Math" panose="02040503050406030204" pitchFamily="18" charset="0"/>
                                      <a:ea typeface="Aptos" panose="020B0004020202020204" pitchFamily="34" charset="0"/>
                                      <a:cs typeface="Times New Roman" panose="02020603050405020304" pitchFamily="18" charset="0"/>
                                    </a:rPr>
                                    <m:t>)</m:t>
                                  </m:r>
                                </m:e>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2</m:t>
                                  </m:r>
                                </m:sup>
                              </m:sSup>
                            </m:e>
                          </m:nary>
                        </m:e>
                      </m:func>
                    </m:oMath>
                  </m:oMathPara>
                </a14:m>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2">
                  <a:lnSpc>
                    <a:spcPct val="115000"/>
                  </a:lnSpc>
                </a:pPr>
                <a:r>
                  <a:rPr lang="en-US" sz="1400" kern="100" dirty="0">
                    <a:latin typeface="Times New Roman" panose="02020603050405020304" pitchFamily="18" charset="0"/>
                    <a:ea typeface="Aptos" panose="020B0004020202020204" pitchFamily="34" charset="0"/>
                    <a:cs typeface="Times New Roman" panose="02020603050405020304" pitchFamily="18" charset="0"/>
                  </a:rPr>
                  <a:t>     </a:t>
                </a:r>
                <a:endParaRPr lang="en-US" sz="1400" dirty="0"/>
              </a:p>
              <a:p>
                <a:endParaRPr lang="en-US" sz="1400" dirty="0"/>
              </a:p>
            </p:txBody>
          </p:sp>
        </mc:Choice>
        <mc:Fallback xmlns="">
          <p:sp>
            <p:nvSpPr>
              <p:cNvPr id="13" name="TextBox 12">
                <a:extLst>
                  <a:ext uri="{FF2B5EF4-FFF2-40B4-BE49-F238E27FC236}">
                    <a16:creationId xmlns:a16="http://schemas.microsoft.com/office/drawing/2014/main" id="{AE6A3F54-C276-1B85-AAC5-EA16CF2F15C3}"/>
                  </a:ext>
                </a:extLst>
              </p:cNvPr>
              <p:cNvSpPr txBox="1">
                <a:spLocks noRot="1" noChangeAspect="1" noMove="1" noResize="1" noEditPoints="1" noAdjustHandles="1" noChangeArrowheads="1" noChangeShapeType="1" noTextEdit="1"/>
              </p:cNvSpPr>
              <p:nvPr/>
            </p:nvSpPr>
            <p:spPr>
              <a:xfrm>
                <a:off x="4258126" y="1222429"/>
                <a:ext cx="4706725" cy="2966261"/>
              </a:xfrm>
              <a:prstGeom prst="rect">
                <a:avLst/>
              </a:prstGeom>
              <a:blipFill>
                <a:blip r:embed="rId4"/>
                <a:stretch>
                  <a:fillRect l="-389" t="-206" r="-1425"/>
                </a:stretch>
              </a:blipFill>
            </p:spPr>
            <p:txBody>
              <a:bodyPr/>
              <a:lstStyle/>
              <a:p>
                <a:r>
                  <a:rPr lang="en-US">
                    <a:noFill/>
                  </a:rPr>
                  <a:t> </a:t>
                </a:r>
              </a:p>
            </p:txBody>
          </p:sp>
        </mc:Fallback>
      </mc:AlternateContent>
      <p:pic>
        <p:nvPicPr>
          <p:cNvPr id="22" name="Picture 21" descr="Happy Bee">
            <a:extLst>
              <a:ext uri="{FF2B5EF4-FFF2-40B4-BE49-F238E27FC236}">
                <a16:creationId xmlns:a16="http://schemas.microsoft.com/office/drawing/2014/main" id="{9D8F0526-DC5C-F1BB-390C-A519063834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65" y="3593499"/>
            <a:ext cx="1428750" cy="1428750"/>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0EE7B38-166E-148F-FAF0-4AD7F9A7933D}"/>
                  </a:ext>
                </a:extLst>
              </p:cNvPr>
              <p:cNvSpPr txBox="1"/>
              <p:nvPr/>
            </p:nvSpPr>
            <p:spPr>
              <a:xfrm>
                <a:off x="5105400" y="4283200"/>
                <a:ext cx="4608738" cy="860300"/>
              </a:xfrm>
              <a:prstGeom prst="rect">
                <a:avLst/>
              </a:prstGeom>
              <a:noFill/>
            </p:spPr>
            <p:txBody>
              <a:bodyPr wrap="square">
                <a:spAutoFit/>
              </a:bodyPr>
              <a:lstStyle/>
              <a:p>
                <a:pPr marL="342900" lvl="0" indent="-342900">
                  <a:lnSpc>
                    <a:spcPct val="115000"/>
                  </a:lnSpc>
                  <a:buFont typeface="Symbol" panose="05050102010706020507" pitchFamily="18" charset="2"/>
                  <a:buChar char=""/>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Hệ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𝑎</m:t>
                    </m:r>
                  </m:oMath>
                </a14:m>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0.021642</a:t>
                </a:r>
              </a:p>
              <a:p>
                <a:pPr marL="342900" lvl="0" indent="-342900">
                  <a:lnSpc>
                    <a:spcPct val="115000"/>
                  </a:lnSpc>
                  <a:buFont typeface="Symbol" panose="05050102010706020507" pitchFamily="18" charset="2"/>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𝑏</m:t>
                    </m:r>
                  </m:oMath>
                </a14:m>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0.000112363774706</a:t>
                </a:r>
              </a:p>
              <a:p>
                <a:pPr marL="342900" lvl="0" indent="-342900">
                  <a:lnSpc>
                    <a:spcPct val="115000"/>
                  </a:lnSpc>
                  <a:buFont typeface="Symbol" panose="05050102010706020507" pitchFamily="18" charset="2"/>
                  <a:buChar char=""/>
                </a:pP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Sức</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chứa</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14:m>
                  <m:oMath xmlns:m="http://schemas.openxmlformats.org/officeDocument/2006/math">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𝐾</m:t>
                    </m:r>
                    <m:r>
                      <a:rPr lang="en-US" sz="1300" i="1" kern="100">
                        <a:effectLst/>
                        <a:latin typeface="Cambria Math" panose="02040503050406030204" pitchFamily="18" charset="0"/>
                        <a:ea typeface="Aptos" panose="020B0004020202020204" pitchFamily="34" charset="0"/>
                        <a:cs typeface="Times New Roman" panose="02020603050405020304" pitchFamily="18" charset="0"/>
                      </a:rPr>
                      <m:t> =</m:t>
                    </m:r>
                    <m:f>
                      <m:fPr>
                        <m:ctrlPr>
                          <a:rPr lang="en-US" sz="13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𝑎</m:t>
                        </m:r>
                      </m:num>
                      <m:den>
                        <m:r>
                          <a:rPr lang="en-US" sz="1300" i="1" kern="100">
                            <a:effectLst/>
                            <a:latin typeface="Cambria Math" panose="02040503050406030204" pitchFamily="18" charset="0"/>
                            <a:ea typeface="Aptos" panose="020B0004020202020204" pitchFamily="34" charset="0"/>
                            <a:cs typeface="Times New Roman" panose="02020603050405020304" pitchFamily="18" charset="0"/>
                          </a:rPr>
                          <m:t>𝑏</m:t>
                        </m:r>
                      </m:den>
                    </m:f>
                  </m:oMath>
                </a14:m>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192.61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triệu</a:t>
                </a: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300" kern="100" dirty="0" err="1">
                    <a:effectLst/>
                    <a:latin typeface="Times New Roman" panose="02020603050405020304" pitchFamily="18" charset="0"/>
                    <a:ea typeface="Aptos" panose="020B0004020202020204" pitchFamily="34" charset="0"/>
                    <a:cs typeface="Times New Roman" panose="02020603050405020304" pitchFamily="18" charset="0"/>
                  </a:rPr>
                  <a:t>người</a:t>
                </a:r>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10EE7B38-166E-148F-FAF0-4AD7F9A7933D}"/>
                  </a:ext>
                </a:extLst>
              </p:cNvPr>
              <p:cNvSpPr txBox="1">
                <a:spLocks noRot="1" noChangeAspect="1" noMove="1" noResize="1" noEditPoints="1" noAdjustHandles="1" noChangeArrowheads="1" noChangeShapeType="1" noTextEdit="1"/>
              </p:cNvSpPr>
              <p:nvPr/>
            </p:nvSpPr>
            <p:spPr>
              <a:xfrm>
                <a:off x="5105400" y="4283200"/>
                <a:ext cx="4608738" cy="860300"/>
              </a:xfrm>
              <a:prstGeom prst="rect">
                <a:avLst/>
              </a:prstGeom>
              <a:blipFill>
                <a:blip r:embed="rId6"/>
                <a:stretch>
                  <a:fillRect l="-265" t="-709"/>
                </a:stretch>
              </a:blipFill>
            </p:spPr>
            <p:txBody>
              <a:bodyPr/>
              <a:lstStyle/>
              <a:p>
                <a:r>
                  <a:rPr lang="en-US">
                    <a:noFill/>
                  </a:rPr>
                  <a:t> </a:t>
                </a:r>
              </a:p>
            </p:txBody>
          </p:sp>
        </mc:Fallback>
      </mc:AlternateContent>
      <p:pic>
        <p:nvPicPr>
          <p:cNvPr id="5" name="object 10">
            <a:extLst>
              <a:ext uri="{FF2B5EF4-FFF2-40B4-BE49-F238E27FC236}">
                <a16:creationId xmlns:a16="http://schemas.microsoft.com/office/drawing/2014/main" id="{C615985F-5C74-AC69-2B5A-E8F9F23FABCC}"/>
              </a:ext>
            </a:extLst>
          </p:cNvPr>
          <p:cNvPicPr/>
          <p:nvPr/>
        </p:nvPicPr>
        <p:blipFill>
          <a:blip r:embed="rId7" cstate="print"/>
          <a:stretch>
            <a:fillRect/>
          </a:stretch>
        </p:blipFill>
        <p:spPr>
          <a:xfrm>
            <a:off x="8305800" y="15236"/>
            <a:ext cx="790024" cy="794649"/>
          </a:xfrm>
          <a:prstGeom prst="rect">
            <a:avLst/>
          </a:prstGeom>
        </p:spPr>
      </p:pic>
    </p:spTree>
    <p:extLst>
      <p:ext uri="{BB962C8B-B14F-4D97-AF65-F5344CB8AC3E}">
        <p14:creationId xmlns:p14="http://schemas.microsoft.com/office/powerpoint/2010/main" val="328821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fade">
                                      <p:cBhvr>
                                        <p:cTn id="10" dur="500"/>
                                        <p:tgtEl>
                                          <p:spTgt spid="1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IV. </a:t>
            </a:r>
            <a:r>
              <a:rPr lang="en-US" sz="2800" dirty="0" err="1"/>
              <a:t>Tìm</a:t>
            </a:r>
            <a:r>
              <a:rPr lang="en-US" sz="2800" dirty="0"/>
              <a:t> </a:t>
            </a:r>
            <a:r>
              <a:rPr lang="en-US" sz="2800" dirty="0" err="1"/>
              <a:t>các</a:t>
            </a:r>
            <a:r>
              <a:rPr lang="en-US" sz="2800" dirty="0"/>
              <a:t> </a:t>
            </a:r>
            <a:r>
              <a:rPr lang="en-US" sz="2800" dirty="0" err="1"/>
              <a:t>tham</a:t>
            </a:r>
            <a:r>
              <a:rPr lang="en-US" sz="2800" dirty="0"/>
              <a:t> </a:t>
            </a:r>
            <a:r>
              <a:rPr lang="en-US" sz="2800" dirty="0" err="1"/>
              <a:t>sô</a:t>
            </a:r>
            <a:r>
              <a:rPr lang="en-US" sz="2800" dirty="0"/>
              <a:t>́</a:t>
            </a:r>
            <a:endParaRPr sz="28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0" name="object 10"/>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11" name="object 11"/>
          <p:cNvSpPr txBox="1">
            <a:spLocks noGrp="1"/>
          </p:cNvSpPr>
          <p:nvPr>
            <p:ph type="sldNum" sz="quarter" idx="7"/>
          </p:nvPr>
        </p:nvSpPr>
        <p:spPr>
          <a:prstGeom prst="rect">
            <a:avLst/>
          </a:prstGeom>
        </p:spPr>
        <p:txBody>
          <a:bodyPr vert="horz" wrap="square" lIns="0" tIns="17780" rIns="0" bIns="0" rtlCol="0">
            <a:spAutoFit/>
          </a:bodyPr>
          <a:lstStyle/>
          <a:p>
            <a:pPr marL="149225">
              <a:lnSpc>
                <a:spcPct val="100000"/>
              </a:lnSpc>
              <a:spcBef>
                <a:spcPts val="140"/>
              </a:spcBef>
            </a:pPr>
            <a:fld id="{81D60167-4931-47E6-BA6A-407CBD079E47}" type="slidenum">
              <a:rPr spc="-50" dirty="0"/>
              <a:t>8</a:t>
            </a:fld>
            <a:endParaRPr spc="-50" dirty="0"/>
          </a:p>
        </p:txBody>
      </p:sp>
      <p:pic>
        <p:nvPicPr>
          <p:cNvPr id="13" name="Picture 12" descr="Happy Bee">
            <a:extLst>
              <a:ext uri="{FF2B5EF4-FFF2-40B4-BE49-F238E27FC236}">
                <a16:creationId xmlns:a16="http://schemas.microsoft.com/office/drawing/2014/main" id="{ACAD801B-89C2-D6BE-C93D-1C9B00FFF2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3634877"/>
            <a:ext cx="1428750" cy="142875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EB284F1-E63D-3018-E48F-BB5AB0A8BD20}"/>
                  </a:ext>
                </a:extLst>
              </p:cNvPr>
              <p:cNvSpPr txBox="1"/>
              <p:nvPr/>
            </p:nvSpPr>
            <p:spPr>
              <a:xfrm>
                <a:off x="578267" y="883972"/>
                <a:ext cx="8552760" cy="2621167"/>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4.2. </a:t>
                </a:r>
                <a:r>
                  <a:rPr lang="en-US" sz="1600" dirty="0" err="1">
                    <a:latin typeface="Times New Roman" panose="02020603050405020304" pitchFamily="18" charset="0"/>
                    <a:cs typeface="Times New Roman" panose="02020603050405020304" pitchFamily="18" charset="0"/>
                  </a:rPr>
                  <a:t>Xác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sô</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mô</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phỏng</a:t>
                </a:r>
                <a:endParaRPr lang="en-US" sz="1600" dirty="0">
                  <a:latin typeface="Times New Roman" panose="02020603050405020304" pitchFamily="18" charset="0"/>
                  <a:cs typeface="Times New Roman" panose="02020603050405020304" pitchFamily="18" charset="0"/>
                </a:endParaRPr>
              </a:p>
              <a:p>
                <a:r>
                  <a:rPr kumimoji="0" lang="en-US" altLang="en-US" sz="16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
                </a:r>
                <a:r>
                  <a:rPr lang="en-US" altLang="en-US" sz="1600" dirty="0" err="1">
                    <a:solidFill>
                      <a:schemeClr val="tx1"/>
                    </a:solidFill>
                    <a:latin typeface="Times New Roman" panose="02020603050405020304" pitchFamily="18" charset="0"/>
                    <a:cs typeface="Times New Roman" panose="02020603050405020304" pitchFamily="18" charset="0"/>
                  </a:rPr>
                  <a:t>ô</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err="1">
                    <a:solidFill>
                      <a:schemeClr val="tx1"/>
                    </a:solidFill>
                    <a:latin typeface="Times New Roman" panose="02020603050405020304" pitchFamily="18" charset="0"/>
                    <a:cs typeface="Times New Roman" panose="02020603050405020304" pitchFamily="18" charset="0"/>
                  </a:rPr>
                  <a:t>hình</a:t>
                </a:r>
                <a:r>
                  <a:rPr lang="en-US" altLang="en-US" sz="1600" dirty="0">
                    <a:solidFill>
                      <a:schemeClr val="tx1"/>
                    </a:solidFill>
                    <a:latin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Lotka</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-Volterra</a:t>
                </a:r>
              </a:p>
              <a:p>
                <a:pPr marL="285750" indent="-285750">
                  <a:buFont typeface="Courier New" panose="02070309020205020404" pitchFamily="49" charset="0"/>
                  <a:buChar char="-"/>
                </a:pP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sở</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lý</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thuyết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Lotka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-Volterra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một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nơi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nguyên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ổn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đổi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14:m>
                  <m:oMathPara xmlns:m="http://schemas.openxmlformats.org/officeDocument/2006/math">
                    <m:oMathParaPr>
                      <m:jc m:val="center"/>
                    </m:oMathParaPr>
                    <m:oMath xmlns:m="http://schemas.openxmlformats.org/officeDocument/2006/math">
                      <m:sSup>
                        <m:sSupPr>
                          <m:ctrlPr>
                            <a:rPr lang="en-US" sz="1400" i="1" kern="100" smtClean="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𝛾</m:t>
                          </m:r>
                        </m:num>
                        <m:den>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𝛿</m:t>
                          </m:r>
                        </m:den>
                      </m:f>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𝑣</m:t>
                      </m:r>
                      <m:acc>
                        <m:accPr>
                          <m:chr m:val="̀"/>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acc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𝑎</m:t>
                          </m:r>
                        </m:e>
                      </m:acc>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sSup>
                        <m:s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𝛼</m:t>
                          </m:r>
                        </m:num>
                        <m:den>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𝛽</m:t>
                          </m:r>
                        </m:den>
                      </m:f>
                    </m:oMath>
                  </m:oMathPara>
                </a14:m>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Trong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đo</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là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mức</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tài</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nguyên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trung</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bình</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là </a:t>
                </a:r>
                <a:r>
                  <a:rPr lang="en-US" sz="1400" i="1" kern="100" dirty="0" err="1">
                    <a:latin typeface="Times New Roman" panose="02020603050405020304" pitchFamily="18" charset="0"/>
                    <a:ea typeface="Times New Roman" panose="02020603050405020304" pitchFamily="18" charset="0"/>
                    <a:cs typeface="Times New Roman" panose="02020603050405020304" pitchFamily="18" charset="0"/>
                  </a:rPr>
                  <a:t>d</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ân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sô</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trung</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bình</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300" kern="100" dirty="0">
                  <a:latin typeface="Times New Roman" panose="02020603050405020304" pitchFamily="18" charset="0"/>
                  <a:ea typeface="Aptos" panose="020B0004020202020204" pitchFamily="34" charset="0"/>
                  <a:cs typeface="Times New Roman" panose="02020603050405020304" pitchFamily="18" charset="0"/>
                </a:endParaRPr>
              </a:p>
              <a:p>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3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3EB284F1-E63D-3018-E48F-BB5AB0A8BD20}"/>
                  </a:ext>
                </a:extLst>
              </p:cNvPr>
              <p:cNvSpPr txBox="1">
                <a:spLocks noRot="1" noChangeAspect="1" noMove="1" noResize="1" noEditPoints="1" noAdjustHandles="1" noChangeArrowheads="1" noChangeShapeType="1" noTextEdit="1"/>
              </p:cNvSpPr>
              <p:nvPr/>
            </p:nvSpPr>
            <p:spPr>
              <a:xfrm>
                <a:off x="578267" y="883972"/>
                <a:ext cx="8552760" cy="2621167"/>
              </a:xfrm>
              <a:prstGeom prst="rect">
                <a:avLst/>
              </a:prstGeom>
              <a:blipFill>
                <a:blip r:embed="rId3"/>
                <a:stretch>
                  <a:fillRect l="-428" t="-6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5EDED2D-B447-7A83-71F7-6B2E43932732}"/>
                  </a:ext>
                </a:extLst>
              </p:cNvPr>
              <p:cNvSpPr txBox="1"/>
              <p:nvPr/>
            </p:nvSpPr>
            <p:spPr>
              <a:xfrm>
                <a:off x="610290" y="2335200"/>
                <a:ext cx="8552760" cy="3755452"/>
              </a:xfrm>
              <a:prstGeom prst="rect">
                <a:avLst/>
              </a:prstGeom>
              <a:noFill/>
            </p:spPr>
            <p:txBody>
              <a:bodyPr wrap="square">
                <a:spAutoFit/>
              </a:bodyPr>
              <a:lstStyle/>
              <a:p>
                <a:pPr marL="285750" indent="-285750">
                  <a:buFont typeface="Courier New" panose="02070309020205020404" pitchFamily="49" charset="0"/>
                  <a:buChar char="-"/>
                </a:pP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Cách</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thực</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hiện</a:t>
                </a:r>
                <a:endPar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Xác</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định</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gia</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trị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trung</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bình</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thực</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tê</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1400" kern="100" dirty="0">
                    <a:latin typeface="Times New Roman" panose="02020603050405020304" pitchFamily="18" charset="0"/>
                    <a:ea typeface="Times New Roman" panose="02020603050405020304" pitchFamily="18" charset="0"/>
                    <a:cs typeface="Times New Roman" panose="02020603050405020304" pitchFamily="18" charset="0"/>
                  </a:rPr>
                  <a:t>       +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sô</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trung</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bình</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của</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Việt</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Nam </a:t>
                </a:r>
                <a14:m>
                  <m:oMath xmlns:m="http://schemas.openxmlformats.org/officeDocument/2006/math">
                    <m:sSup>
                      <m:s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50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qua </a:t>
                </a:r>
                <a14:m>
                  <m:oMath xmlns:m="http://schemas.openxmlformats.org/officeDocument/2006/math">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80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triệu</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p>
              <a:p>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Tài</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nguyên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trung</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bình</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là 100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đơn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vị.</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Chọn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𝛼</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𝑣</m:t>
                    </m:r>
                    <m:acc>
                      <m:accPr>
                        <m:chr m:val="̀"/>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acc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𝑎</m:t>
                        </m:r>
                      </m:e>
                    </m:acc>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𝛾</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14:m>
                  <m:oMath xmlns:m="http://schemas.openxmlformats.org/officeDocument/2006/math">
                    <m: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𝛼</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smtClean="0">
                        <a:effectLst/>
                        <a:latin typeface="Cambria Math" panose="02040503050406030204" pitchFamily="18" charset="0"/>
                        <a:ea typeface="Times New Roman" panose="02020603050405020304" pitchFamily="18" charset="0"/>
                        <a:cs typeface="Times New Roman" panose="02020603050405020304" pitchFamily="18" charset="0"/>
                      </a:rPr>
                      <m:t>05</m:t>
                    </m:r>
                  </m:oMath>
                </a14:m>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Tài</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nguyên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hồi</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phục</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5%).</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14:m>
                  <m:oMath xmlns:m="http://schemas.openxmlformats.org/officeDocument/2006/math">
                    <m: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𝛾</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02</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Tỷ</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lệ</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tử</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vong</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~2%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nếu</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đói</a:t>
                </a:r>
                <a:r>
                  <a:rPr lang="en-US" sz="14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l"/>
                <a:r>
                  <a:rPr lang="en-US" sz="1400" dirty="0">
                    <a:effectLst/>
                    <a:latin typeface="Times New Roman" panose="02020603050405020304" pitchFamily="18" charset="0"/>
                    <a:ea typeface="Times New Roman" panose="02020603050405020304" pitchFamily="18" charset="0"/>
                  </a:rPr>
                  <a:t>		                   =&gt; </a:t>
                </a:r>
                <a14:m>
                  <m:oMath xmlns:m="http://schemas.openxmlformats.org/officeDocument/2006/math">
                    <m:d>
                      <m:dPr>
                        <m:begChr m:val="{"/>
                        <m:endChr m:val=""/>
                        <m:ctrlPr>
                          <a:rPr lang="en-US" sz="1400" i="1">
                            <a:effectLst/>
                            <a:latin typeface="Cambria Math" panose="02040503050406030204" pitchFamily="18" charset="0"/>
                            <a:ea typeface="Times New Roman" panose="02020603050405020304" pitchFamily="18" charset="0"/>
                          </a:rPr>
                        </m:ctrlPr>
                      </m:dPr>
                      <m:e>
                        <m:eqArr>
                          <m:eqArrPr>
                            <m:ctrlPr>
                              <a:rPr lang="en-US" sz="1400" i="1">
                                <a:effectLst/>
                                <a:latin typeface="Cambria Math" panose="02040503050406030204" pitchFamily="18" charset="0"/>
                                <a:ea typeface="Times New Roman" panose="02020603050405020304" pitchFamily="18" charset="0"/>
                              </a:rPr>
                            </m:ctrlPr>
                          </m:eqArrPr>
                          <m:e>
                            <m:sSup>
                              <m:sSupPr>
                                <m:ctrlPr>
                                  <a:rPr lang="en-US" sz="1400" i="1">
                                    <a:effectLst/>
                                    <a:latin typeface="Cambria Math" panose="02040503050406030204" pitchFamily="18" charset="0"/>
                                  </a:rPr>
                                </m:ctrlPr>
                              </m:sSupPr>
                              <m:e>
                                <m:r>
                                  <a:rPr lang="en-US" sz="1400" i="1">
                                    <a:effectLst/>
                                    <a:latin typeface="Cambria Math" panose="02040503050406030204" pitchFamily="18" charset="0"/>
                                    <a:ea typeface="Aptos" panose="020B0004020202020204" pitchFamily="34" charset="0"/>
                                    <a:cs typeface="Times New Roman" panose="02020603050405020304" pitchFamily="18" charset="0"/>
                                  </a:rPr>
                                  <m:t>𝑥</m:t>
                                </m:r>
                              </m:e>
                              <m:sup>
                                <m:r>
                                  <a:rPr lang="en-US" sz="1400" i="1">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a:effectLst/>
                                    <a:latin typeface="Cambria Math" panose="02040503050406030204" pitchFamily="18" charset="0"/>
                                  </a:rPr>
                                </m:ctrlPr>
                              </m:fPr>
                              <m:num>
                                <m:r>
                                  <a:rPr lang="en-US" sz="1400" i="1">
                                    <a:effectLst/>
                                    <a:latin typeface="Cambria Math" panose="02040503050406030204" pitchFamily="18" charset="0"/>
                                    <a:ea typeface="Aptos" panose="020B0004020202020204" pitchFamily="34" charset="0"/>
                                    <a:cs typeface="Times New Roman" panose="02020603050405020304" pitchFamily="18" charset="0"/>
                                  </a:rPr>
                                  <m:t>𝛾</m:t>
                                </m:r>
                              </m:num>
                              <m:den>
                                <m:r>
                                  <a:rPr lang="en-US" sz="1400" i="1">
                                    <a:effectLst/>
                                    <a:latin typeface="Cambria Math" panose="02040503050406030204" pitchFamily="18" charset="0"/>
                                    <a:ea typeface="Aptos" panose="020B0004020202020204" pitchFamily="34" charset="0"/>
                                    <a:cs typeface="Times New Roman" panose="02020603050405020304" pitchFamily="18" charset="0"/>
                                  </a:rPr>
                                  <m:t>𝛿</m:t>
                                </m:r>
                              </m:den>
                            </m:f>
                            <m:r>
                              <a:rPr lang="en-US" sz="1400" i="1">
                                <a:effectLst/>
                                <a:latin typeface="Cambria Math" panose="02040503050406030204" pitchFamily="18" charset="0"/>
                                <a:ea typeface="Aptos" panose="020B0004020202020204" pitchFamily="34" charset="0"/>
                                <a:cs typeface="Times New Roman" panose="02020603050405020304" pitchFamily="18" charset="0"/>
                              </a:rPr>
                              <m:t>=&gt; </m:t>
                            </m:r>
                            <m:r>
                              <a:rPr lang="en-US" sz="1400" i="1">
                                <a:effectLst/>
                                <a:latin typeface="Cambria Math" panose="02040503050406030204" pitchFamily="18" charset="0"/>
                                <a:ea typeface="Aptos" panose="020B0004020202020204" pitchFamily="34" charset="0"/>
                                <a:cs typeface="Times New Roman" panose="02020603050405020304" pitchFamily="18" charset="0"/>
                              </a:rPr>
                              <m:t>𝛿</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a:effectLst/>
                                    <a:latin typeface="Cambria Math" panose="02040503050406030204" pitchFamily="18" charset="0"/>
                                  </a:rPr>
                                </m:ctrlPr>
                              </m:fPr>
                              <m:num>
                                <m:r>
                                  <a:rPr lang="en-US" sz="1400" i="1">
                                    <a:effectLst/>
                                    <a:latin typeface="Cambria Math" panose="02040503050406030204" pitchFamily="18" charset="0"/>
                                    <a:ea typeface="Aptos" panose="020B0004020202020204" pitchFamily="34" charset="0"/>
                                    <a:cs typeface="Times New Roman" panose="02020603050405020304" pitchFamily="18" charset="0"/>
                                  </a:rPr>
                                  <m:t>0</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02</m:t>
                                </m:r>
                              </m:num>
                              <m:den>
                                <m:r>
                                  <a:rPr lang="en-US" sz="1400" i="1">
                                    <a:effectLst/>
                                    <a:latin typeface="Cambria Math" panose="02040503050406030204" pitchFamily="18" charset="0"/>
                                    <a:ea typeface="Aptos" panose="020B0004020202020204" pitchFamily="34" charset="0"/>
                                    <a:cs typeface="Times New Roman" panose="02020603050405020304" pitchFamily="18" charset="0"/>
                                  </a:rPr>
                                  <m:t>100</m:t>
                                </m:r>
                              </m:den>
                            </m:f>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0002</m:t>
                            </m:r>
                            <m:r>
                              <a:rPr lang="en-US" sz="1400" i="1">
                                <a:effectLst/>
                                <a:latin typeface="Cambria Math" panose="02040503050406030204" pitchFamily="18" charset="0"/>
                                <a:ea typeface="Aptos" panose="020B0004020202020204" pitchFamily="34" charset="0"/>
                                <a:cs typeface="Times New Roman" panose="02020603050405020304" pitchFamily="18" charset="0"/>
                              </a:rPr>
                              <m:t> </m:t>
                            </m:r>
                          </m:e>
                          <m:e>
                            <m:sSup>
                              <m:sSupPr>
                                <m:ctrlPr>
                                  <a:rPr lang="en-US" sz="1400" i="1">
                                    <a:effectLst/>
                                    <a:latin typeface="Cambria Math" panose="02040503050406030204" pitchFamily="18" charset="0"/>
                                  </a:rPr>
                                </m:ctrlPr>
                              </m:sSupPr>
                              <m:e>
                                <m:r>
                                  <a:rPr lang="en-US" sz="1400" i="1">
                                    <a:effectLst/>
                                    <a:latin typeface="Cambria Math" panose="02040503050406030204" pitchFamily="18" charset="0"/>
                                    <a:ea typeface="Aptos" panose="020B0004020202020204" pitchFamily="34" charset="0"/>
                                    <a:cs typeface="Times New Roman" panose="02020603050405020304" pitchFamily="18" charset="0"/>
                                  </a:rPr>
                                  <m:t>𝑦</m:t>
                                </m:r>
                              </m:e>
                              <m:sup>
                                <m:r>
                                  <a:rPr lang="en-US" sz="1400" i="1">
                                    <a:effectLst/>
                                    <a:latin typeface="Cambria Math" panose="02040503050406030204" pitchFamily="18" charset="0"/>
                                    <a:ea typeface="Aptos" panose="020B0004020202020204" pitchFamily="34" charset="0"/>
                                    <a:cs typeface="Times New Roman" panose="02020603050405020304" pitchFamily="18" charset="0"/>
                                  </a:rPr>
                                  <m:t>∗</m:t>
                                </m:r>
                              </m:sup>
                            </m:sSup>
                            <m:r>
                              <a:rPr lang="en-US" sz="1400" i="1">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a:effectLst/>
                                    <a:latin typeface="Cambria Math" panose="02040503050406030204" pitchFamily="18" charset="0"/>
                                  </a:rPr>
                                </m:ctrlPr>
                              </m:fPr>
                              <m:num>
                                <m:r>
                                  <a:rPr lang="en-US" sz="1400" i="1">
                                    <a:effectLst/>
                                    <a:latin typeface="Cambria Math" panose="02040503050406030204" pitchFamily="18" charset="0"/>
                                    <a:ea typeface="Aptos" panose="020B0004020202020204" pitchFamily="34" charset="0"/>
                                    <a:cs typeface="Times New Roman" panose="02020603050405020304" pitchFamily="18" charset="0"/>
                                  </a:rPr>
                                  <m:t>𝛼</m:t>
                                </m:r>
                              </m:num>
                              <m:den>
                                <m:r>
                                  <a:rPr lang="en-US" sz="1400" i="1">
                                    <a:effectLst/>
                                    <a:latin typeface="Cambria Math" panose="02040503050406030204" pitchFamily="18" charset="0"/>
                                    <a:ea typeface="Aptos" panose="020B0004020202020204" pitchFamily="34" charset="0"/>
                                    <a:cs typeface="Times New Roman" panose="02020603050405020304" pitchFamily="18" charset="0"/>
                                  </a:rPr>
                                  <m:t>𝛽</m:t>
                                </m:r>
                              </m:den>
                            </m:f>
                            <m:r>
                              <a:rPr lang="en-US" sz="1400" i="1">
                                <a:effectLst/>
                                <a:latin typeface="Cambria Math" panose="02040503050406030204" pitchFamily="18" charset="0"/>
                                <a:ea typeface="Aptos" panose="020B0004020202020204" pitchFamily="34" charset="0"/>
                                <a:cs typeface="Times New Roman" panose="02020603050405020304" pitchFamily="18" charset="0"/>
                              </a:rPr>
                              <m:t>=&gt; </m:t>
                            </m:r>
                            <m:r>
                              <a:rPr lang="en-US" sz="1400" i="1">
                                <a:effectLst/>
                                <a:latin typeface="Cambria Math" panose="02040503050406030204" pitchFamily="18" charset="0"/>
                                <a:ea typeface="Aptos" panose="020B0004020202020204" pitchFamily="34" charset="0"/>
                                <a:cs typeface="Times New Roman" panose="02020603050405020304" pitchFamily="18" charset="0"/>
                              </a:rPr>
                              <m:t>𝛽</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400" i="1">
                                    <a:effectLst/>
                                    <a:latin typeface="Cambria Math" panose="02040503050406030204" pitchFamily="18" charset="0"/>
                                  </a:rPr>
                                </m:ctrlPr>
                              </m:fPr>
                              <m:num>
                                <m:r>
                                  <a:rPr lang="en-US" sz="1400" i="1">
                                    <a:effectLst/>
                                    <a:latin typeface="Cambria Math" panose="02040503050406030204" pitchFamily="18" charset="0"/>
                                    <a:ea typeface="Aptos" panose="020B0004020202020204" pitchFamily="34" charset="0"/>
                                    <a:cs typeface="Times New Roman" panose="02020603050405020304" pitchFamily="18" charset="0"/>
                                  </a:rPr>
                                  <m:t>0</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05</m:t>
                                </m:r>
                              </m:num>
                              <m:den>
                                <m:r>
                                  <a:rPr lang="en-US" sz="1400" i="1">
                                    <a:effectLst/>
                                    <a:latin typeface="Cambria Math" panose="02040503050406030204" pitchFamily="18" charset="0"/>
                                    <a:ea typeface="Aptos" panose="020B0004020202020204" pitchFamily="34" charset="0"/>
                                    <a:cs typeface="Times New Roman" panose="02020603050405020304" pitchFamily="18" charset="0"/>
                                  </a:rPr>
                                  <m:t>80</m:t>
                                </m:r>
                              </m:den>
                            </m:f>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m:t>
                            </m:r>
                            <m:r>
                              <a:rPr lang="en-US" sz="1400" i="1">
                                <a:effectLst/>
                                <a:latin typeface="Cambria Math" panose="02040503050406030204" pitchFamily="18" charset="0"/>
                                <a:ea typeface="Aptos" panose="020B0004020202020204" pitchFamily="34" charset="0"/>
                                <a:cs typeface="Times New Roman" panose="02020603050405020304" pitchFamily="18" charset="0"/>
                              </a:rPr>
                              <m:t>.</m:t>
                            </m:r>
                            <m:r>
                              <a:rPr lang="en-US" sz="1400" i="1">
                                <a:effectLst/>
                                <a:latin typeface="Cambria Math" panose="02040503050406030204" pitchFamily="18" charset="0"/>
                                <a:ea typeface="Aptos" panose="020B0004020202020204" pitchFamily="34" charset="0"/>
                                <a:cs typeface="Times New Roman" panose="02020603050405020304" pitchFamily="18" charset="0"/>
                              </a:rPr>
                              <m:t>000625</m:t>
                            </m:r>
                          </m:e>
                        </m:eqArr>
                      </m:e>
                    </m:d>
                  </m:oMath>
                </a14:m>
                <a:endParaRPr lang="en-US" sz="1400" kern="100" dirty="0">
                  <a:latin typeface="Times New Roman" panose="02020603050405020304" pitchFamily="18" charset="0"/>
                  <a:ea typeface="Aptos" panose="020B0004020202020204" pitchFamily="34" charset="0"/>
                  <a:cs typeface="Times New Roman" panose="02020603050405020304" pitchFamily="18" charset="0"/>
                </a:endParaRPr>
              </a:p>
              <a:p>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45EDED2D-B447-7A83-71F7-6B2E43932732}"/>
                  </a:ext>
                </a:extLst>
              </p:cNvPr>
              <p:cNvSpPr txBox="1">
                <a:spLocks noRot="1" noChangeAspect="1" noMove="1" noResize="1" noEditPoints="1" noAdjustHandles="1" noChangeArrowheads="1" noChangeShapeType="1" noTextEdit="1"/>
              </p:cNvSpPr>
              <p:nvPr/>
            </p:nvSpPr>
            <p:spPr>
              <a:xfrm>
                <a:off x="610290" y="2335200"/>
                <a:ext cx="8552760" cy="3755452"/>
              </a:xfrm>
              <a:prstGeom prst="rect">
                <a:avLst/>
              </a:prstGeom>
              <a:blipFill>
                <a:blip r:embed="rId4"/>
                <a:stretch>
                  <a:fillRect l="-214" t="-325"/>
                </a:stretch>
              </a:blipFill>
            </p:spPr>
            <p:txBody>
              <a:bodyPr/>
              <a:lstStyle/>
              <a:p>
                <a:r>
                  <a:rPr lang="en-US">
                    <a:noFill/>
                  </a:rPr>
                  <a:t> </a:t>
                </a:r>
              </a:p>
            </p:txBody>
          </p:sp>
        </mc:Fallback>
      </mc:AlternateContent>
      <p:pic>
        <p:nvPicPr>
          <p:cNvPr id="4" name="object 10">
            <a:extLst>
              <a:ext uri="{FF2B5EF4-FFF2-40B4-BE49-F238E27FC236}">
                <a16:creationId xmlns:a16="http://schemas.microsoft.com/office/drawing/2014/main" id="{0786961F-1364-9FE3-51DA-C72DF9A6BBDC}"/>
              </a:ext>
            </a:extLst>
          </p:cNvPr>
          <p:cNvPicPr/>
          <p:nvPr/>
        </p:nvPicPr>
        <p:blipFill>
          <a:blip r:embed="rId5" cstate="print"/>
          <a:stretch>
            <a:fillRect/>
          </a:stretch>
        </p:blipFill>
        <p:spPr>
          <a:xfrm>
            <a:off x="8254322" y="39282"/>
            <a:ext cx="790024" cy="7946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 </a:t>
            </a:r>
            <a:r>
              <a:rPr lang="en-US" sz="2800" dirty="0" err="1"/>
              <a:t>Đánh</a:t>
            </a:r>
            <a:r>
              <a:rPr lang="en-US" sz="2800" dirty="0"/>
              <a:t> </a:t>
            </a:r>
            <a:r>
              <a:rPr lang="en-US" sz="2800" dirty="0" err="1"/>
              <a:t>gia</a:t>
            </a:r>
            <a:r>
              <a:rPr lang="en-US" sz="2800" dirty="0"/>
              <a:t>́ </a:t>
            </a:r>
            <a:r>
              <a:rPr lang="en-US" sz="2800" dirty="0" err="1"/>
              <a:t>sai</a:t>
            </a:r>
            <a:r>
              <a:rPr lang="en-US" sz="2800" dirty="0"/>
              <a:t> </a:t>
            </a:r>
            <a:r>
              <a:rPr lang="en-US" sz="2800" dirty="0" err="1"/>
              <a:t>sô</a:t>
            </a:r>
            <a:r>
              <a:rPr lang="en-US" sz="2800" dirty="0"/>
              <a:t>́</a:t>
            </a:r>
            <a:endParaRPr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349027" y="16329"/>
            <a:ext cx="790024" cy="79464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656D3F-C7BE-4066-0F6D-C6FD3EB9AAD7}"/>
                  </a:ext>
                </a:extLst>
              </p:cNvPr>
              <p:cNvSpPr txBox="1"/>
              <p:nvPr/>
            </p:nvSpPr>
            <p:spPr>
              <a:xfrm>
                <a:off x="683189" y="796766"/>
                <a:ext cx="4616902" cy="2685159"/>
              </a:xfrm>
              <a:prstGeom prst="rect">
                <a:avLst/>
              </a:prstGeom>
              <a:noFill/>
            </p:spPr>
            <p:txBody>
              <a:bodyPr wrap="square">
                <a:spAutoFit/>
              </a:bodyPr>
              <a:lstStyle/>
              <a:p>
                <a:pPr marL="342900" lvl="0" indent="-342900">
                  <a:lnSpc>
                    <a:spcPct val="115000"/>
                  </a:lnSpc>
                  <a:buFont typeface="Courier New" panose="02070309020205020404" pitchFamily="49" charset="0"/>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Dựa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trên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lý</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thuyết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thống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kê</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thức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MAPE</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như</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sau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gn="ctr">
                  <a:lnSpc>
                    <a:spcPct val="115000"/>
                  </a:lnSpc>
                </a:pPr>
                <a14:m>
                  <m:oMath xmlns:m="http://schemas.openxmlformats.org/officeDocument/2006/math">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𝑀𝐴𝑃𝐸</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m:t>
                    </m:r>
                    <m:f>
                      <m:f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en-US" sz="1600" i="1" kern="100">
                            <a:effectLst/>
                            <a:latin typeface="Cambria Math" panose="02040503050406030204" pitchFamily="18" charset="0"/>
                            <a:ea typeface="Aptos" panose="020B0004020202020204" pitchFamily="34" charset="0"/>
                            <a:cs typeface="Times New Roman" panose="02020603050405020304" pitchFamily="18" charset="0"/>
                          </a:rPr>
                          <m:t>1</m:t>
                        </m:r>
                      </m:num>
                      <m:den>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𝑛</m:t>
                        </m:r>
                      </m:den>
                    </m:f>
                    <m:r>
                      <a:rPr lang="en-US" sz="1600" i="1" kern="100">
                        <a:effectLst/>
                        <a:latin typeface="Cambria Math" panose="02040503050406030204" pitchFamily="18" charset="0"/>
                        <a:ea typeface="Aptos" panose="020B0004020202020204" pitchFamily="34" charset="0"/>
                        <a:cs typeface="Times New Roman" panose="02020603050405020304" pitchFamily="18" charset="0"/>
                      </a:rPr>
                      <m:t> </m:t>
                    </m:r>
                    <m:nary>
                      <m:naryPr>
                        <m:chr m:val="∑"/>
                        <m:limLoc m:val="undOv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1</m:t>
                        </m:r>
                      </m:sub>
                      <m:sup>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𝑛</m:t>
                        </m:r>
                      </m:sup>
                      <m:e>
                        <m:d>
                          <m:dPr>
                            <m:begChr m:val="|"/>
                            <m:endChr m:val="|"/>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fPr>
                              <m:num>
                                <m:sSub>
                                  <m:sSub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sub>
                                </m:s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 </m:t>
                                </m:r>
                                <m:acc>
                                  <m:accPr>
                                    <m:chr m:val="̂"/>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sub>
                                    </m:sSub>
                                  </m:e>
                                </m:acc>
                              </m:num>
                              <m:den>
                                <m:sSub>
                                  <m:sSubPr>
                                    <m:ctrlPr>
                                      <a:rPr lang="en-US" sz="16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en-US" sz="1600" i="1" kern="100">
                                        <a:effectLst/>
                                        <a:latin typeface="Cambria Math" panose="02040503050406030204" pitchFamily="18" charset="0"/>
                                        <a:ea typeface="Aptos" panose="020B0004020202020204" pitchFamily="34" charset="0"/>
                                        <a:cs typeface="Times New Roman" panose="02020603050405020304" pitchFamily="18" charset="0"/>
                                      </a:rPr>
                                      <m:t>𝑡</m:t>
                                    </m:r>
                                  </m:sub>
                                </m:sSub>
                              </m:den>
                            </m:f>
                          </m:e>
                        </m:d>
                        <m:r>
                          <a:rPr lang="en-US" sz="1600" i="1" kern="100">
                            <a:effectLst/>
                            <a:latin typeface="Cambria Math" panose="02040503050406030204" pitchFamily="18" charset="0"/>
                            <a:ea typeface="Aptos" panose="020B0004020202020204" pitchFamily="34" charset="0"/>
                            <a:cs typeface="Times New Roman" panose="02020603050405020304" pitchFamily="18" charset="0"/>
                          </a:rPr>
                          <m:t> </m:t>
                        </m:r>
                      </m:e>
                    </m:nary>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x </a:t>
                </a:r>
                <a14:m>
                  <m:oMath xmlns:m="http://schemas.openxmlformats.org/officeDocument/2006/math">
                    <m:r>
                      <a:rPr lang="en-US" sz="1600" i="1" kern="100">
                        <a:effectLst/>
                        <a:latin typeface="Cambria Math" panose="02040503050406030204" pitchFamily="18" charset="0"/>
                        <a:ea typeface="Aptos" panose="020B0004020202020204" pitchFamily="34" charset="0"/>
                        <a:cs typeface="Times New Roman" panose="02020603050405020304" pitchFamily="18" charset="0"/>
                      </a:rPr>
                      <m:t>100</m:t>
                    </m:r>
                    <m:r>
                      <a:rPr lang="en-US" sz="1600" i="1" kern="100">
                        <a:effectLst/>
                        <a:latin typeface="Cambria Math" panose="02040503050406030204" pitchFamily="18" charset="0"/>
                        <a:ea typeface="Aptos" panose="020B0004020202020204" pitchFamily="34" charset="0"/>
                        <a:cs typeface="Times New Roman" panose="02020603050405020304" pitchFamily="18" charset="0"/>
                      </a:rPr>
                      <m:t>%</m:t>
                    </m:r>
                  </m:oMath>
                </a14:m>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pP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Trong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đo</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3">
                  <a:lnSpc>
                    <a:spcPct val="115000"/>
                  </a:lnSpc>
                </a:pPr>
                <a:r>
                  <a:rPr lang="en-US" sz="1400" kern="100" dirty="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Giá</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trị</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thực</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tế</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tại</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1">
                  <a:lnSpc>
                    <a:spcPct val="115000"/>
                  </a:lnSpc>
                </a:pPr>
                <a14:m>
                  <m:oMath xmlns:m="http://schemas.openxmlformats.org/officeDocument/2006/math">
                    <m:r>
                      <a:rPr lang="en-US" sz="1400" b="0" i="1" kern="100" smtClean="0">
                        <a:effectLst/>
                        <a:latin typeface="Cambria Math" panose="02040503050406030204" pitchFamily="18" charset="0"/>
                        <a:ea typeface="Aptos" panose="020B0004020202020204" pitchFamily="34" charset="0"/>
                        <a:cs typeface="Times New Roman" panose="02020603050405020304" pitchFamily="18" charset="0"/>
                      </a:rPr>
                      <m:t>        </m:t>
                    </m:r>
                    <m:acc>
                      <m:accPr>
                        <m:chr m:val="̂"/>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accPr>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sub>
                        </m:sSub>
                      </m:e>
                    </m:acc>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Giá</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trị</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bởi</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tại</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𝑡</m:t>
                    </m:r>
                  </m:oMath>
                </a14:m>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lnSpc>
                    <a:spcPct val="115000"/>
                  </a:lnSpc>
                </a:pPr>
                <a14:m>
                  <m:oMath xmlns:m="http://schemas.openxmlformats.org/officeDocument/2006/math">
                    <m: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lượng</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quan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sát</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đề</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tài</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này</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25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từ</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2000 </a:t>
                </a:r>
                <a:r>
                  <a:rPr lang="en-US" sz="1400" i="1" kern="100" dirty="0" err="1">
                    <a:effectLst/>
                    <a:latin typeface="Times New Roman" panose="02020603050405020304" pitchFamily="18" charset="0"/>
                    <a:ea typeface="Times New Roman" panose="02020603050405020304" pitchFamily="18" charset="0"/>
                    <a:cs typeface="Times New Roman" panose="02020603050405020304" pitchFamily="18" charset="0"/>
                  </a:rPr>
                  <a:t>đến</a:t>
                </a:r>
                <a:r>
                  <a:rPr lang="en-US" sz="1400" i="1" kern="100" dirty="0">
                    <a:effectLst/>
                    <a:latin typeface="Times New Roman" panose="02020603050405020304" pitchFamily="18" charset="0"/>
                    <a:ea typeface="Times New Roman" panose="02020603050405020304" pitchFamily="18" charset="0"/>
                    <a:cs typeface="Times New Roman" panose="02020603050405020304" pitchFamily="18" charset="0"/>
                  </a:rPr>
                  <a:t> 2024).</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73656D3F-C7BE-4066-0F6D-C6FD3EB9AAD7}"/>
                  </a:ext>
                </a:extLst>
              </p:cNvPr>
              <p:cNvSpPr txBox="1">
                <a:spLocks noRot="1" noChangeAspect="1" noMove="1" noResize="1" noEditPoints="1" noAdjustHandles="1" noChangeArrowheads="1" noChangeShapeType="1" noTextEdit="1"/>
              </p:cNvSpPr>
              <p:nvPr/>
            </p:nvSpPr>
            <p:spPr>
              <a:xfrm>
                <a:off x="683189" y="796766"/>
                <a:ext cx="4616902" cy="2685159"/>
              </a:xfrm>
              <a:prstGeom prst="rect">
                <a:avLst/>
              </a:prstGeom>
              <a:blipFill>
                <a:blip r:embed="rId4"/>
                <a:stretch>
                  <a:fillRect l="-52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23F88AA-2260-A72E-0462-83CF1909B035}"/>
              </a:ext>
            </a:extLst>
          </p:cNvPr>
          <p:cNvSpPr txBox="1"/>
          <p:nvPr/>
        </p:nvSpPr>
        <p:spPr>
          <a:xfrm>
            <a:off x="5121149" y="762955"/>
            <a:ext cx="4616902" cy="1785104"/>
          </a:xfrm>
          <a:prstGeom prst="rect">
            <a:avLst/>
          </a:prstGeom>
          <a:noFill/>
        </p:spPr>
        <p:txBody>
          <a:bodyPr wrap="square">
            <a:spAutoFit/>
          </a:bodyPr>
          <a:lstStyle/>
          <a:p>
            <a:pPr marL="342900" lvl="0" indent="-342900">
              <a:lnSpc>
                <a:spcPct val="115000"/>
              </a:lnSpc>
              <a:buFont typeface="Courier New" panose="02070309020205020404" pitchFamily="49" charset="0"/>
              <a:buChar char="-"/>
            </a:pP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Tiêu</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chuẩn</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đánh</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gia</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theo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Lewis, 1982):</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MAPE</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&lt; 10%: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độ</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xác</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10% - 20%: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tốt</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20% - 50%: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chấp</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nhận</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&gt; 50%: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báo</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không</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kern="100" dirty="0" err="1">
                <a:effectLst/>
                <a:latin typeface="Times New Roman" panose="02020603050405020304" pitchFamily="18" charset="0"/>
                <a:ea typeface="Times New Roman" panose="02020603050405020304" pitchFamily="18" charset="0"/>
                <a:cs typeface="Times New Roman" panose="02020603050405020304" pitchFamily="18" charset="0"/>
              </a:rPr>
              <a:t>xác</a:t>
            </a:r>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999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113186"/>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628650" y="88397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19685" rIns="0" bIns="0" rtlCol="0">
            <a:spAutoFit/>
          </a:bodyPr>
          <a:lstStyle/>
          <a:p>
            <a:pPr marL="125730">
              <a:lnSpc>
                <a:spcPct val="100000"/>
              </a:lnSpc>
              <a:spcBef>
                <a:spcPts val="155"/>
              </a:spcBef>
            </a:pPr>
            <a:fld id="{81D60167-4931-47E6-BA6A-407CBD079E47}" type="slidenum">
              <a:rPr sz="1200" spc="-50" dirty="0"/>
              <a:t>10</a:t>
            </a:fld>
            <a:endParaRPr sz="1200"/>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sp>
        <p:nvSpPr>
          <p:cNvPr id="12" name="TextBox 11">
            <a:extLst>
              <a:ext uri="{FF2B5EF4-FFF2-40B4-BE49-F238E27FC236}">
                <a16:creationId xmlns:a16="http://schemas.microsoft.com/office/drawing/2014/main" id="{5C5B71C4-70C2-34E5-111B-A96AD13B50B3}"/>
              </a:ext>
            </a:extLst>
          </p:cNvPr>
          <p:cNvSpPr txBox="1"/>
          <p:nvPr/>
        </p:nvSpPr>
        <p:spPr>
          <a:xfrm>
            <a:off x="574632" y="1002089"/>
            <a:ext cx="4219903" cy="1477328"/>
          </a:xfrm>
          <a:prstGeom prst="rect">
            <a:avLst/>
          </a:prstGeom>
          <a:noFill/>
        </p:spPr>
        <p:txBody>
          <a:bodyPr wrap="square" rtlCol="0">
            <a:spAutoFit/>
          </a:bodyPr>
          <a:lstStyle/>
          <a:p>
            <a:pPr marL="285750" indent="-285750">
              <a:buFont typeface="Courier New" panose="02070309020205020404" pitchFamily="49" charset="0"/>
              <a:buChar char="-"/>
            </a:pPr>
            <a:r>
              <a:rPr lang="en-US" altLang="en-US" dirty="0" err="1">
                <a:solidFill>
                  <a:schemeClr val="tx1"/>
                </a:solidFill>
                <a:latin typeface="Times New Roman" panose="02020603050405020304" pitchFamily="18" charset="0"/>
                <a:cs typeface="Times New Roman" panose="02020603050405020304" pitchFamily="18" charset="0"/>
              </a:rPr>
              <a:t>Dư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liệu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đầu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vào</a:t>
            </a:r>
            <a:r>
              <a:rPr lang="en-US" altLang="en-US" dirty="0">
                <a:solidFill>
                  <a:schemeClr val="tx1"/>
                </a:solidFill>
                <a:latin typeface="Times New Roman" panose="02020603050405020304" pitchFamily="18" charset="0"/>
                <a:cs typeface="Times New Roman" panose="02020603050405020304" pitchFamily="18" charset="0"/>
              </a:rPr>
              <a:t>:</a:t>
            </a: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p>
          <a:p>
            <a:r>
              <a:rPr lang="en-US" dirty="0"/>
              <a:t> 	</a:t>
            </a:r>
          </a:p>
        </p:txBody>
      </p:sp>
      <p:pic>
        <p:nvPicPr>
          <p:cNvPr id="6" name="Picture 5">
            <a:extLst>
              <a:ext uri="{FF2B5EF4-FFF2-40B4-BE49-F238E27FC236}">
                <a16:creationId xmlns:a16="http://schemas.microsoft.com/office/drawing/2014/main" id="{B638FA31-82B5-825A-C8A3-EE4F96E86E86}"/>
              </a:ext>
            </a:extLst>
          </p:cNvPr>
          <p:cNvPicPr>
            <a:picLocks noChangeAspect="1"/>
          </p:cNvPicPr>
          <p:nvPr/>
        </p:nvPicPr>
        <p:blipFill>
          <a:blip r:embed="rId2"/>
          <a:stretch>
            <a:fillRect/>
          </a:stretch>
        </p:blipFill>
        <p:spPr>
          <a:xfrm>
            <a:off x="4801385" y="1428755"/>
            <a:ext cx="4005919" cy="2438386"/>
          </a:xfrm>
          <a:prstGeom prst="rect">
            <a:avLst/>
          </a:prstGeom>
        </p:spPr>
      </p:pic>
      <p:sp>
        <p:nvSpPr>
          <p:cNvPr id="7" name="TextBox 6">
            <a:extLst>
              <a:ext uri="{FF2B5EF4-FFF2-40B4-BE49-F238E27FC236}">
                <a16:creationId xmlns:a16="http://schemas.microsoft.com/office/drawing/2014/main" id="{99DA4A66-4163-9C2D-6542-3ECF551C001B}"/>
              </a:ext>
            </a:extLst>
          </p:cNvPr>
          <p:cNvSpPr txBox="1"/>
          <p:nvPr/>
        </p:nvSpPr>
        <p:spPr>
          <a:xfrm>
            <a:off x="838200" y="1310237"/>
            <a:ext cx="4219903" cy="2585323"/>
          </a:xfrm>
          <a:prstGeom prst="rect">
            <a:avLst/>
          </a:prstGeom>
          <a:noFill/>
        </p:spPr>
        <p:txBody>
          <a:bodyPr wrap="square" rtlCol="0">
            <a:spAutoFit/>
          </a:bodyPr>
          <a:lstStyle/>
          <a:p>
            <a:pPr marL="285750" indent="-285750">
              <a:buFont typeface="Arial" panose="020B0604020202020204" pitchFamily="34" charset="0"/>
              <a:buChar char="•"/>
            </a:pPr>
            <a:r>
              <a:rPr lang="en-US" altLang="en-US" dirty="0" err="1">
                <a:solidFill>
                  <a:schemeClr val="tx1"/>
                </a:solidFill>
                <a:latin typeface="Times New Roman" panose="02020603050405020304" pitchFamily="18" charset="0"/>
                <a:cs typeface="Times New Roman" panose="02020603050405020304" pitchFamily="18" charset="0"/>
              </a:rPr>
              <a:t>Dân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sô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Việt</a:t>
            </a:r>
            <a:r>
              <a:rPr lang="en-US" altLang="en-US" dirty="0">
                <a:solidFill>
                  <a:schemeClr val="tx1"/>
                </a:solidFill>
                <a:latin typeface="Times New Roman" panose="02020603050405020304" pitchFamily="18" charset="0"/>
                <a:cs typeface="Times New Roman" panose="02020603050405020304" pitchFamily="18" charset="0"/>
              </a:rPr>
              <a:t> Nam 1990 – 2020 </a:t>
            </a:r>
            <a:r>
              <a:rPr lang="en-US" altLang="en-US" dirty="0" err="1">
                <a:solidFill>
                  <a:schemeClr val="tx1"/>
                </a:solidFill>
                <a:latin typeface="Times New Roman" panose="02020603050405020304" pitchFamily="18" charset="0"/>
                <a:cs typeface="Times New Roman" panose="02020603050405020304" pitchFamily="18" charset="0"/>
              </a:rPr>
              <a:t>tư</a:t>
            </a:r>
            <a:r>
              <a:rPr lang="en-US" altLang="en-US" dirty="0">
                <a:solidFill>
                  <a:schemeClr val="tx1"/>
                </a:solidFill>
                <a:latin typeface="Times New Roman" panose="02020603050405020304" pitchFamily="18" charset="0"/>
                <a:cs typeface="Times New Roman" panose="02020603050405020304" pitchFamily="18" charset="0"/>
              </a:rPr>
              <a:t>̀ </a:t>
            </a:r>
          </a:p>
          <a:p>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Ngân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hàng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dân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sô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Thê</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giới</a:t>
            </a:r>
            <a:r>
              <a:rPr lang="en-US" altLang="en-US" dirty="0">
                <a:solidFill>
                  <a:schemeClr val="tx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en-US" dirty="0" err="1">
                <a:solidFill>
                  <a:schemeClr val="tx1"/>
                </a:solidFill>
                <a:latin typeface="Times New Roman" panose="02020603050405020304" pitchFamily="18" charset="0"/>
                <a:cs typeface="Times New Roman" panose="02020603050405020304" pitchFamily="18" charset="0"/>
              </a:rPr>
              <a:t>Các</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hê</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sô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phỏng</a:t>
            </a:r>
            <a:r>
              <a:rPr lang="en-US" altLang="en-US" dirty="0">
                <a:solidFill>
                  <a:schemeClr val="tx1"/>
                </a:solidFill>
                <a:latin typeface="Times New Roman" panose="02020603050405020304" pitchFamily="18" charset="0"/>
                <a:cs typeface="Times New Roman" panose="02020603050405020304" pitchFamily="18" charset="0"/>
              </a:rPr>
              <a:t>: a, b.</a:t>
            </a:r>
          </a:p>
          <a:p>
            <a:pPr marL="285750" indent="-285750">
              <a:buFont typeface="Arial" panose="020B0604020202020204" pitchFamily="34" charset="0"/>
              <a:buChar char="•"/>
            </a:pPr>
            <a:r>
              <a:rPr lang="en-US" altLang="en-US" dirty="0" err="1">
                <a:solidFill>
                  <a:schemeClr val="tx1"/>
                </a:solidFill>
                <a:latin typeface="Times New Roman" panose="02020603050405020304" pitchFamily="18" charset="0"/>
                <a:cs typeface="Times New Roman" panose="02020603050405020304" pitchFamily="18" charset="0"/>
              </a:rPr>
              <a:t>Bước</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nhảy</a:t>
            </a:r>
            <a:r>
              <a:rPr lang="en-US" altLang="en-US" dirty="0">
                <a:solidFill>
                  <a:schemeClr val="tx1"/>
                </a:solidFill>
                <a:latin typeface="Times New Roman" panose="02020603050405020304" pitchFamily="18" charset="0"/>
                <a:cs typeface="Times New Roman" panose="02020603050405020304" pitchFamily="18" charset="0"/>
              </a:rPr>
              <a:t> h = 1.</a:t>
            </a:r>
          </a:p>
          <a:p>
            <a:pPr marL="285750" indent="-285750">
              <a:buFont typeface="Arial" panose="020B0604020202020204" pitchFamily="34" charset="0"/>
              <a:buChar char="•"/>
            </a:pPr>
            <a:endParaRPr lang="en-US" altLang="en-US" dirty="0">
              <a:solidFill>
                <a:schemeClr val="tx1"/>
              </a:solidFill>
              <a:latin typeface="Times New Roman" panose="02020603050405020304" pitchFamily="18" charset="0"/>
              <a:cs typeface="Times New Roman" panose="02020603050405020304" pitchFamily="18" charset="0"/>
            </a:endParaRP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p>
          <a:p>
            <a:r>
              <a:rPr lang="en-US" dirty="0"/>
              <a:t> 	</a:t>
            </a:r>
          </a:p>
        </p:txBody>
      </p:sp>
      <p:sp>
        <p:nvSpPr>
          <p:cNvPr id="8" name="TextBox 7">
            <a:extLst>
              <a:ext uri="{FF2B5EF4-FFF2-40B4-BE49-F238E27FC236}">
                <a16:creationId xmlns:a16="http://schemas.microsoft.com/office/drawing/2014/main" id="{3FE6E2D4-3849-B8B3-B978-CF89404107CA}"/>
              </a:ext>
            </a:extLst>
          </p:cNvPr>
          <p:cNvSpPr txBox="1"/>
          <p:nvPr/>
        </p:nvSpPr>
        <p:spPr>
          <a:xfrm>
            <a:off x="574631" y="2597533"/>
            <a:ext cx="4219903" cy="1754326"/>
          </a:xfrm>
          <a:prstGeom prst="rect">
            <a:avLst/>
          </a:prstGeom>
          <a:noFill/>
        </p:spPr>
        <p:txBody>
          <a:bodyPr wrap="square" rtlCol="0">
            <a:spAutoFit/>
          </a:bodyPr>
          <a:lstStyle/>
          <a:p>
            <a:pPr marL="285750" indent="-285750">
              <a:buFont typeface="Courier New" panose="02070309020205020404" pitchFamily="49" charset="0"/>
              <a:buChar char="-"/>
            </a:pPr>
            <a:r>
              <a:rPr lang="en-US" altLang="en-US" dirty="0" err="1">
                <a:solidFill>
                  <a:schemeClr val="tx1"/>
                </a:solidFill>
                <a:latin typeface="Times New Roman" panose="02020603050405020304" pitchFamily="18" charset="0"/>
                <a:cs typeface="Times New Roman" panose="02020603050405020304" pitchFamily="18" charset="0"/>
              </a:rPr>
              <a:t>Kết</a:t>
            </a:r>
            <a:r>
              <a:rPr lang="en-US" altLang="en-US" dirty="0">
                <a:solidFill>
                  <a:schemeClr val="tx1"/>
                </a:solidFill>
                <a:latin typeface="Times New Roman" panose="02020603050405020304" pitchFamily="18" charset="0"/>
                <a:cs typeface="Times New Roman" panose="02020603050405020304" pitchFamily="18" charset="0"/>
              </a:rPr>
              <a:t> quả </a:t>
            </a:r>
            <a:r>
              <a:rPr lang="en-US" altLang="en-US" dirty="0" err="1">
                <a:solidFill>
                  <a:schemeClr val="tx1"/>
                </a:solidFill>
                <a:latin typeface="Times New Roman" panose="02020603050405020304" pitchFamily="18" charset="0"/>
                <a:cs typeface="Times New Roman" panose="02020603050405020304" pitchFamily="18" charset="0"/>
              </a:rPr>
              <a:t>dư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báo</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Dân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sô</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Việt</a:t>
            </a:r>
            <a:r>
              <a:rPr lang="en-US" altLang="en-US" dirty="0">
                <a:solidFill>
                  <a:schemeClr val="tx1"/>
                </a:solidFill>
                <a:latin typeface="Times New Roman" panose="02020603050405020304" pitchFamily="18" charset="0"/>
                <a:cs typeface="Times New Roman" panose="02020603050405020304" pitchFamily="18" charset="0"/>
              </a:rPr>
              <a:t> Nam </a:t>
            </a:r>
            <a:r>
              <a:rPr lang="en-US" altLang="en-US" dirty="0" err="1">
                <a:solidFill>
                  <a:schemeClr val="tx1"/>
                </a:solidFill>
                <a:latin typeface="Times New Roman" panose="02020603050405020304" pitchFamily="18" charset="0"/>
                <a:cs typeface="Times New Roman" panose="02020603050405020304" pitchFamily="18" charset="0"/>
              </a:rPr>
              <a:t>đến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năm</a:t>
            </a:r>
            <a:r>
              <a:rPr lang="en-US" altLang="en-US" dirty="0">
                <a:solidFill>
                  <a:schemeClr val="tx1"/>
                </a:solidFill>
                <a:latin typeface="Times New Roman" panose="02020603050405020304" pitchFamily="18" charset="0"/>
                <a:cs typeface="Times New Roman" panose="02020603050405020304" pitchFamily="18" charset="0"/>
              </a:rPr>
              <a:t> 2050.</a:t>
            </a: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p>
          <a:p>
            <a:r>
              <a:rPr lang="en-US" dirty="0"/>
              <a:t> 	</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25" y="3593400"/>
            <a:ext cx="1428750" cy="1428750"/>
          </a:xfrm>
          <a:prstGeom prst="rect">
            <a:avLst/>
          </a:prstGeom>
        </p:spPr>
      </p:pic>
      <p:sp>
        <p:nvSpPr>
          <p:cNvPr id="14" name="TextBox 13">
            <a:extLst>
              <a:ext uri="{FF2B5EF4-FFF2-40B4-BE49-F238E27FC236}">
                <a16:creationId xmlns:a16="http://schemas.microsoft.com/office/drawing/2014/main" id="{A85B28F7-E0CA-0C7E-A7E7-469F908F4E2E}"/>
              </a:ext>
            </a:extLst>
          </p:cNvPr>
          <p:cNvSpPr txBox="1"/>
          <p:nvPr/>
        </p:nvSpPr>
        <p:spPr>
          <a:xfrm>
            <a:off x="5791200" y="3841417"/>
            <a:ext cx="4219903" cy="1107996"/>
          </a:xfrm>
          <a:prstGeom prst="rect">
            <a:avLst/>
          </a:prstGeom>
          <a:noFill/>
        </p:spPr>
        <p:txBody>
          <a:bodyPr wrap="square" rtlCol="0">
            <a:spAutoFit/>
          </a:bodyPr>
          <a:lstStyle/>
          <a:p>
            <a:r>
              <a:rPr lang="en-US" altLang="en-US" sz="1200" i="1" dirty="0" err="1">
                <a:solidFill>
                  <a:schemeClr val="tx1"/>
                </a:solidFill>
                <a:latin typeface="Times New Roman" panose="02020603050405020304" pitchFamily="18" charset="0"/>
                <a:cs typeface="Times New Roman" panose="02020603050405020304" pitchFamily="18" charset="0"/>
              </a:rPr>
              <a:t>Biểu</a:t>
            </a:r>
            <a:r>
              <a:rPr lang="en-US" altLang="en-US" sz="1200" i="1" dirty="0">
                <a:solidFill>
                  <a:schemeClr val="tx1"/>
                </a:solidFill>
                <a:latin typeface="Times New Roman" panose="02020603050405020304" pitchFamily="18" charset="0"/>
                <a:cs typeface="Times New Roman" panose="02020603050405020304" pitchFamily="18" charset="0"/>
              </a:rPr>
              <a:t> </a:t>
            </a:r>
            <a:r>
              <a:rPr lang="en-US" altLang="en-US" sz="1200" i="1" dirty="0" err="1">
                <a:solidFill>
                  <a:schemeClr val="tx1"/>
                </a:solidFill>
                <a:latin typeface="Times New Roman" panose="02020603050405020304" pitchFamily="18" charset="0"/>
                <a:cs typeface="Times New Roman" panose="02020603050405020304" pitchFamily="18" charset="0"/>
              </a:rPr>
              <a:t>đô</a:t>
            </a:r>
            <a:r>
              <a:rPr lang="en-US" altLang="en-US" sz="1200" i="1" dirty="0">
                <a:solidFill>
                  <a:schemeClr val="tx1"/>
                </a:solidFill>
                <a:latin typeface="Times New Roman" panose="02020603050405020304" pitchFamily="18" charset="0"/>
                <a:cs typeface="Times New Roman" panose="02020603050405020304" pitchFamily="18" charset="0"/>
              </a:rPr>
              <a:t>̀ </a:t>
            </a:r>
            <a:r>
              <a:rPr lang="en-US" altLang="en-US" sz="1200" i="1" dirty="0" err="1">
                <a:solidFill>
                  <a:schemeClr val="tx1"/>
                </a:solidFill>
                <a:latin typeface="Times New Roman" panose="02020603050405020304" pitchFamily="18" charset="0"/>
                <a:cs typeface="Times New Roman" panose="02020603050405020304" pitchFamily="18" charset="0"/>
              </a:rPr>
              <a:t>dân</a:t>
            </a:r>
            <a:r>
              <a:rPr lang="en-US" altLang="en-US" sz="1200" i="1" dirty="0">
                <a:solidFill>
                  <a:schemeClr val="tx1"/>
                </a:solidFill>
                <a:latin typeface="Times New Roman" panose="02020603050405020304" pitchFamily="18" charset="0"/>
                <a:cs typeface="Times New Roman" panose="02020603050405020304" pitchFamily="18" charset="0"/>
              </a:rPr>
              <a:t> </a:t>
            </a:r>
            <a:r>
              <a:rPr lang="en-US" altLang="en-US" sz="1200" i="1" dirty="0" err="1">
                <a:solidFill>
                  <a:schemeClr val="tx1"/>
                </a:solidFill>
                <a:latin typeface="Times New Roman" panose="02020603050405020304" pitchFamily="18" charset="0"/>
                <a:cs typeface="Times New Roman" panose="02020603050405020304" pitchFamily="18" charset="0"/>
              </a:rPr>
              <a:t>sô</a:t>
            </a:r>
            <a:r>
              <a:rPr lang="en-US" altLang="en-US" sz="1200" i="1" dirty="0">
                <a:solidFill>
                  <a:schemeClr val="tx1"/>
                </a:solidFill>
                <a:latin typeface="Times New Roman" panose="02020603050405020304" pitchFamily="18" charset="0"/>
                <a:cs typeface="Times New Roman" panose="02020603050405020304" pitchFamily="18" charset="0"/>
              </a:rPr>
              <a:t>́ </a:t>
            </a:r>
            <a:r>
              <a:rPr lang="en-US" altLang="en-US" sz="1200" i="1" dirty="0" err="1">
                <a:solidFill>
                  <a:schemeClr val="tx1"/>
                </a:solidFill>
                <a:latin typeface="Times New Roman" panose="02020603050405020304" pitchFamily="18" charset="0"/>
                <a:cs typeface="Times New Roman" panose="02020603050405020304" pitchFamily="18" charset="0"/>
              </a:rPr>
              <a:t>Việt</a:t>
            </a:r>
            <a:r>
              <a:rPr lang="en-US" altLang="en-US" sz="1200" i="1" dirty="0">
                <a:solidFill>
                  <a:schemeClr val="tx1"/>
                </a:solidFill>
                <a:latin typeface="Times New Roman" panose="02020603050405020304" pitchFamily="18" charset="0"/>
                <a:cs typeface="Times New Roman" panose="02020603050405020304" pitchFamily="18" charset="0"/>
              </a:rPr>
              <a:t> Nam 2020 - 2024</a:t>
            </a:r>
            <a:endParaRPr kumimoji="0" lang="en-US" altLang="en-US" sz="12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p>
          <a:p>
            <a:r>
              <a:rPr lang="en-US" dirty="0"/>
              <a:t> 	</a:t>
            </a:r>
          </a:p>
        </p:txBody>
      </p:sp>
      <p:pic>
        <p:nvPicPr>
          <p:cNvPr id="15" name="object 10">
            <a:extLst>
              <a:ext uri="{FF2B5EF4-FFF2-40B4-BE49-F238E27FC236}">
                <a16:creationId xmlns:a16="http://schemas.microsoft.com/office/drawing/2014/main" id="{A5F2A0E7-14F3-1016-C6F7-33C135566243}"/>
              </a:ext>
            </a:extLst>
          </p:cNvPr>
          <p:cNvPicPr/>
          <p:nvPr/>
        </p:nvPicPr>
        <p:blipFill>
          <a:blip r:embed="rId4" cstate="print"/>
          <a:stretch>
            <a:fillRect/>
          </a:stretch>
        </p:blipFill>
        <p:spPr>
          <a:xfrm>
            <a:off x="8349027" y="27351"/>
            <a:ext cx="790024" cy="794649"/>
          </a:xfrm>
          <a:prstGeom prst="rect">
            <a:avLst/>
          </a:prstGeom>
        </p:spPr>
      </p:pic>
    </p:spTree>
    <p:extLst>
      <p:ext uri="{BB962C8B-B14F-4D97-AF65-F5344CB8AC3E}">
        <p14:creationId xmlns:p14="http://schemas.microsoft.com/office/powerpoint/2010/main" val="141138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591240" y="548879"/>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sp>
        <p:nvSpPr>
          <p:cNvPr id="5" name="TextBox 4">
            <a:extLst>
              <a:ext uri="{FF2B5EF4-FFF2-40B4-BE49-F238E27FC236}">
                <a16:creationId xmlns:a16="http://schemas.microsoft.com/office/drawing/2014/main" id="{A67500A0-7C95-7CB8-87B2-0807419D6326}"/>
              </a:ext>
            </a:extLst>
          </p:cNvPr>
          <p:cNvSpPr txBox="1"/>
          <p:nvPr/>
        </p:nvSpPr>
        <p:spPr>
          <a:xfrm>
            <a:off x="591240" y="710422"/>
            <a:ext cx="46169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6.1.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hình</a:t>
            </a:r>
            <a:r>
              <a:rPr lang="en-US" dirty="0">
                <a:latin typeface="Times New Roman" panose="02020603050405020304" pitchFamily="18" charset="0"/>
                <a:cs typeface="Times New Roman" panose="02020603050405020304" pitchFamily="18" charset="0"/>
              </a:rPr>
              <a:t> Logistic</a:t>
            </a:r>
          </a:p>
        </p:txBody>
      </p:sp>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437170" y="16329"/>
            <a:ext cx="642573" cy="646842"/>
          </a:xfrm>
          <a:prstGeom prst="rect">
            <a:avLst/>
          </a:prstGeom>
        </p:spPr>
      </p:pic>
      <p:sp>
        <p:nvSpPr>
          <p:cNvPr id="4" name="TextBox 3">
            <a:extLst>
              <a:ext uri="{FF2B5EF4-FFF2-40B4-BE49-F238E27FC236}">
                <a16:creationId xmlns:a16="http://schemas.microsoft.com/office/drawing/2014/main" id="{2A8C7BD8-6A4F-84C9-1300-CDD199BAEB22}"/>
              </a:ext>
            </a:extLst>
          </p:cNvPr>
          <p:cNvSpPr txBox="1"/>
          <p:nvPr/>
        </p:nvSpPr>
        <p:spPr>
          <a:xfrm>
            <a:off x="6687213" y="4914428"/>
            <a:ext cx="4616902" cy="215444"/>
          </a:xfrm>
          <a:prstGeom prst="rect">
            <a:avLst/>
          </a:prstGeom>
          <a:noFill/>
        </p:spPr>
        <p:txBody>
          <a:bodyPr wrap="square">
            <a:spAutoFit/>
          </a:bodyPr>
          <a:lstStyle/>
          <a:p>
            <a:r>
              <a:rPr lang="en-US" sz="800" i="1" dirty="0" err="1">
                <a:latin typeface="Times New Roman" panose="02020603050405020304" pitchFamily="18" charset="0"/>
                <a:cs typeface="Times New Roman" panose="02020603050405020304" pitchFamily="18" charset="0"/>
              </a:rPr>
              <a:t>Bảng</a:t>
            </a:r>
            <a:r>
              <a:rPr lang="en-US" sz="800" i="1" dirty="0">
                <a:latin typeface="Times New Roman" panose="02020603050405020304" pitchFamily="18" charset="0"/>
                <a:cs typeface="Times New Roman" panose="02020603050405020304" pitchFamily="18" charset="0"/>
              </a:rPr>
              <a:t> </a:t>
            </a:r>
            <a:r>
              <a:rPr lang="en-US" sz="800" i="1" dirty="0" err="1">
                <a:latin typeface="Times New Roman" panose="02020603050405020304" pitchFamily="18" charset="0"/>
                <a:cs typeface="Times New Roman" panose="02020603050405020304" pitchFamily="18" charset="0"/>
              </a:rPr>
              <a:t>sô</a:t>
            </a:r>
            <a:r>
              <a:rPr lang="en-US" sz="800" i="1" dirty="0">
                <a:latin typeface="Times New Roman" panose="02020603050405020304" pitchFamily="18" charset="0"/>
                <a:cs typeface="Times New Roman" panose="02020603050405020304" pitchFamily="18" charset="0"/>
              </a:rPr>
              <a:t>́ </a:t>
            </a:r>
            <a:r>
              <a:rPr lang="en-US" sz="800" i="1" dirty="0" err="1">
                <a:latin typeface="Times New Roman" panose="02020603050405020304" pitchFamily="18" charset="0"/>
                <a:cs typeface="Times New Roman" panose="02020603050405020304" pitchFamily="18" charset="0"/>
              </a:rPr>
              <a:t>liệu</a:t>
            </a:r>
            <a:r>
              <a:rPr lang="en-US" sz="800" i="1" dirty="0">
                <a:latin typeface="Times New Roman" panose="02020603050405020304" pitchFamily="18" charset="0"/>
                <a:cs typeface="Times New Roman" panose="02020603050405020304" pitchFamily="18" charset="0"/>
              </a:rPr>
              <a:t> so </a:t>
            </a:r>
            <a:r>
              <a:rPr lang="en-US" sz="800" i="1" dirty="0" err="1">
                <a:latin typeface="Times New Roman" panose="02020603050405020304" pitchFamily="18" charset="0"/>
                <a:cs typeface="Times New Roman" panose="02020603050405020304" pitchFamily="18" charset="0"/>
              </a:rPr>
              <a:t>sánh</a:t>
            </a:r>
            <a:r>
              <a:rPr lang="en-US" sz="800" i="1" dirty="0">
                <a:latin typeface="Times New Roman" panose="02020603050405020304" pitchFamily="18" charset="0"/>
                <a:cs typeface="Times New Roman" panose="02020603050405020304" pitchFamily="18" charset="0"/>
              </a:rPr>
              <a:t> </a:t>
            </a:r>
            <a:r>
              <a:rPr lang="en-US" sz="800" i="1" dirty="0" err="1">
                <a:latin typeface="Times New Roman" panose="02020603050405020304" pitchFamily="18" charset="0"/>
                <a:cs typeface="Times New Roman" panose="02020603050405020304" pitchFamily="18" charset="0"/>
              </a:rPr>
              <a:t>thực</a:t>
            </a:r>
            <a:r>
              <a:rPr lang="en-US" sz="800" i="1" dirty="0">
                <a:latin typeface="Times New Roman" panose="02020603050405020304" pitchFamily="18" charset="0"/>
                <a:cs typeface="Times New Roman" panose="02020603050405020304" pitchFamily="18" charset="0"/>
              </a:rPr>
              <a:t> </a:t>
            </a:r>
            <a:r>
              <a:rPr lang="en-US" sz="800" i="1" dirty="0" err="1">
                <a:latin typeface="Times New Roman" panose="02020603050405020304" pitchFamily="18" charset="0"/>
                <a:cs typeface="Times New Roman" panose="02020603050405020304" pitchFamily="18" charset="0"/>
              </a:rPr>
              <a:t>nghiệm</a:t>
            </a:r>
            <a:endParaRPr lang="en-US" sz="800"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2A57559-F064-CE9D-7C91-D713AC0CD3D9}"/>
              </a:ext>
            </a:extLst>
          </p:cNvPr>
          <p:cNvSpPr txBox="1"/>
          <p:nvPr/>
        </p:nvSpPr>
        <p:spPr>
          <a:xfrm>
            <a:off x="564084" y="1006368"/>
            <a:ext cx="4801123" cy="3573671"/>
          </a:xfrm>
          <a:prstGeom prst="rect">
            <a:avLst/>
          </a:prstGeom>
          <a:noFill/>
        </p:spPr>
        <p:txBody>
          <a:bodyPr wrap="square">
            <a:spAutoFit/>
          </a:bodyPr>
          <a:lstStyle/>
          <a:p>
            <a:pPr lvl="0">
              <a:lnSpc>
                <a:spcPct val="115000"/>
              </a:lnSpc>
            </a:pPr>
            <a:r>
              <a:rPr lang="en-US" i="1" kern="100" dirty="0">
                <a:latin typeface="Times New Roman" panose="02020603050405020304" pitchFamily="18" charset="0"/>
                <a:ea typeface="Aptos" panose="020B0004020202020204" pitchFamily="34" charset="0"/>
                <a:cs typeface="Times New Roman" panose="02020603050405020304" pitchFamily="18" charset="0"/>
              </a:rPr>
              <a:t>So </a:t>
            </a:r>
            <a:r>
              <a:rPr lang="en-US" i="1" kern="100" dirty="0" err="1">
                <a:latin typeface="Times New Roman" panose="02020603050405020304" pitchFamily="18" charset="0"/>
                <a:ea typeface="Aptos" panose="020B0004020202020204" pitchFamily="34" charset="0"/>
                <a:cs typeface="Times New Roman" panose="02020603050405020304" pitchFamily="18" charset="0"/>
              </a:rPr>
              <a:t>sánh</a:t>
            </a:r>
            <a:r>
              <a:rPr lang="en-US" i="1" kern="100" dirty="0">
                <a:latin typeface="Times New Roman" panose="02020603050405020304" pitchFamily="18" charset="0"/>
                <a:ea typeface="Aptos" panose="020B0004020202020204" pitchFamily="34" charset="0"/>
                <a:cs typeface="Times New Roman" panose="02020603050405020304" pitchFamily="18" charset="0"/>
              </a:rPr>
              <a:t> </a:t>
            </a:r>
            <a:r>
              <a:rPr lang="en-US" i="1" kern="100" dirty="0" err="1">
                <a:latin typeface="Times New Roman" panose="02020603050405020304" pitchFamily="18" charset="0"/>
                <a:ea typeface="Aptos" panose="020B0004020202020204" pitchFamily="34" charset="0"/>
                <a:cs typeface="Times New Roman" panose="02020603050405020304" pitchFamily="18" charset="0"/>
              </a:rPr>
              <a:t>thực</a:t>
            </a:r>
            <a:r>
              <a:rPr lang="en-US" i="1" kern="100" dirty="0">
                <a:latin typeface="Times New Roman" panose="02020603050405020304" pitchFamily="18" charset="0"/>
                <a:ea typeface="Aptos" panose="020B0004020202020204" pitchFamily="34" charset="0"/>
                <a:cs typeface="Times New Roman" panose="02020603050405020304" pitchFamily="18" charset="0"/>
              </a:rPr>
              <a:t> </a:t>
            </a:r>
            <a:r>
              <a:rPr lang="en-US" i="1" kern="100" dirty="0" err="1">
                <a:latin typeface="Times New Roman" panose="02020603050405020304" pitchFamily="18" charset="0"/>
                <a:ea typeface="Aptos" panose="020B0004020202020204" pitchFamily="34" charset="0"/>
                <a:cs typeface="Times New Roman" panose="02020603050405020304" pitchFamily="18" charset="0"/>
              </a:rPr>
              <a:t>nghiệm</a:t>
            </a:r>
            <a:endParaRPr lang="en-US" i="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Courier New" panose="02070309020205020404" pitchFamily="49" charset="0"/>
              <a:buChar char="-"/>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quả</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thấy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0">
              <a:lnSpc>
                <a:spcPct val="115000"/>
              </a:lnSpc>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Runge–</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Kutta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bậc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4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bám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sát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toàn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đoạn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nghiên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cứu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Sai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lệch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giữa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trị</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rất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nhỏ</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đặc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biệt</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khoảng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2005–2020.</a:t>
            </a:r>
          </a:p>
          <a:p>
            <a:pPr lvl="0">
              <a:lnSpc>
                <a:spcPct val="115000"/>
              </a:lnSpc>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tường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minh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Logistic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xu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hướng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đánh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thấp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lệch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dần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về</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cuối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đoạn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năm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2010).</a:t>
            </a:r>
          </a:p>
          <a:p>
            <a:pPr marL="342900" lvl="0" indent="-342900">
              <a:lnSpc>
                <a:spcPct val="115000"/>
              </a:lnSpc>
              <a:buFont typeface="Courier New" panose="02070309020205020404" pitchFamily="49" charset="0"/>
              <a:buChar char="-"/>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Điều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phản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ánh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chế</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sử</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dụng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từ</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ít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khi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tối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ưu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dựa</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trên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toàn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bộ</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tập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giúp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thích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nghi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tốt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xu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hướng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trưởng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p:txBody>
      </p:sp>
      <p:graphicFrame>
        <p:nvGraphicFramePr>
          <p:cNvPr id="6" name="Table 5">
            <a:extLst>
              <a:ext uri="{FF2B5EF4-FFF2-40B4-BE49-F238E27FC236}">
                <a16:creationId xmlns:a16="http://schemas.microsoft.com/office/drawing/2014/main" id="{05165998-73F4-E460-D3C8-BB5F5D2FD224}"/>
              </a:ext>
            </a:extLst>
          </p:cNvPr>
          <p:cNvGraphicFramePr>
            <a:graphicFrameLocks noGrp="1"/>
          </p:cNvGraphicFramePr>
          <p:nvPr>
            <p:extLst>
              <p:ext uri="{D42A27DB-BD31-4B8C-83A1-F6EECF244321}">
                <p14:modId xmlns:p14="http://schemas.microsoft.com/office/powerpoint/2010/main" val="1063334805"/>
              </p:ext>
            </p:extLst>
          </p:nvPr>
        </p:nvGraphicFramePr>
        <p:xfrm>
          <a:off x="5791200" y="564697"/>
          <a:ext cx="3075913" cy="4333911"/>
        </p:xfrm>
        <a:graphic>
          <a:graphicData uri="http://schemas.openxmlformats.org/drawingml/2006/table">
            <a:tbl>
              <a:tblPr firstRow="1" firstCol="1" bandRow="1">
                <a:tableStyleId>{5C22544A-7EE6-4342-B048-85BDC9FD1C3A}</a:tableStyleId>
              </a:tblPr>
              <a:tblGrid>
                <a:gridCol w="295931">
                  <a:extLst>
                    <a:ext uri="{9D8B030D-6E8A-4147-A177-3AD203B41FA5}">
                      <a16:colId xmlns:a16="http://schemas.microsoft.com/office/drawing/2014/main" val="4227995336"/>
                    </a:ext>
                  </a:extLst>
                </a:gridCol>
                <a:gridCol w="434247">
                  <a:extLst>
                    <a:ext uri="{9D8B030D-6E8A-4147-A177-3AD203B41FA5}">
                      <a16:colId xmlns:a16="http://schemas.microsoft.com/office/drawing/2014/main" val="3031219515"/>
                    </a:ext>
                  </a:extLst>
                </a:gridCol>
                <a:gridCol w="692784">
                  <a:extLst>
                    <a:ext uri="{9D8B030D-6E8A-4147-A177-3AD203B41FA5}">
                      <a16:colId xmlns:a16="http://schemas.microsoft.com/office/drawing/2014/main" val="220368807"/>
                    </a:ext>
                  </a:extLst>
                </a:gridCol>
                <a:gridCol w="798129">
                  <a:extLst>
                    <a:ext uri="{9D8B030D-6E8A-4147-A177-3AD203B41FA5}">
                      <a16:colId xmlns:a16="http://schemas.microsoft.com/office/drawing/2014/main" val="621949256"/>
                    </a:ext>
                  </a:extLst>
                </a:gridCol>
                <a:gridCol w="854822">
                  <a:extLst>
                    <a:ext uri="{9D8B030D-6E8A-4147-A177-3AD203B41FA5}">
                      <a16:colId xmlns:a16="http://schemas.microsoft.com/office/drawing/2014/main" val="1285339962"/>
                    </a:ext>
                  </a:extLst>
                </a:gridCol>
              </a:tblGrid>
              <a:tr h="131843">
                <a:tc>
                  <a:txBody>
                    <a:bodyPr/>
                    <a:lstStyle/>
                    <a:p>
                      <a:pPr>
                        <a:lnSpc>
                          <a:spcPct val="115000"/>
                        </a:lnSpc>
                      </a:pPr>
                      <a:r>
                        <a:rPr lang="en-US" sz="700" kern="100">
                          <a:effectLst/>
                        </a:rPr>
                        <a:t>Năm</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Thực tế</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RK4 (Triệu)</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Exact (Triệu)</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Sai số RK4 (%)</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709875509"/>
                  </a:ext>
                </a:extLst>
              </a:tr>
              <a:tr h="131843">
                <a:tc>
                  <a:txBody>
                    <a:bodyPr/>
                    <a:lstStyle/>
                    <a:p>
                      <a:pPr>
                        <a:lnSpc>
                          <a:spcPct val="115000"/>
                        </a:lnSpc>
                      </a:pPr>
                      <a:r>
                        <a:rPr lang="en-US" sz="700" kern="100">
                          <a:effectLst/>
                        </a:rPr>
                        <a:t>1990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65.505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65.505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65.505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369491283"/>
                  </a:ext>
                </a:extLst>
              </a:tr>
              <a:tr h="131843">
                <a:tc>
                  <a:txBody>
                    <a:bodyPr/>
                    <a:lstStyle/>
                    <a:p>
                      <a:pPr>
                        <a:lnSpc>
                          <a:spcPct val="115000"/>
                        </a:lnSpc>
                      </a:pPr>
                      <a:r>
                        <a:rPr lang="en-US" sz="700" kern="100">
                          <a:effectLst/>
                        </a:rPr>
                        <a:t>1991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66.892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66.609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66.892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0.423058314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195611793"/>
                  </a:ext>
                </a:extLst>
              </a:tr>
              <a:tr h="131843">
                <a:tc>
                  <a:txBody>
                    <a:bodyPr/>
                    <a:lstStyle/>
                    <a:p>
                      <a:pPr>
                        <a:lnSpc>
                          <a:spcPct val="115000"/>
                        </a:lnSpc>
                      </a:pPr>
                      <a:r>
                        <a:rPr lang="en-US" sz="700" kern="100">
                          <a:effectLst/>
                        </a:rPr>
                        <a:t>1992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68.260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67.716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68.260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0.797477588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248293762"/>
                  </a:ext>
                </a:extLst>
              </a:tr>
              <a:tr h="131843">
                <a:tc>
                  <a:txBody>
                    <a:bodyPr/>
                    <a:lstStyle/>
                    <a:p>
                      <a:pPr>
                        <a:lnSpc>
                          <a:spcPct val="115000"/>
                        </a:lnSpc>
                      </a:pPr>
                      <a:r>
                        <a:rPr lang="en-US" sz="700" kern="100">
                          <a:effectLst/>
                        </a:rPr>
                        <a:t>1993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69.586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68.826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69.609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1.093261008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926639186"/>
                  </a:ext>
                </a:extLst>
              </a:tr>
              <a:tr h="131843">
                <a:tc>
                  <a:txBody>
                    <a:bodyPr/>
                    <a:lstStyle/>
                    <a:p>
                      <a:pPr>
                        <a:lnSpc>
                          <a:spcPct val="115000"/>
                        </a:lnSpc>
                      </a:pPr>
                      <a:r>
                        <a:rPr lang="en-US" sz="700" kern="100">
                          <a:effectLst/>
                        </a:rPr>
                        <a:t>1994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70.864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69.937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70.935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1.308381072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761765287"/>
                  </a:ext>
                </a:extLst>
              </a:tr>
              <a:tr h="131843">
                <a:tc>
                  <a:txBody>
                    <a:bodyPr/>
                    <a:lstStyle/>
                    <a:p>
                      <a:pPr>
                        <a:lnSpc>
                          <a:spcPct val="115000"/>
                        </a:lnSpc>
                      </a:pPr>
                      <a:r>
                        <a:rPr lang="en-US" sz="700" kern="100">
                          <a:effectLst/>
                        </a:rPr>
                        <a:t>1995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72.050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71.050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72.238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1.387514323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059783013"/>
                  </a:ext>
                </a:extLst>
              </a:tr>
              <a:tr h="131843">
                <a:tc>
                  <a:txBody>
                    <a:bodyPr/>
                    <a:lstStyle/>
                    <a:p>
                      <a:pPr>
                        <a:lnSpc>
                          <a:spcPct val="115000"/>
                        </a:lnSpc>
                      </a:pPr>
                      <a:r>
                        <a:rPr lang="en-US" sz="700" kern="100">
                          <a:effectLst/>
                        </a:rPr>
                        <a:t>1996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73.156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72.164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73.517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1.356372951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745213305"/>
                  </a:ext>
                </a:extLst>
              </a:tr>
              <a:tr h="131843">
                <a:tc>
                  <a:txBody>
                    <a:bodyPr/>
                    <a:lstStyle/>
                    <a:p>
                      <a:pPr>
                        <a:lnSpc>
                          <a:spcPct val="115000"/>
                        </a:lnSpc>
                      </a:pPr>
                      <a:r>
                        <a:rPr lang="en-US" sz="700" kern="100">
                          <a:effectLst/>
                        </a:rPr>
                        <a:t>1997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74.227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73.279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74.770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1.277683383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847013725"/>
                  </a:ext>
                </a:extLst>
              </a:tr>
              <a:tr h="131843">
                <a:tc>
                  <a:txBody>
                    <a:bodyPr/>
                    <a:lstStyle/>
                    <a:p>
                      <a:pPr>
                        <a:lnSpc>
                          <a:spcPct val="115000"/>
                        </a:lnSpc>
                      </a:pPr>
                      <a:r>
                        <a:rPr lang="en-US" sz="700" kern="100">
                          <a:effectLst/>
                        </a:rPr>
                        <a:t>1998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75.300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74.393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75.996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1.204450799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560346272"/>
                  </a:ext>
                </a:extLst>
              </a:tr>
              <a:tr h="131843">
                <a:tc>
                  <a:txBody>
                    <a:bodyPr/>
                    <a:lstStyle/>
                    <a:p>
                      <a:pPr>
                        <a:lnSpc>
                          <a:spcPct val="115000"/>
                        </a:lnSpc>
                      </a:pPr>
                      <a:r>
                        <a:rPr lang="en-US" sz="700" kern="100">
                          <a:effectLst/>
                        </a:rPr>
                        <a:t>1999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76.287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75.506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77.195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1.023986536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628757189"/>
                  </a:ext>
                </a:extLst>
              </a:tr>
              <a:tr h="131843">
                <a:tc>
                  <a:txBody>
                    <a:bodyPr/>
                    <a:lstStyle/>
                    <a:p>
                      <a:pPr>
                        <a:lnSpc>
                          <a:spcPct val="115000"/>
                        </a:lnSpc>
                      </a:pPr>
                      <a:r>
                        <a:rPr lang="en-US" sz="700" kern="100">
                          <a:effectLst/>
                        </a:rPr>
                        <a:t>2000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77.154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76.619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78.365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0.69384061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935325757"/>
                  </a:ext>
                </a:extLst>
              </a:tr>
              <a:tr h="131843">
                <a:tc>
                  <a:txBody>
                    <a:bodyPr/>
                    <a:lstStyle/>
                    <a:p>
                      <a:pPr>
                        <a:lnSpc>
                          <a:spcPct val="115000"/>
                        </a:lnSpc>
                      </a:pPr>
                      <a:r>
                        <a:rPr lang="en-US" sz="700" kern="100">
                          <a:effectLst/>
                        </a:rPr>
                        <a:t>2001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77.969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77.729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79.506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0.307742247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217527750"/>
                  </a:ext>
                </a:extLst>
              </a:tr>
              <a:tr h="131843">
                <a:tc>
                  <a:txBody>
                    <a:bodyPr/>
                    <a:lstStyle/>
                    <a:p>
                      <a:pPr>
                        <a:lnSpc>
                          <a:spcPct val="115000"/>
                        </a:lnSpc>
                      </a:pPr>
                      <a:r>
                        <a:rPr lang="en-US" sz="700" kern="100">
                          <a:effectLst/>
                        </a:rPr>
                        <a:t>2002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78.772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78.838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80.617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0.08345077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384611704"/>
                  </a:ext>
                </a:extLst>
              </a:tr>
              <a:tr h="131843">
                <a:tc>
                  <a:txBody>
                    <a:bodyPr/>
                    <a:lstStyle/>
                    <a:p>
                      <a:pPr>
                        <a:lnSpc>
                          <a:spcPct val="115000"/>
                        </a:lnSpc>
                      </a:pPr>
                      <a:r>
                        <a:rPr lang="en-US" sz="700" kern="100">
                          <a:effectLst/>
                        </a:rPr>
                        <a:t>2003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79.564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79.944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81.698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0.477643153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438061071"/>
                  </a:ext>
                </a:extLst>
              </a:tr>
              <a:tr h="131843">
                <a:tc>
                  <a:txBody>
                    <a:bodyPr/>
                    <a:lstStyle/>
                    <a:p>
                      <a:pPr>
                        <a:lnSpc>
                          <a:spcPct val="115000"/>
                        </a:lnSpc>
                      </a:pPr>
                      <a:r>
                        <a:rPr lang="en-US" sz="700" kern="100">
                          <a:effectLst/>
                        </a:rPr>
                        <a:t>2004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80.339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81.046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82.748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0.880625853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150599803"/>
                  </a:ext>
                </a:extLst>
              </a:tr>
              <a:tr h="131843">
                <a:tc>
                  <a:txBody>
                    <a:bodyPr/>
                    <a:lstStyle/>
                    <a:p>
                      <a:pPr>
                        <a:lnSpc>
                          <a:spcPct val="115000"/>
                        </a:lnSpc>
                      </a:pPr>
                      <a:r>
                        <a:rPr lang="en-US" sz="700" kern="100">
                          <a:effectLst/>
                        </a:rPr>
                        <a:t>2005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81.088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82.145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83.768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1.303635516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316965860"/>
                  </a:ext>
                </a:extLst>
              </a:tr>
              <a:tr h="131843">
                <a:tc>
                  <a:txBody>
                    <a:bodyPr/>
                    <a:lstStyle/>
                    <a:p>
                      <a:pPr>
                        <a:lnSpc>
                          <a:spcPct val="115000"/>
                        </a:lnSpc>
                      </a:pPr>
                      <a:r>
                        <a:rPr lang="en-US" sz="700" kern="100">
                          <a:effectLst/>
                        </a:rPr>
                        <a:t>2006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82.168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83.240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84.756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1.304983092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4234479414"/>
                  </a:ext>
                </a:extLst>
              </a:tr>
              <a:tr h="131843">
                <a:tc>
                  <a:txBody>
                    <a:bodyPr/>
                    <a:lstStyle/>
                    <a:p>
                      <a:pPr>
                        <a:lnSpc>
                          <a:spcPct val="115000"/>
                        </a:lnSpc>
                      </a:pPr>
                      <a:r>
                        <a:rPr lang="en-US" sz="700" kern="100">
                          <a:effectLst/>
                        </a:rPr>
                        <a:t>2007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83.633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84.330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85.714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0.833272655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338070395"/>
                  </a:ext>
                </a:extLst>
              </a:tr>
              <a:tr h="131843">
                <a:tc>
                  <a:txBody>
                    <a:bodyPr/>
                    <a:lstStyle/>
                    <a:p>
                      <a:pPr>
                        <a:lnSpc>
                          <a:spcPct val="115000"/>
                        </a:lnSpc>
                      </a:pPr>
                      <a:r>
                        <a:rPr lang="en-US" sz="700" kern="100">
                          <a:effectLst/>
                        </a:rPr>
                        <a:t>2008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85.176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85.415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86.641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0.281102283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181518803"/>
                  </a:ext>
                </a:extLst>
              </a:tr>
              <a:tr h="131843">
                <a:tc>
                  <a:txBody>
                    <a:bodyPr/>
                    <a:lstStyle/>
                    <a:p>
                      <a:pPr>
                        <a:lnSpc>
                          <a:spcPct val="115000"/>
                        </a:lnSpc>
                      </a:pPr>
                      <a:r>
                        <a:rPr lang="en-US" sz="700" kern="100">
                          <a:effectLst/>
                        </a:rPr>
                        <a:t>2009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86.460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86.495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87.537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0.039950159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896768904"/>
                  </a:ext>
                </a:extLst>
              </a:tr>
              <a:tr h="131843">
                <a:tc>
                  <a:txBody>
                    <a:bodyPr/>
                    <a:lstStyle/>
                    <a:p>
                      <a:pPr>
                        <a:lnSpc>
                          <a:spcPct val="115000"/>
                        </a:lnSpc>
                      </a:pPr>
                      <a:r>
                        <a:rPr lang="en-US" sz="700" kern="100">
                          <a:effectLst/>
                        </a:rPr>
                        <a:t>2010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87.455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87.568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88.403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0.12884451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155783531"/>
                  </a:ext>
                </a:extLst>
              </a:tr>
              <a:tr h="131843">
                <a:tc>
                  <a:txBody>
                    <a:bodyPr/>
                    <a:lstStyle/>
                    <a:p>
                      <a:pPr>
                        <a:lnSpc>
                          <a:spcPct val="115000"/>
                        </a:lnSpc>
                      </a:pPr>
                      <a:r>
                        <a:rPr lang="en-US" sz="700" kern="100">
                          <a:effectLst/>
                        </a:rPr>
                        <a:t>2011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88.468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88.635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89.238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0.187957889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46017329"/>
                  </a:ext>
                </a:extLst>
              </a:tr>
              <a:tr h="131843">
                <a:tc>
                  <a:txBody>
                    <a:bodyPr/>
                    <a:lstStyle/>
                    <a:p>
                      <a:pPr>
                        <a:lnSpc>
                          <a:spcPct val="115000"/>
                        </a:lnSpc>
                      </a:pPr>
                      <a:r>
                        <a:rPr lang="en-US" sz="700" kern="100">
                          <a:effectLst/>
                        </a:rPr>
                        <a:t>2012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89.510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89.694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90.044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0.205631746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489215049"/>
                  </a:ext>
                </a:extLst>
              </a:tr>
              <a:tr h="131843">
                <a:tc>
                  <a:txBody>
                    <a:bodyPr/>
                    <a:lstStyle/>
                    <a:p>
                      <a:pPr>
                        <a:lnSpc>
                          <a:spcPct val="115000"/>
                        </a:lnSpc>
                      </a:pPr>
                      <a:r>
                        <a:rPr lang="en-US" sz="700" kern="100">
                          <a:effectLst/>
                        </a:rPr>
                        <a:t>2013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90.573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90.747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90.820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0.191855584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613211830"/>
                  </a:ext>
                </a:extLst>
              </a:tr>
              <a:tr h="131843">
                <a:tc>
                  <a:txBody>
                    <a:bodyPr/>
                    <a:lstStyle/>
                    <a:p>
                      <a:pPr>
                        <a:lnSpc>
                          <a:spcPct val="115000"/>
                        </a:lnSpc>
                      </a:pPr>
                      <a:r>
                        <a:rPr lang="en-US" sz="700" kern="100">
                          <a:effectLst/>
                        </a:rPr>
                        <a:t>2014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91.680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91.792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91.568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0.122140797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634089059"/>
                  </a:ext>
                </a:extLst>
              </a:tr>
              <a:tr h="131843">
                <a:tc>
                  <a:txBody>
                    <a:bodyPr/>
                    <a:lstStyle/>
                    <a:p>
                      <a:pPr>
                        <a:lnSpc>
                          <a:spcPct val="115000"/>
                        </a:lnSpc>
                      </a:pPr>
                      <a:r>
                        <a:rPr lang="en-US" sz="700" kern="100">
                          <a:effectLst/>
                        </a:rPr>
                        <a:t>2015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92.823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92.828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92.287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0.005188545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107801087"/>
                  </a:ext>
                </a:extLst>
              </a:tr>
              <a:tr h="131843">
                <a:tc>
                  <a:txBody>
                    <a:bodyPr/>
                    <a:lstStyle/>
                    <a:p>
                      <a:pPr>
                        <a:lnSpc>
                          <a:spcPct val="115000"/>
                        </a:lnSpc>
                      </a:pPr>
                      <a:r>
                        <a:rPr lang="en-US" sz="700" kern="100">
                          <a:effectLst/>
                        </a:rPr>
                        <a:t>2016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94.000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93.856</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92.978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0.153279667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284704842"/>
                  </a:ext>
                </a:extLst>
              </a:tr>
              <a:tr h="131843">
                <a:tc>
                  <a:txBody>
                    <a:bodyPr/>
                    <a:lstStyle/>
                    <a:p>
                      <a:pPr>
                        <a:lnSpc>
                          <a:spcPct val="115000"/>
                        </a:lnSpc>
                      </a:pPr>
                      <a:r>
                        <a:rPr lang="en-US" sz="700" kern="100">
                          <a:effectLst/>
                        </a:rPr>
                        <a:t>2017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95.177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94.875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93.642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0.317195457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3474298561"/>
                  </a:ext>
                </a:extLst>
              </a:tr>
              <a:tr h="131843">
                <a:tc>
                  <a:txBody>
                    <a:bodyPr/>
                    <a:lstStyle/>
                    <a:p>
                      <a:pPr>
                        <a:lnSpc>
                          <a:spcPct val="115000"/>
                        </a:lnSpc>
                      </a:pPr>
                      <a:r>
                        <a:rPr lang="en-US" sz="700" kern="100">
                          <a:effectLst/>
                        </a:rPr>
                        <a:t>2018</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96.237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95.885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94.279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0.366244273</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453393706"/>
                  </a:ext>
                </a:extLst>
              </a:tr>
              <a:tr h="131843">
                <a:tc>
                  <a:txBody>
                    <a:bodyPr/>
                    <a:lstStyle/>
                    <a:p>
                      <a:pPr>
                        <a:lnSpc>
                          <a:spcPct val="115000"/>
                        </a:lnSpc>
                      </a:pPr>
                      <a:r>
                        <a:rPr lang="en-US" sz="700" kern="100">
                          <a:effectLst/>
                        </a:rPr>
                        <a:t>2019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97.174</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96.885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94.890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0.297152072</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2359918709"/>
                  </a:ext>
                </a:extLst>
              </a:tr>
              <a:tr h="131843">
                <a:tc>
                  <a:txBody>
                    <a:bodyPr/>
                    <a:lstStyle/>
                    <a:p>
                      <a:pPr>
                        <a:lnSpc>
                          <a:spcPct val="115000"/>
                        </a:lnSpc>
                      </a:pPr>
                      <a:r>
                        <a:rPr lang="en-US" sz="700" kern="100">
                          <a:effectLst/>
                        </a:rPr>
                        <a:t>2020</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98.079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97.875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95.477</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nSpc>
                          <a:spcPct val="115000"/>
                        </a:lnSpc>
                      </a:pPr>
                      <a:r>
                        <a:rPr lang="en-US" sz="700" kern="100">
                          <a:effectLst/>
                        </a:rPr>
                        <a:t>0.207927285</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extLst>
                  <a:ext uri="{0D108BD9-81ED-4DB2-BD59-A6C34878D82A}">
                    <a16:rowId xmlns:a16="http://schemas.microsoft.com/office/drawing/2014/main" val="1016128235"/>
                  </a:ext>
                </a:extLst>
              </a:tr>
              <a:tr h="105467">
                <a:tc gridSpan="2">
                  <a:txBody>
                    <a:bodyPr/>
                    <a:lstStyle/>
                    <a:p>
                      <a:pPr algn="ctr">
                        <a:lnSpc>
                          <a:spcPct val="115000"/>
                        </a:lnSpc>
                      </a:pPr>
                      <a:r>
                        <a:rPr lang="en-US" sz="700" kern="100">
                          <a:effectLst/>
                        </a:rPr>
                        <a:t>MAPE</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hMerge="1">
                  <a:txBody>
                    <a:bodyPr/>
                    <a:lstStyle/>
                    <a:p>
                      <a:endParaRPr lang="en-US"/>
                    </a:p>
                  </a:txBody>
                  <a:tcPr/>
                </a:tc>
                <a:tc>
                  <a:txBody>
                    <a:bodyPr/>
                    <a:lstStyle/>
                    <a:p>
                      <a:pPr algn="ctr">
                        <a:lnSpc>
                          <a:spcPct val="115000"/>
                        </a:lnSpc>
                      </a:pPr>
                      <a:r>
                        <a:rPr lang="en-US" sz="700" kern="100">
                          <a:effectLst/>
                        </a:rPr>
                        <a:t>0.59%</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pPr algn="ctr">
                        <a:lnSpc>
                          <a:spcPct val="115000"/>
                        </a:lnSpc>
                      </a:pPr>
                      <a:r>
                        <a:rPr lang="en-US" sz="700" kern="100">
                          <a:effectLst/>
                        </a:rPr>
                        <a:t>1.31%</a:t>
                      </a:r>
                      <a:endParaRPr lang="en-US" sz="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35172" marR="35172" marT="0" marB="0"/>
                </a:tc>
                <a:tc>
                  <a:txBody>
                    <a:bodyPr/>
                    <a:lstStyle/>
                    <a:p>
                      <a:endParaRPr lang="en-US" sz="700" kern="100" dirty="0">
                        <a:effectLst/>
                        <a:latin typeface="Times New Roman" panose="02020603050405020304" pitchFamily="18" charset="0"/>
                        <a:cs typeface="Times New Roman" panose="02020603050405020304" pitchFamily="18" charset="0"/>
                      </a:endParaRPr>
                    </a:p>
                  </a:txBody>
                  <a:tcPr marL="35172" marR="35172" marT="0" marB="0"/>
                </a:tc>
                <a:extLst>
                  <a:ext uri="{0D108BD9-81ED-4DB2-BD59-A6C34878D82A}">
                    <a16:rowId xmlns:a16="http://schemas.microsoft.com/office/drawing/2014/main" val="2105452566"/>
                  </a:ext>
                </a:extLst>
              </a:tr>
            </a:tbl>
          </a:graphicData>
        </a:graphic>
      </p:graphicFrame>
    </p:spTree>
    <p:extLst>
      <p:ext uri="{BB962C8B-B14F-4D97-AF65-F5344CB8AC3E}">
        <p14:creationId xmlns:p14="http://schemas.microsoft.com/office/powerpoint/2010/main" val="302426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sp>
        <p:nvSpPr>
          <p:cNvPr id="5" name="TextBox 4">
            <a:extLst>
              <a:ext uri="{FF2B5EF4-FFF2-40B4-BE49-F238E27FC236}">
                <a16:creationId xmlns:a16="http://schemas.microsoft.com/office/drawing/2014/main" id="{A67500A0-7C95-7CB8-87B2-0807419D6326}"/>
              </a:ext>
            </a:extLst>
          </p:cNvPr>
          <p:cNvSpPr txBox="1"/>
          <p:nvPr/>
        </p:nvSpPr>
        <p:spPr>
          <a:xfrm>
            <a:off x="591240" y="710422"/>
            <a:ext cx="46169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6.1.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hình</a:t>
            </a:r>
            <a:r>
              <a:rPr lang="en-US" dirty="0">
                <a:latin typeface="Times New Roman" panose="02020603050405020304" pitchFamily="18" charset="0"/>
                <a:cs typeface="Times New Roman" panose="02020603050405020304" pitchFamily="18" charset="0"/>
              </a:rPr>
              <a:t> Logistic</a:t>
            </a:r>
          </a:p>
        </p:txBody>
      </p:sp>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349027" y="16329"/>
            <a:ext cx="790024" cy="794649"/>
          </a:xfrm>
          <a:prstGeom prst="rect">
            <a:avLst/>
          </a:prstGeom>
        </p:spPr>
      </p:pic>
      <p:sp>
        <p:nvSpPr>
          <p:cNvPr id="4" name="TextBox 3">
            <a:extLst>
              <a:ext uri="{FF2B5EF4-FFF2-40B4-BE49-F238E27FC236}">
                <a16:creationId xmlns:a16="http://schemas.microsoft.com/office/drawing/2014/main" id="{DF5393CF-D0B1-C9DB-C155-22662EB74363}"/>
              </a:ext>
            </a:extLst>
          </p:cNvPr>
          <p:cNvSpPr txBox="1"/>
          <p:nvPr/>
        </p:nvSpPr>
        <p:spPr>
          <a:xfrm>
            <a:off x="591240" y="1041627"/>
            <a:ext cx="5847660" cy="369332"/>
          </a:xfrm>
          <a:prstGeom prst="rect">
            <a:avLst/>
          </a:prstGeom>
          <a:noFill/>
        </p:spPr>
        <p:txBody>
          <a:bodyPr wrap="square">
            <a:spAutoFit/>
          </a:bodyPr>
          <a:lstStyle/>
          <a:p>
            <a:r>
              <a:rPr lang="en-US" i="1" dirty="0">
                <a:latin typeface="Times New Roman" panose="02020603050405020304" pitchFamily="18" charset="0"/>
                <a:cs typeface="Times New Roman" panose="02020603050405020304" pitchFamily="18" charset="0"/>
              </a:rPr>
              <a:t>So </a:t>
            </a:r>
            <a:r>
              <a:rPr lang="en-US" i="1" dirty="0" err="1">
                <a:latin typeface="Times New Roman" panose="02020603050405020304" pitchFamily="18" charset="0"/>
                <a:cs typeface="Times New Roman" panose="02020603050405020304" pitchFamily="18" charset="0"/>
              </a:rPr>
              <a:t>sánh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đô</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ổn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định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của</a:t>
            </a:r>
            <a:r>
              <a:rPr lang="en-US" i="1" dirty="0">
                <a:latin typeface="Times New Roman" panose="02020603050405020304" pitchFamily="18" charset="0"/>
                <a:cs typeface="Times New Roman" panose="02020603050405020304" pitchFamily="18" charset="0"/>
              </a:rPr>
              <a:t> Euler </a:t>
            </a:r>
            <a:r>
              <a:rPr lang="en-US" i="1" dirty="0" err="1">
                <a:latin typeface="Times New Roman" panose="02020603050405020304" pitchFamily="18" charset="0"/>
                <a:cs typeface="Times New Roman" panose="02020603050405020304" pitchFamily="18" charset="0"/>
              </a:rPr>
              <a:t>va</a:t>
            </a:r>
            <a:r>
              <a:rPr lang="en-US" i="1" dirty="0">
                <a:latin typeface="Times New Roman" panose="02020603050405020304" pitchFamily="18" charset="0"/>
                <a:cs typeface="Times New Roman" panose="02020603050405020304" pitchFamily="18" charset="0"/>
              </a:rPr>
              <a:t>̀ Runge-</a:t>
            </a:r>
            <a:r>
              <a:rPr lang="en-US" i="1" dirty="0" err="1">
                <a:latin typeface="Times New Roman" panose="02020603050405020304" pitchFamily="18" charset="0"/>
                <a:cs typeface="Times New Roman" panose="02020603050405020304" pitchFamily="18" charset="0"/>
              </a:rPr>
              <a:t>Kutta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bậc</a:t>
            </a:r>
            <a:r>
              <a:rPr lang="en-US" i="1" dirty="0">
                <a:latin typeface="Times New Roman" panose="02020603050405020304" pitchFamily="18" charset="0"/>
                <a:cs typeface="Times New Roman" panose="02020603050405020304" pitchFamily="18" charset="0"/>
              </a:rPr>
              <a:t> 4</a:t>
            </a:r>
          </a:p>
        </p:txBody>
      </p:sp>
      <p:pic>
        <p:nvPicPr>
          <p:cNvPr id="6" name="Picture 5">
            <a:extLst>
              <a:ext uri="{FF2B5EF4-FFF2-40B4-BE49-F238E27FC236}">
                <a16:creationId xmlns:a16="http://schemas.microsoft.com/office/drawing/2014/main" id="{20235FFB-35BA-D6DA-451D-74CBEA3A706E}"/>
              </a:ext>
            </a:extLst>
          </p:cNvPr>
          <p:cNvPicPr>
            <a:picLocks noChangeAspect="1"/>
          </p:cNvPicPr>
          <p:nvPr/>
        </p:nvPicPr>
        <p:blipFill>
          <a:blip r:embed="rId4"/>
          <a:stretch>
            <a:fillRect/>
          </a:stretch>
        </p:blipFill>
        <p:spPr>
          <a:xfrm>
            <a:off x="4419600" y="1448585"/>
            <a:ext cx="4539854" cy="2813213"/>
          </a:xfrm>
          <a:prstGeom prst="rect">
            <a:avLst/>
          </a:prstGeom>
        </p:spPr>
      </p:pic>
      <p:sp>
        <p:nvSpPr>
          <p:cNvPr id="7" name="TextBox 6">
            <a:extLst>
              <a:ext uri="{FF2B5EF4-FFF2-40B4-BE49-F238E27FC236}">
                <a16:creationId xmlns:a16="http://schemas.microsoft.com/office/drawing/2014/main" id="{C8F98FB9-ABB9-D081-E325-C6342C29008E}"/>
              </a:ext>
            </a:extLst>
          </p:cNvPr>
          <p:cNvSpPr txBox="1"/>
          <p:nvPr/>
        </p:nvSpPr>
        <p:spPr>
          <a:xfrm>
            <a:off x="667215" y="1399476"/>
            <a:ext cx="3904560" cy="3139321"/>
          </a:xfrm>
          <a:prstGeom prst="rect">
            <a:avLst/>
          </a:prstGeom>
          <a:noFill/>
        </p:spPr>
        <p:txBody>
          <a:bodyPr wrap="square">
            <a:spAutoFit/>
          </a:bodyPr>
          <a:lstStyle/>
          <a:p>
            <a:pPr marL="285750" indent="-285750">
              <a:buFontTx/>
              <a:buChar char="-"/>
            </a:pPr>
            <a:r>
              <a:rPr lang="en-US" sz="1600" dirty="0" err="1">
                <a:latin typeface="Times New Roman" panose="02020603050405020304" pitchFamily="18" charset="0"/>
                <a:cs typeface="Times New Roman" panose="02020603050405020304" pitchFamily="18" charset="0"/>
              </a:rPr>
              <a:t>Thư</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nghiệm</a:t>
            </a:r>
            <a:r>
              <a:rPr lang="en-US" sz="1600" dirty="0">
                <a:latin typeface="Times New Roman" panose="02020603050405020304" pitchFamily="18" charset="0"/>
                <a:cs typeface="Times New Roman" panose="02020603050405020304" pitchFamily="18" charset="0"/>
              </a:rPr>
              <a:t>: </a:t>
            </a:r>
            <a:r>
              <a:rPr lang="vi-VN" sz="1600" b="0" i="0" dirty="0">
                <a:solidFill>
                  <a:srgbClr val="303030"/>
                </a:solidFill>
                <a:effectLst/>
                <a:latin typeface="Times New Roman" panose="02020603050405020304" pitchFamily="18" charset="0"/>
                <a:cs typeface="Times New Roman" panose="02020603050405020304" pitchFamily="18" charset="0"/>
              </a:rPr>
              <a:t>Chạy dự báo dài hạn đến năm 2200 với bước nhảy lớn (</a:t>
            </a:r>
            <a:r>
              <a:rPr lang="vi-VN" sz="1600" b="0" i="1" dirty="0">
                <a:solidFill>
                  <a:srgbClr val="303030"/>
                </a:solidFill>
                <a:effectLst/>
                <a:latin typeface="Times New Roman" panose="02020603050405020304" pitchFamily="18" charset="0"/>
                <a:cs typeface="Times New Roman" panose="02020603050405020304" pitchFamily="18" charset="0"/>
              </a:rPr>
              <a:t>h</a:t>
            </a:r>
            <a:r>
              <a:rPr lang="vi-VN" sz="1600" b="0" i="0" dirty="0">
                <a:solidFill>
                  <a:srgbClr val="303030"/>
                </a:solidFill>
                <a:effectLst/>
                <a:latin typeface="Times New Roman" panose="02020603050405020304" pitchFamily="18" charset="0"/>
                <a:cs typeface="Times New Roman" panose="02020603050405020304" pitchFamily="18" charset="0"/>
              </a:rPr>
              <a:t>=20)</a:t>
            </a:r>
            <a:r>
              <a:rPr lang="en-US" sz="1600" b="0" i="0" dirty="0">
                <a:solidFill>
                  <a:srgbClr val="303030"/>
                </a:solidFill>
                <a:effectLst/>
                <a:latin typeface="Times New Roman" panose="02020603050405020304" pitchFamily="18" charset="0"/>
                <a:cs typeface="Times New Roman" panose="02020603050405020304" pitchFamily="18" charset="0"/>
              </a:rPr>
              <a:t>.</a:t>
            </a:r>
          </a:p>
          <a:p>
            <a:pPr marL="285750" indent="-285750">
              <a:buFontTx/>
              <a:buChar char="-"/>
            </a:pPr>
            <a:r>
              <a:rPr lang="en-US" sz="1600" dirty="0" err="1">
                <a:solidFill>
                  <a:srgbClr val="303030"/>
                </a:solidFill>
                <a:latin typeface="Times New Roman" panose="02020603050405020304" pitchFamily="18" charset="0"/>
                <a:cs typeface="Times New Roman" panose="02020603050405020304" pitchFamily="18" charset="0"/>
              </a:rPr>
              <a:t>Kết</a:t>
            </a:r>
            <a:r>
              <a:rPr lang="en-US" sz="1600" dirty="0">
                <a:solidFill>
                  <a:srgbClr val="303030"/>
                </a:solidFill>
                <a:latin typeface="Times New Roman" panose="02020603050405020304" pitchFamily="18" charset="0"/>
                <a:cs typeface="Times New Roman" panose="02020603050405020304" pitchFamily="18" charset="0"/>
              </a:rPr>
              <a:t> quả </a:t>
            </a:r>
            <a:r>
              <a:rPr lang="en-US" sz="1600" dirty="0" err="1">
                <a:solidFill>
                  <a:srgbClr val="303030"/>
                </a:solidFill>
                <a:latin typeface="Times New Roman" panose="02020603050405020304" pitchFamily="18" charset="0"/>
                <a:cs typeface="Times New Roman" panose="02020603050405020304" pitchFamily="18" charset="0"/>
              </a:rPr>
              <a:t>sai</a:t>
            </a:r>
            <a:r>
              <a:rPr lang="en-US" sz="1600" dirty="0">
                <a:solidFill>
                  <a:srgbClr val="303030"/>
                </a:solidFill>
                <a:latin typeface="Times New Roman" panose="02020603050405020304" pitchFamily="18" charset="0"/>
                <a:cs typeface="Times New Roman" panose="02020603050405020304" pitchFamily="18" charset="0"/>
              </a:rPr>
              <a:t> </a:t>
            </a:r>
            <a:r>
              <a:rPr lang="en-US" sz="1600" dirty="0" err="1">
                <a:solidFill>
                  <a:srgbClr val="303030"/>
                </a:solidFill>
                <a:latin typeface="Times New Roman" panose="02020603050405020304" pitchFamily="18" charset="0"/>
                <a:cs typeface="Times New Roman" panose="02020603050405020304" pitchFamily="18" charset="0"/>
              </a:rPr>
              <a:t>sô</a:t>
            </a:r>
            <a:r>
              <a:rPr lang="en-US" sz="1600" dirty="0">
                <a:solidFill>
                  <a:srgbClr val="303030"/>
                </a:solidFill>
                <a:latin typeface="Times New Roman" panose="02020603050405020304" pitchFamily="18" charset="0"/>
                <a:cs typeface="Times New Roman" panose="02020603050405020304" pitchFamily="18" charset="0"/>
              </a:rPr>
              <a:t>́ </a:t>
            </a:r>
            <a:r>
              <a:rPr lang="en-US" sz="1600" dirty="0" err="1">
                <a:solidFill>
                  <a:srgbClr val="303030"/>
                </a:solidFill>
                <a:latin typeface="Times New Roman" panose="02020603050405020304" pitchFamily="18" charset="0"/>
                <a:cs typeface="Times New Roman" panose="02020603050405020304" pitchFamily="18" charset="0"/>
              </a:rPr>
              <a:t>tối</a:t>
            </a:r>
            <a:r>
              <a:rPr lang="en-US" sz="1600" dirty="0">
                <a:solidFill>
                  <a:srgbClr val="303030"/>
                </a:solidFill>
                <a:latin typeface="Times New Roman" panose="02020603050405020304" pitchFamily="18" charset="0"/>
                <a:cs typeface="Times New Roman" panose="02020603050405020304" pitchFamily="18" charset="0"/>
              </a:rPr>
              <a:t> </a:t>
            </a:r>
            <a:r>
              <a:rPr lang="en-US" sz="1600" dirty="0" err="1">
                <a:solidFill>
                  <a:srgbClr val="303030"/>
                </a:solidFill>
                <a:latin typeface="Times New Roman" panose="02020603050405020304" pitchFamily="18" charset="0"/>
                <a:cs typeface="Times New Roman" panose="02020603050405020304" pitchFamily="18" charset="0"/>
              </a:rPr>
              <a:t>đa</a:t>
            </a:r>
            <a:r>
              <a:rPr lang="en-US" sz="1600" dirty="0">
                <a:solidFill>
                  <a:srgbClr val="303030"/>
                </a:solidFill>
                <a:latin typeface="Times New Roman" panose="02020603050405020304" pitchFamily="18" charset="0"/>
                <a:cs typeface="Times New Roman" panose="02020603050405020304" pitchFamily="18" charset="0"/>
              </a:rPr>
              <a:t>:</a:t>
            </a:r>
          </a:p>
          <a:p>
            <a:pPr algn="l" rtl="0"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RK4</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0.0128219663</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triệu</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người</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vô</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cùng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nhỏ</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Euler: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1600" dirty="0">
                <a:solidFill>
                  <a:schemeClr val="tx1"/>
                </a:solidFill>
                <a:latin typeface="Times New Roman" panose="02020603050405020304" pitchFamily="18" charset="0"/>
                <a:cs typeface="Times New Roman" panose="02020603050405020304" pitchFamily="18" charset="0"/>
              </a:rPr>
              <a:t>4.5424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triệu</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người</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sai</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lệch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đáng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kể</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Nhận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xét</a:t>
            </a:r>
            <a:r>
              <a:rPr lang="en-US" sz="1600" dirty="0">
                <a:solidFill>
                  <a:schemeClr val="tx1"/>
                </a:solidFill>
                <a:latin typeface="Times New Roman" panose="02020603050405020304" pitchFamily="18" charset="0"/>
                <a:cs typeface="Times New Roman" panose="02020603050405020304" pitchFamily="18" charset="0"/>
              </a:rPr>
              <a:t>: </a:t>
            </a:r>
            <a:r>
              <a:rPr lang="vi-VN" sz="1600" b="0" i="0" dirty="0">
                <a:solidFill>
                  <a:srgbClr val="303030"/>
                </a:solidFill>
                <a:effectLst/>
                <a:latin typeface="Times New Roman" panose="02020603050405020304" pitchFamily="18" charset="0"/>
                <a:cs typeface="Times New Roman" panose="02020603050405020304" pitchFamily="18" charset="0"/>
              </a:rPr>
              <a:t>RK4 vượt trội về độ tin cậy khi thực hiện các bài toán dự báo dài hạn hoặc khi dữ liệu bị giãn cách</a:t>
            </a:r>
            <a:endParaRPr lang="en-US" sz="1600" dirty="0">
              <a:solidFill>
                <a:srgbClr val="303030"/>
              </a:solidFill>
              <a:latin typeface="Times New Roman" panose="02020603050405020304" pitchFamily="18" charset="0"/>
              <a:cs typeface="Times New Roman" panose="02020603050405020304" pitchFamily="18" charset="0"/>
            </a:endParaRPr>
          </a:p>
          <a:p>
            <a:pPr lvl="2"/>
            <a:endParaRPr lang="en-US" b="0" i="0" dirty="0">
              <a:solidFill>
                <a:srgbClr val="303030"/>
              </a:solidFill>
              <a:effectLst/>
              <a:latin typeface="Times New Roman" panose="02020603050405020304" pitchFamily="18" charset="0"/>
              <a:cs typeface="Times New Roman" panose="02020603050405020304" pitchFamily="18" charset="0"/>
            </a:endParaRPr>
          </a:p>
          <a:p>
            <a:pPr marL="285750" indent="-285750">
              <a:buFontTx/>
              <a:buChar char="-"/>
            </a:pP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2840C60-3A07-8448-F9D3-982F38224179}"/>
              </a:ext>
            </a:extLst>
          </p:cNvPr>
          <p:cNvSpPr txBox="1"/>
          <p:nvPr/>
        </p:nvSpPr>
        <p:spPr>
          <a:xfrm>
            <a:off x="4038600" y="4178290"/>
            <a:ext cx="5847660" cy="553998"/>
          </a:xfrm>
          <a:prstGeom prst="rect">
            <a:avLst/>
          </a:prstGeom>
          <a:noFill/>
        </p:spPr>
        <p:txBody>
          <a:bodyPr wrap="square">
            <a:spAutoFit/>
          </a:bodyPr>
          <a:lstStyle/>
          <a:p>
            <a:pPr algn="ct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So </a:t>
            </a:r>
            <a:r>
              <a:rPr lang="en-US" sz="1200" i="1" kern="100" dirty="0" err="1">
                <a:effectLst/>
                <a:latin typeface="Times New Roman" panose="02020603050405020304" pitchFamily="18" charset="0"/>
                <a:ea typeface="Aptos" panose="020B0004020202020204" pitchFamily="34" charset="0"/>
                <a:cs typeface="Times New Roman" panose="02020603050405020304" pitchFamily="18" charset="0"/>
              </a:rPr>
              <a:t>sánh</a:t>
            </a: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200" i="1" kern="100" dirty="0" err="1">
                <a:effectLst/>
                <a:latin typeface="Times New Roman" panose="02020603050405020304" pitchFamily="18" charset="0"/>
                <a:ea typeface="Aptos" panose="020B0004020202020204" pitchFamily="34" charset="0"/>
                <a:cs typeface="Times New Roman" panose="02020603050405020304" pitchFamily="18" charset="0"/>
              </a:rPr>
              <a:t>RK4</a:t>
            </a: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200" i="1" kern="100" dirty="0" err="1">
                <a:effectLst/>
                <a:latin typeface="Times New Roman" panose="02020603050405020304" pitchFamily="18" charset="0"/>
                <a:ea typeface="Aptos" panose="020B0004020202020204" pitchFamily="34" charset="0"/>
                <a:cs typeface="Times New Roman" panose="02020603050405020304" pitchFamily="18" charset="0"/>
              </a:rPr>
              <a:t>với</a:t>
            </a: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 Euler</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483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sp>
        <p:nvSpPr>
          <p:cNvPr id="5" name="TextBox 4">
            <a:extLst>
              <a:ext uri="{FF2B5EF4-FFF2-40B4-BE49-F238E27FC236}">
                <a16:creationId xmlns:a16="http://schemas.microsoft.com/office/drawing/2014/main" id="{A67500A0-7C95-7CB8-87B2-0807419D6326}"/>
              </a:ext>
            </a:extLst>
          </p:cNvPr>
          <p:cNvSpPr txBox="1"/>
          <p:nvPr/>
        </p:nvSpPr>
        <p:spPr>
          <a:xfrm>
            <a:off x="591240" y="710422"/>
            <a:ext cx="46169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6.1.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hình</a:t>
            </a:r>
            <a:r>
              <a:rPr lang="en-US" dirty="0">
                <a:latin typeface="Times New Roman" panose="02020603050405020304" pitchFamily="18" charset="0"/>
                <a:cs typeface="Times New Roman" panose="02020603050405020304" pitchFamily="18" charset="0"/>
              </a:rPr>
              <a:t> Logistic</a:t>
            </a:r>
          </a:p>
        </p:txBody>
      </p:sp>
      <p:sp>
        <p:nvSpPr>
          <p:cNvPr id="4" name="TextBox 3">
            <a:extLst>
              <a:ext uri="{FF2B5EF4-FFF2-40B4-BE49-F238E27FC236}">
                <a16:creationId xmlns:a16="http://schemas.microsoft.com/office/drawing/2014/main" id="{DF5393CF-D0B1-C9DB-C155-22662EB74363}"/>
              </a:ext>
            </a:extLst>
          </p:cNvPr>
          <p:cNvSpPr txBox="1"/>
          <p:nvPr/>
        </p:nvSpPr>
        <p:spPr>
          <a:xfrm>
            <a:off x="570300" y="954002"/>
            <a:ext cx="5847660" cy="369332"/>
          </a:xfrm>
          <a:prstGeom prst="rect">
            <a:avLst/>
          </a:prstGeom>
          <a:noFill/>
        </p:spPr>
        <p:txBody>
          <a:bodyPr wrap="square">
            <a:spAutoFit/>
          </a:bodyPr>
          <a:lstStyle/>
          <a:p>
            <a:r>
              <a:rPr lang="en-US" i="1" dirty="0" err="1">
                <a:latin typeface="Times New Roman" panose="02020603050405020304" pitchFamily="18" charset="0"/>
                <a:cs typeface="Times New Roman" panose="02020603050405020304" pitchFamily="18" charset="0"/>
              </a:rPr>
              <a:t>Dư</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báo</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dân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sô</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a:t>
            </a:r>
            <a:r>
              <a:rPr lang="en-US" i="1" dirty="0">
                <a:latin typeface="Times New Roman" panose="02020603050405020304" pitchFamily="18" charset="0"/>
                <a:cs typeface="Times New Roman" panose="02020603050405020304" pitchFamily="18" charset="0"/>
              </a:rPr>
              <a:t>̀ 2021 </a:t>
            </a:r>
            <a:r>
              <a:rPr lang="en-US" i="1" dirty="0" err="1">
                <a:latin typeface="Times New Roman" panose="02020603050405020304" pitchFamily="18" charset="0"/>
                <a:cs typeface="Times New Roman" panose="02020603050405020304" pitchFamily="18" charset="0"/>
              </a:rPr>
              <a:t>năm</a:t>
            </a:r>
            <a:r>
              <a:rPr lang="en-US" i="1" dirty="0">
                <a:latin typeface="Times New Roman" panose="02020603050405020304" pitchFamily="18" charset="0"/>
                <a:cs typeface="Times New Roman" panose="02020603050405020304" pitchFamily="18" charset="0"/>
              </a:rPr>
              <a:t> 2050</a:t>
            </a:r>
          </a:p>
        </p:txBody>
      </p:sp>
      <p:sp>
        <p:nvSpPr>
          <p:cNvPr id="9" name="TextBox 8">
            <a:extLst>
              <a:ext uri="{FF2B5EF4-FFF2-40B4-BE49-F238E27FC236}">
                <a16:creationId xmlns:a16="http://schemas.microsoft.com/office/drawing/2014/main" id="{D82DFCCE-1F7C-03E8-155B-05CB5F541778}"/>
              </a:ext>
            </a:extLst>
          </p:cNvPr>
          <p:cNvSpPr txBox="1"/>
          <p:nvPr/>
        </p:nvSpPr>
        <p:spPr>
          <a:xfrm>
            <a:off x="7010400" y="4914428"/>
            <a:ext cx="1495594" cy="215444"/>
          </a:xfrm>
          <a:prstGeom prst="rect">
            <a:avLst/>
          </a:prstGeom>
          <a:noFill/>
        </p:spPr>
        <p:txBody>
          <a:bodyPr wrap="square">
            <a:spAutoFit/>
          </a:bodyPr>
          <a:lstStyle/>
          <a:p>
            <a:r>
              <a:rPr lang="en-US" sz="800" i="1" dirty="0" err="1">
                <a:latin typeface="Times New Roman" panose="02020603050405020304" pitchFamily="18" charset="0"/>
                <a:cs typeface="Times New Roman" panose="02020603050405020304" pitchFamily="18" charset="0"/>
              </a:rPr>
              <a:t>Kết</a:t>
            </a:r>
            <a:r>
              <a:rPr lang="en-US" sz="800" i="1" dirty="0">
                <a:latin typeface="Times New Roman" panose="02020603050405020304" pitchFamily="18" charset="0"/>
                <a:cs typeface="Times New Roman" panose="02020603050405020304" pitchFamily="18" charset="0"/>
              </a:rPr>
              <a:t> quả </a:t>
            </a:r>
            <a:r>
              <a:rPr lang="en-US" sz="800" i="1" dirty="0" err="1">
                <a:latin typeface="Times New Roman" panose="02020603050405020304" pitchFamily="18" charset="0"/>
                <a:cs typeface="Times New Roman" panose="02020603050405020304" pitchFamily="18" charset="0"/>
              </a:rPr>
              <a:t>dư</a:t>
            </a:r>
            <a:r>
              <a:rPr lang="en-US" sz="800" i="1" dirty="0">
                <a:latin typeface="Times New Roman" panose="02020603050405020304" pitchFamily="18" charset="0"/>
                <a:cs typeface="Times New Roman" panose="02020603050405020304" pitchFamily="18" charset="0"/>
              </a:rPr>
              <a:t>̣ </a:t>
            </a:r>
            <a:r>
              <a:rPr lang="en-US" sz="800" i="1" dirty="0" err="1">
                <a:latin typeface="Times New Roman" panose="02020603050405020304" pitchFamily="18" charset="0"/>
                <a:cs typeface="Times New Roman" panose="02020603050405020304" pitchFamily="18" charset="0"/>
              </a:rPr>
              <a:t>báo</a:t>
            </a:r>
            <a:endParaRPr lang="en-US" sz="800"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B780434-7E45-0500-587C-ACA99359882F}"/>
              </a:ext>
            </a:extLst>
          </p:cNvPr>
          <p:cNvSpPr txBox="1"/>
          <p:nvPr/>
        </p:nvSpPr>
        <p:spPr>
          <a:xfrm>
            <a:off x="570300" y="1267036"/>
            <a:ext cx="4382700" cy="4119589"/>
          </a:xfrm>
          <a:prstGeom prst="rect">
            <a:avLst/>
          </a:prstGeom>
          <a:noFill/>
        </p:spPr>
        <p:txBody>
          <a:bodyPr wrap="square">
            <a:spAutoFit/>
          </a:bodyPr>
          <a:lstStyle/>
          <a:p>
            <a:pPr marL="285750" indent="-285750">
              <a:buFontTx/>
              <a:buChar char="-"/>
            </a:pPr>
            <a:r>
              <a:rPr lang="en-US" sz="1600" dirty="0" err="1">
                <a:latin typeface="Times New Roman" panose="02020603050405020304" pitchFamily="18" charset="0"/>
                <a:cs typeface="Times New Roman" panose="02020603050405020304" pitchFamily="18" charset="0"/>
              </a:rPr>
              <a:t>Kết</a:t>
            </a:r>
            <a:r>
              <a:rPr lang="en-US" sz="1600" dirty="0">
                <a:latin typeface="Times New Roman" panose="02020603050405020304" pitchFamily="18" charset="0"/>
                <a:cs typeface="Times New Roman" panose="02020603050405020304" pitchFamily="18" charset="0"/>
              </a:rPr>
              <a:t> quả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thấy</a:t>
            </a:r>
            <a:r>
              <a:rPr lang="en-US" sz="1600" dirty="0">
                <a:latin typeface="Times New Roman" panose="02020603050405020304" pitchFamily="18" charset="0"/>
                <a:cs typeface="Times New Roman" panose="02020603050405020304" pitchFamily="18" charset="0"/>
              </a:rPr>
              <a:t>:</a:t>
            </a:r>
          </a:p>
          <a:p>
            <a:pPr lvl="2" algn="l">
              <a:lnSpc>
                <a:spcPct val="115000"/>
              </a:lnSpc>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RK4</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xu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hướng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trưởng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ổn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sát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với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dư</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liệu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thực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tê</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15000"/>
              </a:lnSpc>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Nghiệm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tường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minh</a:t>
            </a:r>
            <a:r>
              <a:rPr lang="en-US" sz="1800" dirty="0">
                <a:latin typeface="Times New Roman" panose="02020603050405020304" pitchFamily="18" charset="0"/>
                <a:cs typeface="Times New Roman" panose="02020603050405020304" pitchFamily="18" charset="0"/>
              </a:rPr>
              <a:t> Logistic </a:t>
            </a:r>
            <a:r>
              <a:rPr lang="en-US" sz="1800" dirty="0" err="1">
                <a:latin typeface="Times New Roman" panose="02020603050405020304" pitchFamily="18" charset="0"/>
                <a:cs typeface="Times New Roman" panose="02020603050405020304" pitchFamily="18" charset="0"/>
              </a:rPr>
              <a:t>cho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thấp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đáng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với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lệch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tăng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theo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a:t>
            </a: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15000"/>
              </a:lnSpc>
              <a:buFont typeface="Courier New" panose="02070309020205020404" pitchFamily="49" charset="0"/>
              <a:buChar char="-"/>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Sự</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chênh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lệch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này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thấy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0">
              <a:lnSpc>
                <a:spcPct val="115000"/>
              </a:lnSpc>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Trong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dài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ban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đầu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thể</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bị</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khuếch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đại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mạnh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gian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0">
              <a:lnSpc>
                <a:spcPct val="115000"/>
              </a:lnSpc>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RK4</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tối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ưu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mang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lại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tin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cậy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cao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kịch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bản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quy</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hoạch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dài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0">
              <a:lnSpc>
                <a:spcPct val="115000"/>
              </a:lnSpc>
            </a:pPr>
            <a:endParaRPr lang="en-US"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DB5E7FE-03CC-D4C1-EE3D-26713095FCC0}"/>
              </a:ext>
            </a:extLst>
          </p:cNvPr>
          <p:cNvGraphicFramePr>
            <a:graphicFrameLocks noGrp="1"/>
          </p:cNvGraphicFramePr>
          <p:nvPr>
            <p:extLst>
              <p:ext uri="{D42A27DB-BD31-4B8C-83A1-F6EECF244321}">
                <p14:modId xmlns:p14="http://schemas.microsoft.com/office/powerpoint/2010/main" val="615509067"/>
              </p:ext>
            </p:extLst>
          </p:nvPr>
        </p:nvGraphicFramePr>
        <p:xfrm>
          <a:off x="5851019" y="189607"/>
          <a:ext cx="2977243" cy="4738449"/>
        </p:xfrm>
        <a:graphic>
          <a:graphicData uri="http://schemas.openxmlformats.org/drawingml/2006/table">
            <a:tbl>
              <a:tblPr firstRow="1" firstCol="1" bandRow="1">
                <a:tableStyleId>{5C22544A-7EE6-4342-B048-85BDC9FD1C3A}</a:tableStyleId>
              </a:tblPr>
              <a:tblGrid>
                <a:gridCol w="509771">
                  <a:extLst>
                    <a:ext uri="{9D8B030D-6E8A-4147-A177-3AD203B41FA5}">
                      <a16:colId xmlns:a16="http://schemas.microsoft.com/office/drawing/2014/main" val="426507173"/>
                    </a:ext>
                  </a:extLst>
                </a:gridCol>
                <a:gridCol w="504656">
                  <a:extLst>
                    <a:ext uri="{9D8B030D-6E8A-4147-A177-3AD203B41FA5}">
                      <a16:colId xmlns:a16="http://schemas.microsoft.com/office/drawing/2014/main" val="758118826"/>
                    </a:ext>
                  </a:extLst>
                </a:gridCol>
                <a:gridCol w="709570">
                  <a:extLst>
                    <a:ext uri="{9D8B030D-6E8A-4147-A177-3AD203B41FA5}">
                      <a16:colId xmlns:a16="http://schemas.microsoft.com/office/drawing/2014/main" val="2311966103"/>
                    </a:ext>
                  </a:extLst>
                </a:gridCol>
                <a:gridCol w="567446">
                  <a:extLst>
                    <a:ext uri="{9D8B030D-6E8A-4147-A177-3AD203B41FA5}">
                      <a16:colId xmlns:a16="http://schemas.microsoft.com/office/drawing/2014/main" val="3623248403"/>
                    </a:ext>
                  </a:extLst>
                </a:gridCol>
                <a:gridCol w="685800">
                  <a:extLst>
                    <a:ext uri="{9D8B030D-6E8A-4147-A177-3AD203B41FA5}">
                      <a16:colId xmlns:a16="http://schemas.microsoft.com/office/drawing/2014/main" val="2166502933"/>
                    </a:ext>
                  </a:extLst>
                </a:gridCol>
              </a:tblGrid>
              <a:tr h="202339">
                <a:tc>
                  <a:txBody>
                    <a:bodyPr/>
                    <a:lstStyle/>
                    <a:p>
                      <a:pPr algn="ctr">
                        <a:lnSpc>
                          <a:spcPct val="115000"/>
                        </a:lnSpc>
                      </a:pPr>
                      <a:r>
                        <a:rPr lang="en-US" sz="900" kern="100" dirty="0" err="1">
                          <a:effectLst/>
                        </a:rPr>
                        <a:t>Năm</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err="1">
                          <a:effectLst/>
                        </a:rPr>
                        <a:t>Thực</a:t>
                      </a:r>
                      <a:r>
                        <a:rPr lang="en-US" sz="900" kern="100" dirty="0">
                          <a:effectLst/>
                        </a:rPr>
                        <a:t> </a:t>
                      </a:r>
                      <a:r>
                        <a:rPr lang="en-US" sz="900" kern="100" dirty="0" err="1">
                          <a:effectLst/>
                        </a:rPr>
                        <a:t>tế</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err="1">
                          <a:effectLst/>
                        </a:rPr>
                        <a:t>RK4</a:t>
                      </a:r>
                      <a:r>
                        <a:rPr lang="en-US" sz="900" kern="100" dirty="0">
                          <a:effectLst/>
                        </a:rPr>
                        <a:t> (</a:t>
                      </a:r>
                      <a:r>
                        <a:rPr lang="en-US" sz="900" kern="100" dirty="0" err="1">
                          <a:effectLst/>
                        </a:rPr>
                        <a:t>Triệu</a:t>
                      </a:r>
                      <a:r>
                        <a:rPr lang="en-US" sz="900" kern="100" dirty="0">
                          <a:effectLst/>
                        </a:rPr>
                        <a:t>)</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Exact (Triệu)</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Sai </a:t>
                      </a:r>
                      <a:r>
                        <a:rPr lang="en-US" sz="900" kern="100" dirty="0" err="1">
                          <a:effectLst/>
                        </a:rPr>
                        <a:t>số</a:t>
                      </a:r>
                      <a:r>
                        <a:rPr lang="en-US" sz="900" kern="100" dirty="0">
                          <a:effectLst/>
                        </a:rPr>
                        <a:t> </a:t>
                      </a:r>
                      <a:r>
                        <a:rPr lang="en-US" sz="900" kern="100" dirty="0" err="1">
                          <a:effectLst/>
                        </a:rPr>
                        <a:t>RK4</a:t>
                      </a:r>
                      <a:r>
                        <a:rPr lang="en-US" sz="900" kern="100" dirty="0">
                          <a:effectLst/>
                        </a:rPr>
                        <a:t> (%)</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extLst>
                  <a:ext uri="{0D108BD9-81ED-4DB2-BD59-A6C34878D82A}">
                    <a16:rowId xmlns:a16="http://schemas.microsoft.com/office/drawing/2014/main" val="4234746339"/>
                  </a:ext>
                </a:extLst>
              </a:tr>
              <a:tr h="97868">
                <a:tc>
                  <a:txBody>
                    <a:bodyPr/>
                    <a:lstStyle/>
                    <a:p>
                      <a:pPr algn="ctr">
                        <a:lnSpc>
                          <a:spcPct val="115000"/>
                        </a:lnSpc>
                      </a:pPr>
                      <a:r>
                        <a:rPr lang="en-US" sz="900" kern="100" dirty="0">
                          <a:effectLst/>
                        </a:rPr>
                        <a:t>2021</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98.935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98.855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96.038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0.080703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extLst>
                  <a:ext uri="{0D108BD9-81ED-4DB2-BD59-A6C34878D82A}">
                    <a16:rowId xmlns:a16="http://schemas.microsoft.com/office/drawing/2014/main" val="1147271765"/>
                  </a:ext>
                </a:extLst>
              </a:tr>
              <a:tr h="97868">
                <a:tc>
                  <a:txBody>
                    <a:bodyPr/>
                    <a:lstStyle/>
                    <a:p>
                      <a:pPr algn="ctr">
                        <a:lnSpc>
                          <a:spcPct val="115000"/>
                        </a:lnSpc>
                      </a:pPr>
                      <a:r>
                        <a:rPr lang="en-US" sz="900" kern="100" dirty="0">
                          <a:effectLst/>
                        </a:rPr>
                        <a:t>2022</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99.681</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99.825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96.576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0.144528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extLst>
                  <a:ext uri="{0D108BD9-81ED-4DB2-BD59-A6C34878D82A}">
                    <a16:rowId xmlns:a16="http://schemas.microsoft.com/office/drawing/2014/main" val="3803650626"/>
                  </a:ext>
                </a:extLst>
              </a:tr>
              <a:tr h="97868">
                <a:tc>
                  <a:txBody>
                    <a:bodyPr/>
                    <a:lstStyle/>
                    <a:p>
                      <a:pPr algn="ctr">
                        <a:lnSpc>
                          <a:spcPct val="115000"/>
                        </a:lnSpc>
                      </a:pPr>
                      <a:r>
                        <a:rPr lang="en-US" sz="900" kern="100" dirty="0">
                          <a:effectLst/>
                        </a:rPr>
                        <a:t>2023</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100.352</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100.783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97.091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0.429678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extLst>
                  <a:ext uri="{0D108BD9-81ED-4DB2-BD59-A6C34878D82A}">
                    <a16:rowId xmlns:a16="http://schemas.microsoft.com/office/drawing/2014/main" val="1527582161"/>
                  </a:ext>
                </a:extLst>
              </a:tr>
              <a:tr h="97868">
                <a:tc>
                  <a:txBody>
                    <a:bodyPr/>
                    <a:lstStyle/>
                    <a:p>
                      <a:pPr algn="ctr">
                        <a:lnSpc>
                          <a:spcPct val="115000"/>
                        </a:lnSpc>
                      </a:pPr>
                      <a:r>
                        <a:rPr lang="en-US" sz="900" kern="100">
                          <a:effectLst/>
                        </a:rPr>
                        <a:t>2024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100.988</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101.731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97.583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0.736025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extLst>
                  <a:ext uri="{0D108BD9-81ED-4DB2-BD59-A6C34878D82A}">
                    <a16:rowId xmlns:a16="http://schemas.microsoft.com/office/drawing/2014/main" val="2049325937"/>
                  </a:ext>
                </a:extLst>
              </a:tr>
              <a:tr h="97868">
                <a:tc>
                  <a:txBody>
                    <a:bodyPr/>
                    <a:lstStyle/>
                    <a:p>
                      <a:pPr algn="ctr">
                        <a:lnSpc>
                          <a:spcPct val="115000"/>
                        </a:lnSpc>
                      </a:pPr>
                      <a:r>
                        <a:rPr lang="en-US" sz="900" kern="100" dirty="0">
                          <a:effectLst/>
                        </a:rPr>
                        <a:t>2025</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102.667</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98.054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719343688"/>
                  </a:ext>
                </a:extLst>
              </a:tr>
              <a:tr h="97868">
                <a:tc>
                  <a:txBody>
                    <a:bodyPr/>
                    <a:lstStyle/>
                    <a:p>
                      <a:pPr algn="ctr">
                        <a:lnSpc>
                          <a:spcPct val="115000"/>
                        </a:lnSpc>
                      </a:pPr>
                      <a:r>
                        <a:rPr lang="en-US" sz="900" kern="100" dirty="0">
                          <a:effectLst/>
                        </a:rPr>
                        <a:t>2026</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103.592</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98.504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504969523"/>
                  </a:ext>
                </a:extLst>
              </a:tr>
              <a:tr h="97868">
                <a:tc>
                  <a:txBody>
                    <a:bodyPr/>
                    <a:lstStyle/>
                    <a:p>
                      <a:pPr algn="ctr">
                        <a:lnSpc>
                          <a:spcPct val="115000"/>
                        </a:lnSpc>
                      </a:pPr>
                      <a:r>
                        <a:rPr lang="en-US" sz="900" kern="100" dirty="0">
                          <a:effectLst/>
                        </a:rPr>
                        <a:t>2027</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104.505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98.934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220506808"/>
                  </a:ext>
                </a:extLst>
              </a:tr>
              <a:tr h="97868">
                <a:tc>
                  <a:txBody>
                    <a:bodyPr/>
                    <a:lstStyle/>
                    <a:p>
                      <a:pPr algn="ctr">
                        <a:lnSpc>
                          <a:spcPct val="115000"/>
                        </a:lnSpc>
                      </a:pPr>
                      <a:r>
                        <a:rPr lang="en-US" sz="900" kern="100">
                          <a:effectLst/>
                        </a:rPr>
                        <a:t>2028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105.406</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99.344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611713609"/>
                  </a:ext>
                </a:extLst>
              </a:tr>
              <a:tr h="97868">
                <a:tc>
                  <a:txBody>
                    <a:bodyPr/>
                    <a:lstStyle/>
                    <a:p>
                      <a:pPr algn="ctr">
                        <a:lnSpc>
                          <a:spcPct val="115000"/>
                        </a:lnSpc>
                      </a:pPr>
                      <a:r>
                        <a:rPr lang="en-US" sz="900" kern="100">
                          <a:effectLst/>
                        </a:rPr>
                        <a:t>2029</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106.295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99.736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126054755"/>
                  </a:ext>
                </a:extLst>
              </a:tr>
              <a:tr h="97868">
                <a:tc>
                  <a:txBody>
                    <a:bodyPr/>
                    <a:lstStyle/>
                    <a:p>
                      <a:pPr algn="ctr">
                        <a:lnSpc>
                          <a:spcPct val="115000"/>
                        </a:lnSpc>
                      </a:pPr>
                      <a:r>
                        <a:rPr lang="en-US" sz="900" kern="100">
                          <a:effectLst/>
                        </a:rPr>
                        <a:t>2030</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107.172</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100.11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833749583"/>
                  </a:ext>
                </a:extLst>
              </a:tr>
              <a:tr h="97868">
                <a:tc>
                  <a:txBody>
                    <a:bodyPr/>
                    <a:lstStyle/>
                    <a:p>
                      <a:pPr algn="ctr">
                        <a:lnSpc>
                          <a:spcPct val="115000"/>
                        </a:lnSpc>
                      </a:pPr>
                      <a:r>
                        <a:rPr lang="en-US" sz="900" kern="100">
                          <a:effectLst/>
                        </a:rPr>
                        <a:t>2031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108.036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100.466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474100861"/>
                  </a:ext>
                </a:extLst>
              </a:tr>
              <a:tr h="97868">
                <a:tc>
                  <a:txBody>
                    <a:bodyPr/>
                    <a:lstStyle/>
                    <a:p>
                      <a:pPr algn="ctr">
                        <a:lnSpc>
                          <a:spcPct val="115000"/>
                        </a:lnSpc>
                      </a:pPr>
                      <a:r>
                        <a:rPr lang="en-US" sz="900" kern="100">
                          <a:effectLst/>
                        </a:rPr>
                        <a:t>2032</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108.888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100.806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108216255"/>
                  </a:ext>
                </a:extLst>
              </a:tr>
              <a:tr h="97868">
                <a:tc>
                  <a:txBody>
                    <a:bodyPr/>
                    <a:lstStyle/>
                    <a:p>
                      <a:pPr algn="ctr">
                        <a:lnSpc>
                          <a:spcPct val="115000"/>
                        </a:lnSpc>
                      </a:pPr>
                      <a:r>
                        <a:rPr lang="en-US" sz="900" kern="100" dirty="0">
                          <a:effectLst/>
                        </a:rPr>
                        <a:t>2033</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109.727</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101.129</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158232446"/>
                  </a:ext>
                </a:extLst>
              </a:tr>
              <a:tr h="97868">
                <a:tc>
                  <a:txBody>
                    <a:bodyPr/>
                    <a:lstStyle/>
                    <a:p>
                      <a:pPr algn="ctr">
                        <a:lnSpc>
                          <a:spcPct val="115000"/>
                        </a:lnSpc>
                      </a:pPr>
                      <a:r>
                        <a:rPr lang="en-US" sz="900" kern="100">
                          <a:effectLst/>
                        </a:rPr>
                        <a:t>2034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110.553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101.438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500917272"/>
                  </a:ext>
                </a:extLst>
              </a:tr>
              <a:tr h="97868">
                <a:tc>
                  <a:txBody>
                    <a:bodyPr/>
                    <a:lstStyle/>
                    <a:p>
                      <a:pPr algn="ctr">
                        <a:lnSpc>
                          <a:spcPct val="115000"/>
                        </a:lnSpc>
                      </a:pPr>
                      <a:r>
                        <a:rPr lang="en-US" sz="900" kern="100">
                          <a:effectLst/>
                        </a:rPr>
                        <a:t>2035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111.366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101.731</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543855223"/>
                  </a:ext>
                </a:extLst>
              </a:tr>
              <a:tr h="97868">
                <a:tc>
                  <a:txBody>
                    <a:bodyPr/>
                    <a:lstStyle/>
                    <a:p>
                      <a:pPr algn="ctr">
                        <a:lnSpc>
                          <a:spcPct val="115000"/>
                        </a:lnSpc>
                      </a:pPr>
                      <a:r>
                        <a:rPr lang="en-US" sz="900" kern="100">
                          <a:effectLst/>
                        </a:rPr>
                        <a:t>2036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112.167</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102.011</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659875201"/>
                  </a:ext>
                </a:extLst>
              </a:tr>
              <a:tr h="97868">
                <a:tc>
                  <a:txBody>
                    <a:bodyPr/>
                    <a:lstStyle/>
                    <a:p>
                      <a:pPr algn="ctr">
                        <a:lnSpc>
                          <a:spcPct val="115000"/>
                        </a:lnSpc>
                      </a:pPr>
                      <a:r>
                        <a:rPr lang="en-US" sz="900" kern="100">
                          <a:effectLst/>
                        </a:rPr>
                        <a:t>2037</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112.954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102.277</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426971136"/>
                  </a:ext>
                </a:extLst>
              </a:tr>
              <a:tr h="97868">
                <a:tc>
                  <a:txBody>
                    <a:bodyPr/>
                    <a:lstStyle/>
                    <a:p>
                      <a:pPr algn="ctr">
                        <a:lnSpc>
                          <a:spcPct val="115000"/>
                        </a:lnSpc>
                      </a:pPr>
                      <a:r>
                        <a:rPr lang="en-US" sz="900" kern="100">
                          <a:effectLst/>
                        </a:rPr>
                        <a:t>2038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113.728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102.53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94297982"/>
                  </a:ext>
                </a:extLst>
              </a:tr>
              <a:tr h="97868">
                <a:tc>
                  <a:txBody>
                    <a:bodyPr/>
                    <a:lstStyle/>
                    <a:p>
                      <a:pPr algn="ctr">
                        <a:lnSpc>
                          <a:spcPct val="115000"/>
                        </a:lnSpc>
                      </a:pPr>
                      <a:r>
                        <a:rPr lang="en-US" sz="900" kern="100">
                          <a:effectLst/>
                        </a:rPr>
                        <a:t>2039</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114.49</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102.771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751907341"/>
                  </a:ext>
                </a:extLst>
              </a:tr>
              <a:tr h="97868">
                <a:tc>
                  <a:txBody>
                    <a:bodyPr/>
                    <a:lstStyle/>
                    <a:p>
                      <a:pPr algn="ctr">
                        <a:lnSpc>
                          <a:spcPct val="115000"/>
                        </a:lnSpc>
                      </a:pPr>
                      <a:r>
                        <a:rPr lang="en-US" sz="900" kern="100">
                          <a:effectLst/>
                        </a:rPr>
                        <a:t>2040</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115.238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123626220"/>
                  </a:ext>
                </a:extLst>
              </a:tr>
              <a:tr h="97868">
                <a:tc>
                  <a:txBody>
                    <a:bodyPr/>
                    <a:lstStyle/>
                    <a:p>
                      <a:pPr algn="ctr">
                        <a:lnSpc>
                          <a:spcPct val="115000"/>
                        </a:lnSpc>
                      </a:pPr>
                      <a:r>
                        <a:rPr lang="en-US" sz="900" kern="100">
                          <a:effectLst/>
                        </a:rPr>
                        <a:t>2041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115.973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103.218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16477667"/>
                  </a:ext>
                </a:extLst>
              </a:tr>
              <a:tr h="97868">
                <a:tc>
                  <a:txBody>
                    <a:bodyPr/>
                    <a:lstStyle/>
                    <a:p>
                      <a:pPr algn="ctr">
                        <a:lnSpc>
                          <a:spcPct val="115000"/>
                        </a:lnSpc>
                      </a:pPr>
                      <a:r>
                        <a:rPr lang="en-US" sz="900" kern="100">
                          <a:effectLst/>
                        </a:rPr>
                        <a:t>2042</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116.695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103.425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725096878"/>
                  </a:ext>
                </a:extLst>
              </a:tr>
              <a:tr h="97868">
                <a:tc>
                  <a:txBody>
                    <a:bodyPr/>
                    <a:lstStyle/>
                    <a:p>
                      <a:pPr algn="ctr">
                        <a:lnSpc>
                          <a:spcPct val="115000"/>
                        </a:lnSpc>
                      </a:pPr>
                      <a:r>
                        <a:rPr lang="en-US" sz="900" kern="100">
                          <a:effectLst/>
                        </a:rPr>
                        <a:t>2043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117.404</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103.622</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1728756000"/>
                  </a:ext>
                </a:extLst>
              </a:tr>
              <a:tr h="97868">
                <a:tc>
                  <a:txBody>
                    <a:bodyPr/>
                    <a:lstStyle/>
                    <a:p>
                      <a:pPr algn="ctr">
                        <a:lnSpc>
                          <a:spcPct val="115000"/>
                        </a:lnSpc>
                      </a:pPr>
                      <a:r>
                        <a:rPr lang="en-US" sz="900" kern="100" dirty="0">
                          <a:effectLst/>
                        </a:rPr>
                        <a:t>2044</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118.1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103.809</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094996236"/>
                  </a:ext>
                </a:extLst>
              </a:tr>
              <a:tr h="97868">
                <a:tc>
                  <a:txBody>
                    <a:bodyPr/>
                    <a:lstStyle/>
                    <a:p>
                      <a:pPr algn="ctr">
                        <a:lnSpc>
                          <a:spcPct val="115000"/>
                        </a:lnSpc>
                      </a:pPr>
                      <a:r>
                        <a:rPr lang="en-US" sz="900" kern="100" dirty="0">
                          <a:effectLst/>
                        </a:rPr>
                        <a:t>2045</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118.783</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103.987</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938052503"/>
                  </a:ext>
                </a:extLst>
              </a:tr>
              <a:tr h="97868">
                <a:tc>
                  <a:txBody>
                    <a:bodyPr/>
                    <a:lstStyle/>
                    <a:p>
                      <a:pPr algn="ctr">
                        <a:lnSpc>
                          <a:spcPct val="115000"/>
                        </a:lnSpc>
                      </a:pPr>
                      <a:r>
                        <a:rPr lang="en-US" sz="900" kern="100" dirty="0">
                          <a:effectLst/>
                        </a:rPr>
                        <a:t>2046</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119.453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104.156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462303326"/>
                  </a:ext>
                </a:extLst>
              </a:tr>
              <a:tr h="97868">
                <a:tc>
                  <a:txBody>
                    <a:bodyPr/>
                    <a:lstStyle/>
                    <a:p>
                      <a:pPr algn="ctr">
                        <a:lnSpc>
                          <a:spcPct val="115000"/>
                        </a:lnSpc>
                      </a:pPr>
                      <a:r>
                        <a:rPr lang="en-US" sz="900" kern="100">
                          <a:effectLst/>
                        </a:rPr>
                        <a:t>2047</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120.11</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104.316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874452227"/>
                  </a:ext>
                </a:extLst>
              </a:tr>
              <a:tr h="97868">
                <a:tc>
                  <a:txBody>
                    <a:bodyPr/>
                    <a:lstStyle/>
                    <a:p>
                      <a:pPr algn="ctr">
                        <a:lnSpc>
                          <a:spcPct val="115000"/>
                        </a:lnSpc>
                      </a:pPr>
                      <a:r>
                        <a:rPr lang="en-US" sz="900" kern="100">
                          <a:effectLst/>
                        </a:rPr>
                        <a:t>2048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120.755</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104.468</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2460729525"/>
                  </a:ext>
                </a:extLst>
              </a:tr>
              <a:tr h="97868">
                <a:tc>
                  <a:txBody>
                    <a:bodyPr/>
                    <a:lstStyle/>
                    <a:p>
                      <a:pPr algn="ctr">
                        <a:lnSpc>
                          <a:spcPct val="115000"/>
                        </a:lnSpc>
                      </a:pPr>
                      <a:r>
                        <a:rPr lang="en-US" sz="900" kern="100">
                          <a:effectLst/>
                        </a:rPr>
                        <a:t>2049</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121.386</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a:effectLst/>
                        </a:rPr>
                        <a:t>104.613</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128896520"/>
                  </a:ext>
                </a:extLst>
              </a:tr>
              <a:tr h="97868">
                <a:tc>
                  <a:txBody>
                    <a:bodyPr/>
                    <a:lstStyle/>
                    <a:p>
                      <a:pPr algn="ctr">
                        <a:lnSpc>
                          <a:spcPct val="115000"/>
                        </a:lnSpc>
                      </a:pPr>
                      <a:r>
                        <a:rPr lang="en-US" sz="900" kern="100">
                          <a:effectLst/>
                        </a:rPr>
                        <a:t>2050</a:t>
                      </a:r>
                      <a:endParaRPr lang="en-US" sz="9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a:effectLst/>
                        <a:latin typeface="Times New Roman" panose="02020603050405020304" pitchFamily="18"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122.005</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lnSpc>
                          <a:spcPct val="115000"/>
                        </a:lnSpc>
                      </a:pPr>
                      <a:r>
                        <a:rPr lang="en-US" sz="900" kern="100" dirty="0">
                          <a:effectLst/>
                        </a:rPr>
                        <a:t>104.75</a:t>
                      </a:r>
                      <a:endParaRPr lang="en-US" sz="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17641" marR="17641" marT="0" marB="0"/>
                </a:tc>
                <a:tc>
                  <a:txBody>
                    <a:bodyPr/>
                    <a:lstStyle/>
                    <a:p>
                      <a:pPr algn="ctr"/>
                      <a:endParaRPr lang="en-US" sz="900" kern="100" dirty="0">
                        <a:effectLst/>
                        <a:latin typeface="Times New Roman" panose="02020603050405020304" pitchFamily="18" charset="0"/>
                        <a:cs typeface="Times New Roman" panose="02020603050405020304" pitchFamily="18" charset="0"/>
                      </a:endParaRPr>
                    </a:p>
                  </a:txBody>
                  <a:tcPr marL="17641" marR="17641" marT="0" marB="0"/>
                </a:tc>
                <a:extLst>
                  <a:ext uri="{0D108BD9-81ED-4DB2-BD59-A6C34878D82A}">
                    <a16:rowId xmlns:a16="http://schemas.microsoft.com/office/drawing/2014/main" val="33520824"/>
                  </a:ext>
                </a:extLst>
              </a:tr>
            </a:tbl>
          </a:graphicData>
        </a:graphic>
      </p:graphicFrame>
    </p:spTree>
    <p:extLst>
      <p:ext uri="{BB962C8B-B14F-4D97-AF65-F5344CB8AC3E}">
        <p14:creationId xmlns:p14="http://schemas.microsoft.com/office/powerpoint/2010/main" val="239684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sp>
        <p:nvSpPr>
          <p:cNvPr id="5" name="TextBox 4">
            <a:extLst>
              <a:ext uri="{FF2B5EF4-FFF2-40B4-BE49-F238E27FC236}">
                <a16:creationId xmlns:a16="http://schemas.microsoft.com/office/drawing/2014/main" id="{A67500A0-7C95-7CB8-87B2-0807419D6326}"/>
              </a:ext>
            </a:extLst>
          </p:cNvPr>
          <p:cNvSpPr txBox="1"/>
          <p:nvPr/>
        </p:nvSpPr>
        <p:spPr>
          <a:xfrm>
            <a:off x="591240" y="710422"/>
            <a:ext cx="46169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6.1.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hình</a:t>
            </a:r>
            <a:r>
              <a:rPr lang="en-US" dirty="0">
                <a:latin typeface="Times New Roman" panose="02020603050405020304" pitchFamily="18" charset="0"/>
                <a:cs typeface="Times New Roman" panose="02020603050405020304" pitchFamily="18" charset="0"/>
              </a:rPr>
              <a:t> Logistic</a:t>
            </a:r>
          </a:p>
        </p:txBody>
      </p:sp>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349027" y="16329"/>
            <a:ext cx="790024" cy="794649"/>
          </a:xfrm>
          <a:prstGeom prst="rect">
            <a:avLst/>
          </a:prstGeom>
        </p:spPr>
      </p:pic>
      <p:pic>
        <p:nvPicPr>
          <p:cNvPr id="6" name="Picture 5">
            <a:extLst>
              <a:ext uri="{FF2B5EF4-FFF2-40B4-BE49-F238E27FC236}">
                <a16:creationId xmlns:a16="http://schemas.microsoft.com/office/drawing/2014/main" id="{8C0FBF72-FF21-10C1-EFC7-899BC9CE1D18}"/>
              </a:ext>
            </a:extLst>
          </p:cNvPr>
          <p:cNvPicPr>
            <a:picLocks noChangeAspect="1"/>
          </p:cNvPicPr>
          <p:nvPr/>
        </p:nvPicPr>
        <p:blipFill>
          <a:blip r:embed="rId4"/>
          <a:stretch>
            <a:fillRect/>
          </a:stretch>
        </p:blipFill>
        <p:spPr>
          <a:xfrm>
            <a:off x="4419600" y="1241297"/>
            <a:ext cx="4572000" cy="2833097"/>
          </a:xfrm>
          <a:prstGeom prst="rect">
            <a:avLst/>
          </a:prstGeom>
        </p:spPr>
      </p:pic>
      <p:sp>
        <p:nvSpPr>
          <p:cNvPr id="7" name="TextBox 6">
            <a:extLst>
              <a:ext uri="{FF2B5EF4-FFF2-40B4-BE49-F238E27FC236}">
                <a16:creationId xmlns:a16="http://schemas.microsoft.com/office/drawing/2014/main" id="{C1AA286D-EA6A-7B56-077C-4E361DF3C248}"/>
              </a:ext>
            </a:extLst>
          </p:cNvPr>
          <p:cNvSpPr txBox="1"/>
          <p:nvPr/>
        </p:nvSpPr>
        <p:spPr>
          <a:xfrm>
            <a:off x="591240" y="1020706"/>
            <a:ext cx="4616902" cy="369332"/>
          </a:xfrm>
          <a:prstGeom prst="rect">
            <a:avLst/>
          </a:prstGeom>
          <a:noFill/>
        </p:spPr>
        <p:txBody>
          <a:bodyPr wrap="square">
            <a:spAutoFit/>
          </a:bodyPr>
          <a:lstStyle/>
          <a:p>
            <a:r>
              <a:rPr lang="en-US" i="1" dirty="0" err="1">
                <a:latin typeface="Times New Roman" panose="02020603050405020304" pitchFamily="18" charset="0"/>
                <a:cs typeface="Times New Roman" panose="02020603050405020304" pitchFamily="18" charset="0"/>
              </a:rPr>
              <a:t>Đánh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gia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mô</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hình</a:t>
            </a:r>
            <a:endParaRPr lang="en-US" i="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07F9B5E-9DE7-0ABA-F49F-36B064A85266}"/>
              </a:ext>
            </a:extLst>
          </p:cNvPr>
          <p:cNvSpPr txBox="1"/>
          <p:nvPr/>
        </p:nvSpPr>
        <p:spPr>
          <a:xfrm>
            <a:off x="583678" y="1377581"/>
            <a:ext cx="3835922" cy="2618024"/>
          </a:xfrm>
          <a:prstGeom prst="rect">
            <a:avLst/>
          </a:prstGeom>
          <a:noFill/>
        </p:spPr>
        <p:txBody>
          <a:bodyPr wrap="square">
            <a:spAutoFit/>
          </a:bodyPr>
          <a:lstStyle/>
          <a:p>
            <a:pPr marL="342900" lvl="0" indent="-342900">
              <a:lnSpc>
                <a:spcPct val="115000"/>
              </a:lnSpc>
              <a:buSzPts val="1000"/>
              <a:buFont typeface="Courier New" panose="02070309020205020404" pitchFamily="49" charset="0"/>
              <a:buChar char="-"/>
              <a:tabLst>
                <a:tab pos="457200" algn="l"/>
              </a:tabLst>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Logistic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phù</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tả</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xu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thế</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trưởng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Việt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Nam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trung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dài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hạn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15000"/>
              </a:lnSpc>
              <a:buSzPts val="1000"/>
              <a:buFont typeface="Courier New" panose="02070309020205020404" pitchFamily="49" charset="0"/>
              <a:buChar char="-"/>
              <a:tabLst>
                <a:tab pos="457200" algn="l"/>
              </a:tabLst>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Runge–</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Kutta</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bậc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4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giúp</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ổn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phụ</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thuộc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vào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dạng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tường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minh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15000"/>
              </a:lnSpc>
              <a:buSzPts val="1000"/>
              <a:buFont typeface="Courier New" panose="02070309020205020404" pitchFamily="49" charset="0"/>
              <a:buChar char="-"/>
              <a:tabLst>
                <a:tab pos="457200" algn="l"/>
              </a:tabLst>
            </a:pP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tham</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bình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tối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thiểu</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phi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tuyến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đóng</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vai</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trò</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quyết</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đến</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chính</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xác</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dự</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387170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 </a:t>
            </a:r>
            <a:r>
              <a:rPr lang="en-US" sz="2800" dirty="0" err="1"/>
              <a:t>Kết</a:t>
            </a:r>
            <a:r>
              <a:rPr lang="en-US" sz="2800" dirty="0"/>
              <a:t> quả</a:t>
            </a:r>
            <a:endParaRPr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sp>
        <p:nvSpPr>
          <p:cNvPr id="5" name="TextBox 4">
            <a:extLst>
              <a:ext uri="{FF2B5EF4-FFF2-40B4-BE49-F238E27FC236}">
                <a16:creationId xmlns:a16="http://schemas.microsoft.com/office/drawing/2014/main" id="{A67500A0-7C95-7CB8-87B2-0807419D6326}"/>
              </a:ext>
            </a:extLst>
          </p:cNvPr>
          <p:cNvSpPr txBox="1"/>
          <p:nvPr/>
        </p:nvSpPr>
        <p:spPr>
          <a:xfrm>
            <a:off x="591240" y="710422"/>
            <a:ext cx="461690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6.2.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Lotka</a:t>
            </a:r>
            <a:r>
              <a:rPr lang="en-US" dirty="0">
                <a:latin typeface="Times New Roman" panose="02020603050405020304" pitchFamily="18" charset="0"/>
                <a:cs typeface="Times New Roman" panose="02020603050405020304" pitchFamily="18" charset="0"/>
              </a:rPr>
              <a:t> – Volterra	</a:t>
            </a:r>
          </a:p>
        </p:txBody>
      </p:sp>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349027" y="16329"/>
            <a:ext cx="790024" cy="794649"/>
          </a:xfrm>
          <a:prstGeom prst="rect">
            <a:avLst/>
          </a:prstGeom>
        </p:spPr>
      </p:pic>
      <p:pic>
        <p:nvPicPr>
          <p:cNvPr id="9" name="Picture 8">
            <a:extLst>
              <a:ext uri="{FF2B5EF4-FFF2-40B4-BE49-F238E27FC236}">
                <a16:creationId xmlns:a16="http://schemas.microsoft.com/office/drawing/2014/main" id="{29F1C5A5-07A8-112B-6C5B-0F402B9E112D}"/>
              </a:ext>
            </a:extLst>
          </p:cNvPr>
          <p:cNvPicPr>
            <a:picLocks noChangeAspect="1"/>
          </p:cNvPicPr>
          <p:nvPr/>
        </p:nvPicPr>
        <p:blipFill>
          <a:blip r:embed="rId4"/>
          <a:stretch>
            <a:fillRect/>
          </a:stretch>
        </p:blipFill>
        <p:spPr>
          <a:xfrm>
            <a:off x="1803374" y="1053819"/>
            <a:ext cx="5791200" cy="1908831"/>
          </a:xfrm>
          <a:prstGeom prst="rect">
            <a:avLst/>
          </a:prstGeom>
        </p:spPr>
      </p:pic>
      <p:sp>
        <p:nvSpPr>
          <p:cNvPr id="12" name="TextBox 11">
            <a:extLst>
              <a:ext uri="{FF2B5EF4-FFF2-40B4-BE49-F238E27FC236}">
                <a16:creationId xmlns:a16="http://schemas.microsoft.com/office/drawing/2014/main" id="{135BD7C7-3741-3442-B0CE-7200E35B2F3E}"/>
              </a:ext>
            </a:extLst>
          </p:cNvPr>
          <p:cNvSpPr txBox="1"/>
          <p:nvPr/>
        </p:nvSpPr>
        <p:spPr>
          <a:xfrm>
            <a:off x="715484" y="3118110"/>
            <a:ext cx="8428515" cy="2151358"/>
          </a:xfrm>
          <a:prstGeom prst="rect">
            <a:avLst/>
          </a:prstGeom>
          <a:noFill/>
        </p:spPr>
        <p:txBody>
          <a:bodyPr wrap="square">
            <a:spAutoFit/>
          </a:bodyPr>
          <a:lstStyle/>
          <a:p>
            <a:r>
              <a:rPr lang="en-US" sz="1400" i="1" dirty="0" err="1">
                <a:latin typeface="Times New Roman" panose="02020603050405020304" pitchFamily="18" charset="0"/>
                <a:cs typeface="Times New Roman" panose="02020603050405020304" pitchFamily="18" charset="0"/>
              </a:rPr>
              <a:t>Đánh</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gia</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mô</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hình</a:t>
            </a:r>
            <a:r>
              <a:rPr lang="en-US" sz="1400" i="1" dirty="0">
                <a:latin typeface="Times New Roman" panose="02020603050405020304" pitchFamily="18" charset="0"/>
                <a:cs typeface="Times New Roman" panose="02020603050405020304" pitchFamily="18" charset="0"/>
              </a:rPr>
              <a:t>:</a:t>
            </a:r>
          </a:p>
          <a:p>
            <a:pPr marL="342900" lvl="0" indent="-342900">
              <a:lnSpc>
                <a:spcPct val="115000"/>
              </a:lnSpc>
              <a:buFont typeface="Courier New" panose="02070309020205020404" pitchFamily="49" charset="0"/>
              <a:buChar char="-"/>
            </a:pP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giống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Logistic,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Lotka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–Volterra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tả</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sự</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tác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giữa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nguyên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do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dữ</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liệu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thực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tế</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ứng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đánh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giá</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lượng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bằng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MAPE</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15000"/>
              </a:lnSpc>
              <a:buFont typeface="Courier New" panose="02070309020205020404" pitchFamily="49" charset="0"/>
              <a:buChar char="-"/>
            </a:pP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Mặc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dù</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mang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tính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định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tính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mô</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Lotka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–Volterra:</a:t>
            </a:r>
          </a:p>
          <a:p>
            <a:pPr lvl="0">
              <a:lnSpc>
                <a:spcPct val="115000"/>
              </a:lnSpc>
            </a:pPr>
            <a:r>
              <a:rPr lang="en-US" sz="1800" b="0" i="0" baseline="0" dirty="0">
                <a:ln>
                  <a:noFill/>
                </a:ln>
                <a:solidFill>
                  <a:srgbClr val="000000"/>
                </a:solidFill>
                <a:effectLst/>
                <a:latin typeface="Times New Roman" panose="02020603050405020304" pitchFamily="18" charset="0"/>
                <a:cs typeface="Times New Roman" panose="02020603050405020304" pitchFamily="18" charset="0"/>
              </a:rPr>
              <a:t>     ◦ </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Minh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họa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rõ</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ràng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mối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quan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hai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chiều</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giữa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dân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số</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tài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nguyên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lvl="0">
              <a:lnSpc>
                <a:spcPct val="115000"/>
              </a:lnSpc>
            </a:pPr>
            <a:r>
              <a:rPr lang="en-US" sz="1800" b="0" i="0" baseline="0" dirty="0">
                <a:ln>
                  <a:noFill/>
                </a:ln>
                <a:solidFill>
                  <a:srgbClr val="000000"/>
                </a:solidFill>
                <a:effectLst/>
                <a:latin typeface="Times New Roman" panose="02020603050405020304" pitchFamily="18" charset="0"/>
                <a:cs typeface="Times New Roman" panose="02020603050405020304" pitchFamily="18" charset="0"/>
              </a:rPr>
              <a:t>     ◦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Chứng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minh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khả</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năng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của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pháp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Runge–</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Kutta</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bậc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4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giải</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hệ</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phương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vi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phân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phi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tuyến</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ghép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cặp</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nghiệm</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tường</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400" kern="100" dirty="0" err="1">
                <a:effectLst/>
                <a:latin typeface="Times New Roman" panose="02020603050405020304" pitchFamily="18" charset="0"/>
                <a:ea typeface="Aptos" panose="020B0004020202020204" pitchFamily="34" charset="0"/>
                <a:cs typeface="Times New Roman" panose="02020603050405020304" pitchFamily="18" charset="0"/>
              </a:rPr>
              <a:t>minh</a:t>
            </a: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07" y="-97964"/>
            <a:ext cx="7675964" cy="646843"/>
          </a:xfrm>
          <a:prstGeom prst="rect">
            <a:avLst/>
          </a:prstGeom>
        </p:spPr>
        <p:txBody>
          <a:bodyPr vert="horz" wrap="square" lIns="0" tIns="213867" rIns="0" bIns="0" rtlCol="0">
            <a:spAutoFit/>
          </a:bodyPr>
          <a:lstStyle/>
          <a:p>
            <a:pPr marL="310515">
              <a:lnSpc>
                <a:spcPct val="100000"/>
              </a:lnSpc>
              <a:spcBef>
                <a:spcPts val="100"/>
              </a:spcBef>
            </a:pPr>
            <a:r>
              <a:rPr lang="en-US" sz="2800" dirty="0"/>
              <a:t>VII. </a:t>
            </a:r>
            <a:r>
              <a:rPr lang="en-US" sz="2800" dirty="0" err="1"/>
              <a:t>Kết</a:t>
            </a:r>
            <a:r>
              <a:rPr lang="en-US" sz="2800" dirty="0"/>
              <a:t> </a:t>
            </a:r>
            <a:r>
              <a:rPr lang="en-US" sz="2800" dirty="0" err="1"/>
              <a:t>luận</a:t>
            </a:r>
            <a:endParaRPr lang="en-US" sz="2800" dirty="0"/>
          </a:p>
        </p:txBody>
      </p:sp>
      <p:sp>
        <p:nvSpPr>
          <p:cNvPr id="3" name="object 3"/>
          <p:cNvSpPr/>
          <p:nvPr/>
        </p:nvSpPr>
        <p:spPr>
          <a:xfrm>
            <a:off x="688632" y="672822"/>
            <a:ext cx="8020684" cy="0"/>
          </a:xfrm>
          <a:custGeom>
            <a:avLst/>
            <a:gdLst/>
            <a:ahLst/>
            <a:cxnLst/>
            <a:rect l="l" t="t" r="r" b="b"/>
            <a:pathLst>
              <a:path w="8020684">
                <a:moveTo>
                  <a:pt x="0" y="0"/>
                </a:moveTo>
                <a:lnTo>
                  <a:pt x="8020499" y="0"/>
                </a:lnTo>
              </a:path>
            </a:pathLst>
          </a:custGeom>
          <a:ln w="19049">
            <a:solidFill>
              <a:srgbClr val="4285F4"/>
            </a:solidFill>
          </a:ln>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17780" rIns="0" bIns="0" rtlCol="0">
            <a:spAutoFit/>
          </a:bodyPr>
          <a:lstStyle/>
          <a:p>
            <a:pPr marL="12700">
              <a:lnSpc>
                <a:spcPct val="100000"/>
              </a:lnSpc>
              <a:spcBef>
                <a:spcPts val="140"/>
              </a:spcBef>
            </a:pPr>
            <a:r>
              <a:rPr dirty="0"/>
              <a:t>FIT-</a:t>
            </a:r>
            <a:r>
              <a:rPr spc="40" dirty="0"/>
              <a:t>CS</a:t>
            </a:r>
          </a:p>
        </p:txBody>
      </p:sp>
      <p:sp>
        <p:nvSpPr>
          <p:cNvPr id="11" name="object 11"/>
          <p:cNvSpPr txBox="1">
            <a:spLocks noGrp="1"/>
          </p:cNvSpPr>
          <p:nvPr>
            <p:ph type="ftr" sz="quarter" idx="5"/>
          </p:nvPr>
        </p:nvSpPr>
        <p:spPr>
          <a:prstGeom prst="rect">
            <a:avLst/>
          </a:prstGeom>
        </p:spPr>
        <p:txBody>
          <a:bodyPr vert="horz" wrap="square" lIns="0" tIns="17780" rIns="0" bIns="0" rtlCol="0">
            <a:spAutoFit/>
          </a:bodyPr>
          <a:lstStyle/>
          <a:p>
            <a:pPr marL="12700">
              <a:lnSpc>
                <a:spcPct val="100000"/>
              </a:lnSpc>
              <a:spcBef>
                <a:spcPts val="140"/>
              </a:spcBef>
            </a:pPr>
            <a:r>
              <a:rPr dirty="0"/>
              <a:t>INT3405</a:t>
            </a:r>
            <a:r>
              <a:rPr spc="50" dirty="0"/>
              <a:t> </a:t>
            </a:r>
            <a:r>
              <a:rPr spc="55" dirty="0"/>
              <a:t>- </a:t>
            </a:r>
            <a:r>
              <a:rPr spc="10" dirty="0"/>
              <a:t>Machine</a:t>
            </a:r>
            <a:r>
              <a:rPr spc="55" dirty="0"/>
              <a:t> </a:t>
            </a:r>
            <a:r>
              <a:rPr spc="-10" dirty="0"/>
              <a:t>Learning</a:t>
            </a:r>
          </a:p>
        </p:txBody>
      </p:sp>
      <p:pic>
        <p:nvPicPr>
          <p:cNvPr id="13" name="Picture 12" descr="Happy Bee">
            <a:extLst>
              <a:ext uri="{FF2B5EF4-FFF2-40B4-BE49-F238E27FC236}">
                <a16:creationId xmlns:a16="http://schemas.microsoft.com/office/drawing/2014/main" id="{47C71BD6-A588-546A-DBB7-787FFE7D73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5" y="4095750"/>
            <a:ext cx="926400" cy="926400"/>
          </a:xfrm>
          <a:prstGeom prst="rect">
            <a:avLst/>
          </a:prstGeom>
        </p:spPr>
      </p:pic>
      <p:pic>
        <p:nvPicPr>
          <p:cNvPr id="16" name="object 10">
            <a:extLst>
              <a:ext uri="{FF2B5EF4-FFF2-40B4-BE49-F238E27FC236}">
                <a16:creationId xmlns:a16="http://schemas.microsoft.com/office/drawing/2014/main" id="{EB7A13B8-0DE3-EB67-AE72-73F2DC5507D9}"/>
              </a:ext>
            </a:extLst>
          </p:cNvPr>
          <p:cNvPicPr/>
          <p:nvPr/>
        </p:nvPicPr>
        <p:blipFill>
          <a:blip r:embed="rId3" cstate="print"/>
          <a:stretch>
            <a:fillRect/>
          </a:stretch>
        </p:blipFill>
        <p:spPr>
          <a:xfrm>
            <a:off x="8349027" y="16329"/>
            <a:ext cx="790024" cy="794649"/>
          </a:xfrm>
          <a:prstGeom prst="rect">
            <a:avLst/>
          </a:prstGeom>
        </p:spPr>
      </p:pic>
      <p:pic>
        <p:nvPicPr>
          <p:cNvPr id="1026" name="Picture 2">
            <a:extLst>
              <a:ext uri="{FF2B5EF4-FFF2-40B4-BE49-F238E27FC236}">
                <a16:creationId xmlns:a16="http://schemas.microsoft.com/office/drawing/2014/main" id="{EC55ABAC-496B-2E8F-0E8C-F9AEE97ED2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940" y="817298"/>
            <a:ext cx="3277156" cy="218289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EA2BE03-BC8B-712C-6ADB-72578AFE109C}"/>
              </a:ext>
            </a:extLst>
          </p:cNvPr>
          <p:cNvSpPr txBox="1"/>
          <p:nvPr/>
        </p:nvSpPr>
        <p:spPr>
          <a:xfrm>
            <a:off x="610940" y="656940"/>
            <a:ext cx="3225930" cy="2708434"/>
          </a:xfrm>
          <a:prstGeom prst="rect">
            <a:avLst/>
          </a:prstGeom>
          <a:noFill/>
        </p:spPr>
        <p:txBody>
          <a:bodyPr wrap="square">
            <a:spAutoFit/>
          </a:bodyPr>
          <a:lstStyle/>
          <a:p>
            <a:pPr marL="285750" indent="-285750" rtl="0">
              <a:spcBef>
                <a:spcPts val="0"/>
              </a:spcBef>
              <a:spcAft>
                <a:spcPts val="0"/>
              </a:spcAft>
              <a:buFont typeface="Courier New" panose="02070309020205020404" pitchFamily="49" charset="0"/>
              <a:buChar char="-"/>
            </a:pPr>
            <a:endParaRPr lang="en-US" i="0" u="none" strike="noStrike" dirty="0">
              <a:solidFill>
                <a:srgbClr val="005696"/>
              </a:solidFill>
              <a:latin typeface="Montserrat" panose="00000500000000000000" pitchFamily="2" charset="0"/>
            </a:endParaRPr>
          </a:p>
          <a:p>
            <a:pPr rtl="0">
              <a:spcBef>
                <a:spcPts val="0"/>
              </a:spcBef>
              <a:spcAft>
                <a:spcPts val="0"/>
              </a:spcAft>
            </a:pPr>
            <a:r>
              <a:rPr lang="vi-VN" b="1" i="0" u="none" strike="noStrike" dirty="0">
                <a:solidFill>
                  <a:schemeClr val="tx1"/>
                </a:solidFill>
                <a:effectLst/>
                <a:latin typeface="+mj-lt"/>
              </a:rPr>
              <a:t>7.1. Ưu điểm</a:t>
            </a:r>
            <a:endParaRPr lang="en-US" i="0" u="none" strike="noStrike" dirty="0">
              <a:solidFill>
                <a:schemeClr val="tx1"/>
              </a:solidFill>
              <a:latin typeface="+mj-lt"/>
            </a:endParaRPr>
          </a:p>
          <a:p>
            <a:pPr marL="285750" indent="-285750" rtl="0">
              <a:spcBef>
                <a:spcPts val="0"/>
              </a:spcBef>
              <a:spcAft>
                <a:spcPts val="0"/>
              </a:spcAft>
              <a:buFont typeface="Courier New" panose="02070309020205020404" pitchFamily="49" charset="0"/>
              <a:buChar char="-"/>
            </a:pPr>
            <a:r>
              <a:rPr lang="vi-VN" sz="1400" b="0" i="0" u="none" strike="noStrike" dirty="0">
                <a:solidFill>
                  <a:schemeClr val="tx1"/>
                </a:solidFill>
                <a:effectLst/>
                <a:latin typeface="+mj-lt"/>
              </a:rPr>
              <a:t>Hệ thống mô hình hợp lý</a:t>
            </a:r>
            <a:endParaRPr lang="en-US" sz="1400" b="0" i="0" u="none" strike="noStrike" dirty="0">
              <a:solidFill>
                <a:schemeClr val="tx1"/>
              </a:solidFill>
              <a:effectLst/>
              <a:latin typeface="+mj-lt"/>
            </a:endParaRPr>
          </a:p>
          <a:p>
            <a:pPr marL="285750" indent="-285750" rtl="0">
              <a:spcBef>
                <a:spcPts val="0"/>
              </a:spcBef>
              <a:spcAft>
                <a:spcPts val="0"/>
              </a:spcAft>
              <a:buFont typeface="Courier New" panose="02070309020205020404" pitchFamily="49" charset="0"/>
              <a:buChar char="-"/>
            </a:pPr>
            <a:r>
              <a:rPr lang="en-US" sz="1400" dirty="0" err="1">
                <a:solidFill>
                  <a:schemeClr val="tx1"/>
                </a:solidFill>
                <a:latin typeface="Times New Roman" panose="02020603050405020304" pitchFamily="18" charset="0"/>
                <a:cs typeface="Times New Roman" panose="02020603050405020304" pitchFamily="18" charset="0"/>
              </a:rPr>
              <a:t>Ứng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dụng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hiệu</a:t>
            </a:r>
            <a:r>
              <a:rPr lang="en-US" sz="1400" dirty="0">
                <a:solidFill>
                  <a:schemeClr val="tx1"/>
                </a:solidFill>
                <a:latin typeface="Times New Roman" panose="02020603050405020304" pitchFamily="18" charset="0"/>
                <a:cs typeface="Times New Roman" panose="02020603050405020304" pitchFamily="18" charset="0"/>
              </a:rPr>
              <a:t> quả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pháp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giải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sô</a:t>
            </a:r>
            <a:r>
              <a:rPr lang="en-US" sz="1400" dirty="0">
                <a:solidFill>
                  <a:schemeClr val="tx1"/>
                </a:solidFill>
                <a:latin typeface="Times New Roman" panose="02020603050405020304" pitchFamily="18" charset="0"/>
                <a:cs typeface="Times New Roman" panose="02020603050405020304" pitchFamily="18" charset="0"/>
              </a:rPr>
              <a:t>́.</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en-US" sz="1400" dirty="0">
                <a:solidFill>
                  <a:schemeClr val="tx1"/>
                </a:solidFill>
                <a:latin typeface="+mj-lt"/>
              </a:rPr>
              <a:t>K</a:t>
            </a:r>
            <a:r>
              <a:rPr lang="vi-VN" sz="1400" b="0" i="0" u="none" strike="noStrike" dirty="0">
                <a:solidFill>
                  <a:schemeClr val="tx1"/>
                </a:solidFill>
                <a:effectLst/>
                <a:latin typeface="+mj-lt"/>
              </a:rPr>
              <a:t>iểm chứng định lượng bằng MAPE. </a:t>
            </a:r>
            <a:endParaRPr lang="en-US" sz="1400" b="0" i="0" u="none" strike="noStrike" dirty="0">
              <a:solidFill>
                <a:schemeClr val="tx1"/>
              </a:solidFill>
              <a:effectLst/>
              <a:latin typeface="+mj-lt"/>
            </a:endParaRPr>
          </a:p>
          <a:p>
            <a:pPr marL="285750" indent="-285750" rtl="0">
              <a:spcBef>
                <a:spcPts val="0"/>
              </a:spcBef>
              <a:spcAft>
                <a:spcPts val="0"/>
              </a:spcAft>
              <a:buFont typeface="Courier New" panose="02070309020205020404" pitchFamily="49" charset="0"/>
              <a:buChar char="-"/>
            </a:pPr>
            <a:r>
              <a:rPr lang="vi-VN" sz="1400" b="0" i="0" u="none" strike="noStrike" dirty="0">
                <a:solidFill>
                  <a:schemeClr val="tx1"/>
                </a:solidFill>
                <a:effectLst/>
                <a:latin typeface="+mj-lt"/>
              </a:rPr>
              <a:t>Thực nghiệm hóa lý thuyết bằng Python. </a:t>
            </a:r>
            <a:endParaRPr lang="en-US" sz="1400" b="0" i="0" u="none" strike="noStrike" dirty="0">
              <a:solidFill>
                <a:schemeClr val="tx1"/>
              </a:solidFill>
              <a:effectLst/>
              <a:latin typeface="+mj-lt"/>
            </a:endParaRPr>
          </a:p>
          <a:p>
            <a:pPr marL="285750" indent="-285750" rtl="0">
              <a:spcBef>
                <a:spcPts val="0"/>
              </a:spcBef>
              <a:spcAft>
                <a:spcPts val="0"/>
              </a:spcAft>
              <a:buFont typeface="Courier New" panose="02070309020205020404" pitchFamily="49" charset="0"/>
              <a:buChar char="-"/>
            </a:pPr>
            <a:r>
              <a:rPr lang="vi-VN" sz="1400" b="0" i="0" u="none" strike="noStrike" dirty="0">
                <a:solidFill>
                  <a:schemeClr val="tx1"/>
                </a:solidFill>
                <a:effectLst/>
                <a:latin typeface="+mj-lt"/>
              </a:rPr>
              <a:t>Tính linh hoạt và mở rộng cao.</a:t>
            </a:r>
            <a:endParaRPr lang="vi-VN" sz="1400" b="0" dirty="0">
              <a:solidFill>
                <a:schemeClr val="tx1"/>
              </a:solidFill>
              <a:effectLst/>
              <a:latin typeface="+mj-lt"/>
            </a:endParaRPr>
          </a:p>
          <a:p>
            <a:br>
              <a:rPr lang="vi-VN" dirty="0"/>
            </a:br>
            <a:endParaRPr lang="en-US" dirty="0"/>
          </a:p>
        </p:txBody>
      </p:sp>
      <p:pic>
        <p:nvPicPr>
          <p:cNvPr id="12" name="Picture 2">
            <a:extLst>
              <a:ext uri="{FF2B5EF4-FFF2-40B4-BE49-F238E27FC236}">
                <a16:creationId xmlns:a16="http://schemas.microsoft.com/office/drawing/2014/main" id="{3D986191-9477-DD82-F8C2-7C215048C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693" y="796766"/>
            <a:ext cx="3277156" cy="220343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2FA8853-A766-A06F-273A-1931F9E4DB6A}"/>
              </a:ext>
            </a:extLst>
          </p:cNvPr>
          <p:cNvSpPr txBox="1"/>
          <p:nvPr/>
        </p:nvSpPr>
        <p:spPr>
          <a:xfrm>
            <a:off x="4957693" y="640364"/>
            <a:ext cx="3225930" cy="2000548"/>
          </a:xfrm>
          <a:prstGeom prst="rect">
            <a:avLst/>
          </a:prstGeom>
          <a:noFill/>
        </p:spPr>
        <p:txBody>
          <a:bodyPr wrap="square">
            <a:spAutoFit/>
          </a:bodyPr>
          <a:lstStyle/>
          <a:p>
            <a:pPr marL="285750" indent="-285750" rtl="0">
              <a:spcBef>
                <a:spcPts val="0"/>
              </a:spcBef>
              <a:spcAft>
                <a:spcPts val="0"/>
              </a:spcAft>
              <a:buFont typeface="Courier New" panose="02070309020205020404" pitchFamily="49" charset="0"/>
              <a:buChar char="-"/>
            </a:pPr>
            <a:endParaRPr lang="en-US" i="0" u="none" strike="noStrike" dirty="0">
              <a:solidFill>
                <a:srgbClr val="005696"/>
              </a:solidFill>
              <a:latin typeface="Times New Roman" panose="02020603050405020304" pitchFamily="18" charset="0"/>
              <a:cs typeface="Times New Roman" panose="02020603050405020304" pitchFamily="18" charset="0"/>
            </a:endParaRPr>
          </a:p>
          <a:p>
            <a:pPr rtl="0">
              <a:spcBef>
                <a:spcPts val="0"/>
              </a:spcBef>
              <a:spcAft>
                <a:spcPts val="0"/>
              </a:spcAft>
            </a:pPr>
            <a:r>
              <a:rPr lang="vi-VN" b="1"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7.</a:t>
            </a:r>
            <a:r>
              <a:rPr lang="en-US" b="1"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2</a:t>
            </a:r>
            <a:r>
              <a:rPr lang="vi-VN" b="1"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b="1"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Nhược</a:t>
            </a:r>
            <a:r>
              <a:rPr lang="en-US" b="1"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 </a:t>
            </a:r>
            <a:r>
              <a:rPr lang="en-US" b="1"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điểm</a:t>
            </a:r>
            <a:endParaRPr lang="en-US" b="1" i="0" u="none" strike="noStrike" dirty="0">
              <a:solidFill>
                <a:schemeClr val="tx1"/>
              </a:solidFill>
              <a:latin typeface="Times New Roman" panose="02020603050405020304" pitchFamily="18" charset="0"/>
              <a:ea typeface="Roboto" panose="02000000000000000000" pitchFamily="2" charset="0"/>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vi-VN"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Đơn giản hóa sức chứa môi trường (</a:t>
            </a:r>
            <a:r>
              <a:rPr lang="vi-VN" sz="1400" i="1"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K</a:t>
            </a:r>
            <a:r>
              <a:rPr lang="vi-VN"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a:t>
            </a:r>
          </a:p>
          <a:p>
            <a:pPr marL="285750" indent="-285750" rtl="0">
              <a:spcBef>
                <a:spcPts val="0"/>
              </a:spcBef>
              <a:spcAft>
                <a:spcPts val="0"/>
              </a:spcAft>
              <a:buFont typeface="Courier New" panose="02070309020205020404" pitchFamily="49" charset="0"/>
              <a:buChar char="-"/>
            </a:pP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Thiếu</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dữ</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liệu</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thực</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tế</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về</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tài</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a:t>
            </a:r>
            <a:r>
              <a:rPr lang="en-US" sz="1400" i="0"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nguyên</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a:t>
            </a:r>
            <a:endPar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vi-VN"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Tính tất định cao</a:t>
            </a:r>
            <a:r>
              <a:rPr lang="en-US" sz="140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a:t>
            </a:r>
          </a:p>
          <a:p>
            <a:pPr marL="285750" indent="-285750" rtl="0">
              <a:spcBef>
                <a:spcPts val="0"/>
              </a:spcBef>
              <a:spcAft>
                <a:spcPts val="0"/>
              </a:spcAft>
              <a:buFont typeface="Courier New" panose="02070309020205020404" pitchFamily="49" charset="0"/>
              <a:buChar char="-"/>
            </a:pPr>
            <a:r>
              <a:rPr lang="en-US" sz="1400"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Phạm</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 vi </a:t>
            </a:r>
            <a:r>
              <a:rPr lang="en-US" sz="1400"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dư</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 </a:t>
            </a:r>
            <a:r>
              <a:rPr lang="en-US" sz="1400"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liệu</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 </a:t>
            </a:r>
            <a:r>
              <a:rPr lang="en-US" sz="1400"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giới</a:t>
            </a:r>
            <a:r>
              <a:rPr lang="en-US" sz="1400" dirty="0">
                <a:solidFill>
                  <a:schemeClr val="tx1"/>
                </a:solidFill>
                <a:latin typeface="Times New Roman" panose="02020603050405020304" pitchFamily="18" charset="0"/>
                <a:ea typeface="Roboto" panose="02000000000000000000" pitchFamily="2" charset="0"/>
                <a:cs typeface="Times New Roman" panose="02020603050405020304" pitchFamily="18" charset="0"/>
              </a:rPr>
              <a:t> </a:t>
            </a:r>
            <a:r>
              <a:rPr lang="en-US" sz="1400" dirty="0" err="1">
                <a:solidFill>
                  <a:schemeClr val="tx1"/>
                </a:solidFill>
                <a:latin typeface="Times New Roman" panose="02020603050405020304" pitchFamily="18" charset="0"/>
                <a:ea typeface="Roboto" panose="02000000000000000000" pitchFamily="2" charset="0"/>
                <a:cs typeface="Times New Roman" panose="02020603050405020304" pitchFamily="18" charset="0"/>
              </a:rPr>
              <a:t>hạn</a:t>
            </a:r>
            <a:br>
              <a:rPr lang="vi-VN" dirty="0">
                <a:solidFill>
                  <a:schemeClr val="tx1"/>
                </a:solidFill>
                <a:latin typeface="Times New Roman" panose="02020603050405020304" pitchFamily="18" charset="0"/>
                <a:cs typeface="Times New Roman" panose="02020603050405020304" pitchFamily="18" charset="0"/>
              </a:rPr>
            </a:br>
            <a:endParaRPr lang="en-US" dirty="0">
              <a:solidFill>
                <a:schemeClr val="tx1"/>
              </a:solidFill>
              <a:latin typeface="Times New Roman" panose="02020603050405020304" pitchFamily="18" charset="0"/>
              <a:cs typeface="Times New Roman" panose="02020603050405020304" pitchFamily="18" charset="0"/>
            </a:endParaRPr>
          </a:p>
        </p:txBody>
      </p:sp>
      <p:pic>
        <p:nvPicPr>
          <p:cNvPr id="17" name="Picture 2">
            <a:extLst>
              <a:ext uri="{FF2B5EF4-FFF2-40B4-BE49-F238E27FC236}">
                <a16:creationId xmlns:a16="http://schemas.microsoft.com/office/drawing/2014/main" id="{0C317FB9-3EC3-409F-FEE4-981FB3E94F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5392" y="3168106"/>
            <a:ext cx="3272763" cy="176978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C0CB4CC-27E9-F91C-BF88-EB77BE430A9A}"/>
              </a:ext>
            </a:extLst>
          </p:cNvPr>
          <p:cNvSpPr txBox="1"/>
          <p:nvPr/>
        </p:nvSpPr>
        <p:spPr>
          <a:xfrm>
            <a:off x="2929053" y="2969805"/>
            <a:ext cx="2709747" cy="1785104"/>
          </a:xfrm>
          <a:prstGeom prst="rect">
            <a:avLst/>
          </a:prstGeom>
          <a:noFill/>
        </p:spPr>
        <p:txBody>
          <a:bodyPr wrap="square">
            <a:spAutoFit/>
          </a:bodyPr>
          <a:lstStyle/>
          <a:p>
            <a:pPr marL="285750" indent="-285750" rtl="0">
              <a:spcBef>
                <a:spcPts val="0"/>
              </a:spcBef>
              <a:spcAft>
                <a:spcPts val="0"/>
              </a:spcAft>
              <a:buFont typeface="Courier New" panose="02070309020205020404" pitchFamily="49" charset="0"/>
              <a:buChar char="-"/>
            </a:pPr>
            <a:endParaRPr lang="en-US" i="0" u="none" strike="noStrike" dirty="0">
              <a:solidFill>
                <a:srgbClr val="005696"/>
              </a:solidFill>
              <a:latin typeface="Montserrat" panose="00000500000000000000" pitchFamily="2" charset="0"/>
            </a:endParaRPr>
          </a:p>
          <a:p>
            <a:pPr rtl="0">
              <a:spcBef>
                <a:spcPts val="0"/>
              </a:spcBef>
              <a:spcAft>
                <a:spcPts val="0"/>
              </a:spcAft>
            </a:pPr>
            <a:r>
              <a:rPr lang="vi-VN" b="1" i="0" u="none" strike="noStrike" dirty="0">
                <a:solidFill>
                  <a:schemeClr val="tx1"/>
                </a:solidFill>
                <a:effectLst/>
                <a:latin typeface="Times New Roman" panose="02020603050405020304" pitchFamily="18" charset="0"/>
                <a:cs typeface="Times New Roman" panose="02020603050405020304" pitchFamily="18" charset="0"/>
              </a:rPr>
              <a:t>7.</a:t>
            </a:r>
            <a:r>
              <a:rPr lang="en-US" b="1" i="0" u="none" strike="noStrike" dirty="0">
                <a:solidFill>
                  <a:schemeClr val="tx1"/>
                </a:solidFill>
                <a:effectLst/>
                <a:latin typeface="Times New Roman" panose="02020603050405020304" pitchFamily="18" charset="0"/>
                <a:cs typeface="Times New Roman" panose="02020603050405020304" pitchFamily="18" charset="0"/>
              </a:rPr>
              <a:t>3. </a:t>
            </a:r>
            <a:r>
              <a:rPr lang="en-US" b="1" i="0" u="none" strike="noStrike" dirty="0" err="1">
                <a:solidFill>
                  <a:schemeClr val="tx1"/>
                </a:solidFill>
                <a:effectLst/>
                <a:latin typeface="Times New Roman" panose="02020603050405020304" pitchFamily="18" charset="0"/>
                <a:cs typeface="Times New Roman" panose="02020603050405020304" pitchFamily="18" charset="0"/>
              </a:rPr>
              <a:t>Hướng</a:t>
            </a:r>
            <a:r>
              <a:rPr lang="en-US" b="1" i="0" u="none" strike="noStrike" dirty="0">
                <a:solidFill>
                  <a:schemeClr val="tx1"/>
                </a:solidFill>
                <a:effectLst/>
                <a:latin typeface="Times New Roman" panose="02020603050405020304" pitchFamily="18" charset="0"/>
                <a:cs typeface="Times New Roman" panose="02020603050405020304" pitchFamily="18" charset="0"/>
              </a:rPr>
              <a:t> </a:t>
            </a:r>
            <a:r>
              <a:rPr lang="en-US" b="1" i="0" u="none" strike="noStrike" dirty="0" err="1">
                <a:solidFill>
                  <a:schemeClr val="tx1"/>
                </a:solidFill>
                <a:effectLst/>
                <a:latin typeface="Times New Roman" panose="02020603050405020304" pitchFamily="18" charset="0"/>
                <a:cs typeface="Times New Roman" panose="02020603050405020304" pitchFamily="18" charset="0"/>
              </a:rPr>
              <a:t>phát</a:t>
            </a:r>
            <a:r>
              <a:rPr lang="en-US" b="1" i="0" u="none" strike="noStrike" dirty="0">
                <a:solidFill>
                  <a:schemeClr val="tx1"/>
                </a:solidFill>
                <a:effectLst/>
                <a:latin typeface="Times New Roman" panose="02020603050405020304" pitchFamily="18" charset="0"/>
                <a:cs typeface="Times New Roman" panose="02020603050405020304" pitchFamily="18" charset="0"/>
              </a:rPr>
              <a:t> </a:t>
            </a:r>
            <a:r>
              <a:rPr lang="en-US" b="1" i="0" u="none" strike="noStrike" dirty="0" err="1">
                <a:solidFill>
                  <a:schemeClr val="tx1"/>
                </a:solidFill>
                <a:effectLst/>
                <a:latin typeface="Times New Roman" panose="02020603050405020304" pitchFamily="18" charset="0"/>
                <a:cs typeface="Times New Roman" panose="02020603050405020304" pitchFamily="18" charset="0"/>
              </a:rPr>
              <a:t>triển</a:t>
            </a:r>
            <a:endParaRPr lang="en-US" b="1" i="0" u="none" strike="noStrike" dirty="0">
              <a:solidFill>
                <a:schemeClr val="tx1"/>
              </a:solidFill>
              <a:latin typeface="Times New Roman" panose="02020603050405020304" pitchFamily="18" charset="0"/>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vi-VN" sz="1400" dirty="0">
                <a:latin typeface="+mj-lt"/>
                <a:cs typeface="Times New Roman" panose="02020603050405020304" pitchFamily="18" charset="0"/>
              </a:rPr>
              <a:t>Mô hình tham số biến thiên </a:t>
            </a:r>
            <a:endParaRPr lang="en-US" sz="1400" dirty="0">
              <a:latin typeface="+mj-lt"/>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vi-VN" sz="1400" dirty="0">
                <a:latin typeface="+mj-lt"/>
                <a:cs typeface="Times New Roman" panose="02020603050405020304" pitchFamily="18" charset="0"/>
              </a:rPr>
              <a:t>Tích hợp dữ liệu thực tế </a:t>
            </a:r>
            <a:endParaRPr lang="en-US" sz="1400" dirty="0">
              <a:latin typeface="+mj-lt"/>
              <a:cs typeface="Times New Roman" panose="02020603050405020304" pitchFamily="18" charset="0"/>
            </a:endParaRPr>
          </a:p>
          <a:p>
            <a:pPr marL="285750" indent="-285750" rtl="0">
              <a:spcBef>
                <a:spcPts val="0"/>
              </a:spcBef>
              <a:spcAft>
                <a:spcPts val="0"/>
              </a:spcAft>
              <a:buFont typeface="Courier New" panose="02070309020205020404" pitchFamily="49" charset="0"/>
              <a:buChar char="-"/>
            </a:pPr>
            <a:r>
              <a:rPr lang="vi-VN" sz="1400" dirty="0">
                <a:latin typeface="+mj-lt"/>
                <a:cs typeface="Times New Roman" panose="02020603050405020304" pitchFamily="18" charset="0"/>
              </a:rPr>
              <a:t>Mở rộng phương pháp số</a:t>
            </a:r>
            <a:r>
              <a:rPr lang="en-US" sz="1400" dirty="0">
                <a:latin typeface="+mj-lt"/>
                <a:cs typeface="Times New Roman" panose="02020603050405020304" pitchFamily="18" charset="0"/>
              </a:rPr>
              <a:t>.</a:t>
            </a:r>
            <a:r>
              <a:rPr lang="vi-VN" sz="1400" i="0" u="none" strike="noStrike" dirty="0">
                <a:solidFill>
                  <a:schemeClr val="tx1"/>
                </a:solidFill>
                <a:effectLst/>
                <a:latin typeface="+mj-lt"/>
              </a:rPr>
              <a:t> </a:t>
            </a:r>
            <a:endParaRPr lang="en-US" sz="1400" i="0" u="none" strike="noStrike" dirty="0">
              <a:solidFill>
                <a:schemeClr val="tx1"/>
              </a:solidFill>
              <a:effectLst/>
              <a:latin typeface="+mj-lt"/>
            </a:endParaRPr>
          </a:p>
          <a:p>
            <a:pPr marL="285750" indent="-285750" rtl="0">
              <a:spcBef>
                <a:spcPts val="0"/>
              </a:spcBef>
              <a:spcAft>
                <a:spcPts val="0"/>
              </a:spcAft>
              <a:buFont typeface="Courier New" panose="02070309020205020404" pitchFamily="49" charset="0"/>
              <a:buChar char="-"/>
            </a:pPr>
            <a:r>
              <a:rPr lang="vi-VN" sz="1400" dirty="0">
                <a:latin typeface="+mj-lt"/>
                <a:cs typeface="Times New Roman" panose="02020603050405020304" pitchFamily="18" charset="0"/>
              </a:rPr>
              <a:t>Ứng dụng liên ngành</a:t>
            </a:r>
            <a:r>
              <a:rPr lang="en-US" sz="1400" dirty="0">
                <a:latin typeface="+mj-lt"/>
                <a:cs typeface="Times New Roman" panose="02020603050405020304" pitchFamily="18" charset="0"/>
              </a:rPr>
              <a:t>.</a:t>
            </a:r>
            <a:br>
              <a:rPr lang="vi-VN" dirty="0">
                <a:latin typeface="+mj-lt"/>
              </a:rPr>
            </a:br>
            <a:endParaRPr lang="en-US" dirty="0">
              <a:latin typeface="+mj-lt"/>
            </a:endParaRPr>
          </a:p>
        </p:txBody>
      </p:sp>
    </p:spTree>
    <p:extLst>
      <p:ext uri="{BB962C8B-B14F-4D97-AF65-F5344CB8AC3E}">
        <p14:creationId xmlns:p14="http://schemas.microsoft.com/office/powerpoint/2010/main" val="132214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object 4"/>
          <p:cNvGrpSpPr/>
          <p:nvPr/>
        </p:nvGrpSpPr>
        <p:grpSpPr>
          <a:xfrm>
            <a:off x="0" y="1071217"/>
            <a:ext cx="9144000" cy="87630"/>
            <a:chOff x="0" y="990324"/>
            <a:chExt cx="9144000" cy="87630"/>
          </a:xfrm>
        </p:grpSpPr>
        <p:sp>
          <p:nvSpPr>
            <p:cNvPr id="6" name="object 6"/>
            <p:cNvSpPr/>
            <p:nvPr/>
          </p:nvSpPr>
          <p:spPr>
            <a:xfrm>
              <a:off x="0" y="990324"/>
              <a:ext cx="4572000" cy="87630"/>
            </a:xfrm>
            <a:custGeom>
              <a:avLst/>
              <a:gdLst/>
              <a:ahLst/>
              <a:cxnLst/>
              <a:rect l="l" t="t" r="r" b="b"/>
              <a:pathLst>
                <a:path w="4572000" h="87630">
                  <a:moveTo>
                    <a:pt x="0" y="87599"/>
                  </a:moveTo>
                  <a:lnTo>
                    <a:pt x="4571999" y="87599"/>
                  </a:lnTo>
                  <a:lnTo>
                    <a:pt x="4571999" y="0"/>
                  </a:lnTo>
                  <a:lnTo>
                    <a:pt x="0" y="0"/>
                  </a:lnTo>
                  <a:lnTo>
                    <a:pt x="0" y="87599"/>
                  </a:lnTo>
                  <a:close/>
                </a:path>
              </a:pathLst>
            </a:custGeom>
            <a:solidFill>
              <a:srgbClr val="0000AA"/>
            </a:solidFill>
          </p:spPr>
          <p:txBody>
            <a:bodyPr wrap="square" lIns="0" tIns="0" rIns="0" bIns="0" rtlCol="0"/>
            <a:lstStyle/>
            <a:p>
              <a:endParaRPr/>
            </a:p>
          </p:txBody>
        </p:sp>
        <p:sp>
          <p:nvSpPr>
            <p:cNvPr id="7" name="object 7"/>
            <p:cNvSpPr/>
            <p:nvPr/>
          </p:nvSpPr>
          <p:spPr>
            <a:xfrm>
              <a:off x="0" y="990324"/>
              <a:ext cx="9144000" cy="87630"/>
            </a:xfrm>
            <a:custGeom>
              <a:avLst/>
              <a:gdLst/>
              <a:ahLst/>
              <a:cxnLst/>
              <a:rect l="l" t="t" r="r" b="b"/>
              <a:pathLst>
                <a:path w="9144000" h="87630">
                  <a:moveTo>
                    <a:pt x="0" y="0"/>
                  </a:moveTo>
                  <a:lnTo>
                    <a:pt x="9143999" y="0"/>
                  </a:lnTo>
                  <a:lnTo>
                    <a:pt x="9143999" y="87599"/>
                  </a:lnTo>
                  <a:lnTo>
                    <a:pt x="0" y="87599"/>
                  </a:lnTo>
                  <a:lnTo>
                    <a:pt x="0" y="0"/>
                  </a:lnTo>
                  <a:close/>
                </a:path>
              </a:pathLst>
            </a:custGeom>
            <a:solidFill>
              <a:schemeClr val="tx2"/>
            </a:solidFill>
            <a:ln w="9524">
              <a:solidFill>
                <a:srgbClr val="0000AA"/>
              </a:solidFill>
            </a:ln>
          </p:spPr>
          <p:txBody>
            <a:bodyPr wrap="square" lIns="0" tIns="0" rIns="0" bIns="0" rtlCol="0"/>
            <a:lstStyle/>
            <a:p>
              <a:endParaRPr dirty="0"/>
            </a:p>
          </p:txBody>
        </p:sp>
      </p:grpSp>
      <p:pic>
        <p:nvPicPr>
          <p:cNvPr id="10" name="object 10"/>
          <p:cNvPicPr/>
          <p:nvPr/>
        </p:nvPicPr>
        <p:blipFill>
          <a:blip r:embed="rId2" cstate="print"/>
          <a:stretch>
            <a:fillRect/>
          </a:stretch>
        </p:blipFill>
        <p:spPr>
          <a:xfrm>
            <a:off x="193200" y="140951"/>
            <a:ext cx="790024" cy="794649"/>
          </a:xfrm>
          <a:prstGeom prst="rect">
            <a:avLst/>
          </a:prstGeom>
        </p:spPr>
      </p:pic>
      <p:sp>
        <p:nvSpPr>
          <p:cNvPr id="11" name="object 11"/>
          <p:cNvSpPr txBox="1">
            <a:spLocks noGrp="1"/>
          </p:cNvSpPr>
          <p:nvPr>
            <p:ph type="title"/>
          </p:nvPr>
        </p:nvSpPr>
        <p:spPr>
          <a:xfrm>
            <a:off x="1030850" y="-171450"/>
            <a:ext cx="1002665" cy="574040"/>
          </a:xfrm>
          <a:prstGeom prst="rect">
            <a:avLst/>
          </a:prstGeom>
        </p:spPr>
        <p:txBody>
          <a:bodyPr vert="horz" wrap="square" lIns="0" tIns="12700" rIns="0" bIns="0" rtlCol="0">
            <a:spAutoFit/>
          </a:bodyPr>
          <a:lstStyle/>
          <a:p>
            <a:pPr marL="38100">
              <a:lnSpc>
                <a:spcPct val="100000"/>
              </a:lnSpc>
              <a:spcBef>
                <a:spcPts val="100"/>
              </a:spcBef>
            </a:pPr>
            <a:r>
              <a:rPr sz="5400" spc="60" baseline="-45524" dirty="0">
                <a:solidFill>
                  <a:srgbClr val="1B4587"/>
                </a:solidFill>
                <a:latin typeface="Cambria"/>
                <a:cs typeface="Cambria"/>
              </a:rPr>
              <a:t>U</a:t>
            </a:r>
            <a:r>
              <a:rPr sz="5400" spc="-450" baseline="-45524" dirty="0">
                <a:solidFill>
                  <a:srgbClr val="1B4587"/>
                </a:solidFill>
                <a:latin typeface="Cambria"/>
                <a:cs typeface="Cambria"/>
              </a:rPr>
              <a:t>E</a:t>
            </a:r>
            <a:r>
              <a:rPr sz="550" b="0" i="1" spc="35" dirty="0">
                <a:solidFill>
                  <a:srgbClr val="1B4587"/>
                </a:solidFill>
                <a:latin typeface="Roboto"/>
                <a:cs typeface="Roboto"/>
              </a:rPr>
              <a:t>S</a:t>
            </a:r>
            <a:r>
              <a:rPr sz="550" b="0" i="1" spc="-10" dirty="0">
                <a:solidFill>
                  <a:srgbClr val="1B4587"/>
                </a:solidFill>
                <a:latin typeface="Roboto"/>
                <a:cs typeface="Roboto"/>
              </a:rPr>
              <a:t>i</a:t>
            </a:r>
            <a:r>
              <a:rPr sz="5400" spc="-3329" baseline="-45524" dirty="0">
                <a:solidFill>
                  <a:srgbClr val="1B4587"/>
                </a:solidFill>
                <a:latin typeface="Cambria"/>
                <a:cs typeface="Cambria"/>
              </a:rPr>
              <a:t>T</a:t>
            </a:r>
            <a:r>
              <a:rPr sz="550" b="0" i="1" spc="35" dirty="0">
                <a:solidFill>
                  <a:srgbClr val="1B4587"/>
                </a:solidFill>
                <a:latin typeface="Roboto"/>
                <a:cs typeface="Roboto"/>
              </a:rPr>
              <a:t>nc</a:t>
            </a:r>
            <a:r>
              <a:rPr sz="550" b="0" i="1" spc="45" dirty="0">
                <a:solidFill>
                  <a:srgbClr val="1B4587"/>
                </a:solidFill>
                <a:latin typeface="Roboto"/>
                <a:cs typeface="Roboto"/>
              </a:rPr>
              <a:t>e</a:t>
            </a:r>
            <a:r>
              <a:rPr sz="550" b="0" i="1" spc="60" dirty="0">
                <a:solidFill>
                  <a:srgbClr val="1B4587"/>
                </a:solidFill>
                <a:latin typeface="Roboto"/>
                <a:cs typeface="Roboto"/>
              </a:rPr>
              <a:t> </a:t>
            </a:r>
            <a:r>
              <a:rPr sz="550" b="0" i="1" spc="-20" dirty="0">
                <a:solidFill>
                  <a:srgbClr val="1B4587"/>
                </a:solidFill>
                <a:latin typeface="Roboto"/>
                <a:cs typeface="Roboto"/>
              </a:rPr>
              <a:t>2004</a:t>
            </a:r>
            <a:endParaRPr sz="550" dirty="0">
              <a:latin typeface="Roboto"/>
              <a:cs typeface="Roboto"/>
            </a:endParaRPr>
          </a:p>
        </p:txBody>
      </p:sp>
      <p:sp>
        <p:nvSpPr>
          <p:cNvPr id="12" name="object 12"/>
          <p:cNvSpPr txBox="1"/>
          <p:nvPr/>
        </p:nvSpPr>
        <p:spPr>
          <a:xfrm>
            <a:off x="1100100" y="612378"/>
            <a:ext cx="2328545" cy="285115"/>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1B4587"/>
                </a:solidFill>
                <a:latin typeface="Cambria"/>
                <a:cs typeface="Cambria"/>
              </a:rPr>
              <a:t>ĐẠI</a:t>
            </a:r>
            <a:r>
              <a:rPr sz="900" b="1" spc="140" dirty="0">
                <a:solidFill>
                  <a:srgbClr val="1B4587"/>
                </a:solidFill>
                <a:latin typeface="Cambria"/>
                <a:cs typeface="Cambria"/>
              </a:rPr>
              <a:t> </a:t>
            </a:r>
            <a:r>
              <a:rPr sz="900" b="1" dirty="0">
                <a:solidFill>
                  <a:srgbClr val="1B4587"/>
                </a:solidFill>
                <a:latin typeface="Cambria"/>
                <a:cs typeface="Cambria"/>
              </a:rPr>
              <a:t>HỌC</a:t>
            </a:r>
            <a:r>
              <a:rPr sz="900" b="1" spc="140" dirty="0">
                <a:solidFill>
                  <a:srgbClr val="1B4587"/>
                </a:solidFill>
                <a:latin typeface="Cambria"/>
                <a:cs typeface="Cambria"/>
              </a:rPr>
              <a:t> </a:t>
            </a:r>
            <a:r>
              <a:rPr sz="900" b="1" dirty="0">
                <a:solidFill>
                  <a:srgbClr val="1B4587"/>
                </a:solidFill>
                <a:latin typeface="Cambria"/>
                <a:cs typeface="Cambria"/>
              </a:rPr>
              <a:t>CÔNG</a:t>
            </a:r>
            <a:r>
              <a:rPr sz="900" b="1" spc="140" dirty="0">
                <a:solidFill>
                  <a:srgbClr val="1B4587"/>
                </a:solidFill>
                <a:latin typeface="Cambria"/>
                <a:cs typeface="Cambria"/>
              </a:rPr>
              <a:t> </a:t>
            </a:r>
            <a:r>
              <a:rPr sz="900" b="1" dirty="0">
                <a:solidFill>
                  <a:srgbClr val="1B4587"/>
                </a:solidFill>
                <a:latin typeface="Cambria"/>
                <a:cs typeface="Cambria"/>
              </a:rPr>
              <a:t>NGHỆ,</a:t>
            </a:r>
            <a:r>
              <a:rPr sz="900" b="1" spc="140" dirty="0">
                <a:solidFill>
                  <a:srgbClr val="1B4587"/>
                </a:solidFill>
                <a:latin typeface="Cambria"/>
                <a:cs typeface="Cambria"/>
              </a:rPr>
              <a:t> </a:t>
            </a:r>
            <a:r>
              <a:rPr sz="900" b="1" spc="-10" dirty="0">
                <a:solidFill>
                  <a:srgbClr val="1B4587"/>
                </a:solidFill>
                <a:latin typeface="Cambria"/>
                <a:cs typeface="Cambria"/>
              </a:rPr>
              <a:t>ĐHQGHN</a:t>
            </a:r>
            <a:endParaRPr sz="900" dirty="0">
              <a:latin typeface="Cambria"/>
              <a:cs typeface="Cambria"/>
            </a:endParaRPr>
          </a:p>
          <a:p>
            <a:pPr marL="12700">
              <a:lnSpc>
                <a:spcPct val="100000"/>
              </a:lnSpc>
            </a:pPr>
            <a:r>
              <a:rPr sz="800" spc="10" dirty="0">
                <a:solidFill>
                  <a:srgbClr val="1B4587"/>
                </a:solidFill>
                <a:latin typeface="Georgia"/>
                <a:cs typeface="Georgia"/>
              </a:rPr>
              <a:t>VNU-University</a:t>
            </a:r>
            <a:r>
              <a:rPr sz="800" spc="95" dirty="0">
                <a:solidFill>
                  <a:srgbClr val="1B4587"/>
                </a:solidFill>
                <a:latin typeface="Georgia"/>
                <a:cs typeface="Georgia"/>
              </a:rPr>
              <a:t> </a:t>
            </a:r>
            <a:r>
              <a:rPr sz="800" spc="10" dirty="0">
                <a:solidFill>
                  <a:srgbClr val="1B4587"/>
                </a:solidFill>
                <a:latin typeface="Georgia"/>
                <a:cs typeface="Georgia"/>
              </a:rPr>
              <a:t>of</a:t>
            </a:r>
            <a:r>
              <a:rPr sz="800" spc="95" dirty="0">
                <a:solidFill>
                  <a:srgbClr val="1B4587"/>
                </a:solidFill>
                <a:latin typeface="Georgia"/>
                <a:cs typeface="Georgia"/>
              </a:rPr>
              <a:t> </a:t>
            </a:r>
            <a:r>
              <a:rPr sz="800" spc="10" dirty="0">
                <a:solidFill>
                  <a:srgbClr val="1B4587"/>
                </a:solidFill>
                <a:latin typeface="Georgia"/>
                <a:cs typeface="Georgia"/>
              </a:rPr>
              <a:t>Engineering</a:t>
            </a:r>
            <a:r>
              <a:rPr sz="800" spc="85" dirty="0">
                <a:solidFill>
                  <a:srgbClr val="1B4587"/>
                </a:solidFill>
                <a:latin typeface="Georgia"/>
                <a:cs typeface="Georgia"/>
              </a:rPr>
              <a:t> </a:t>
            </a:r>
            <a:r>
              <a:rPr sz="800" spc="10" dirty="0">
                <a:solidFill>
                  <a:srgbClr val="1B4587"/>
                </a:solidFill>
                <a:latin typeface="Georgia"/>
                <a:cs typeface="Georgia"/>
              </a:rPr>
              <a:t>and</a:t>
            </a:r>
            <a:r>
              <a:rPr sz="800" spc="90" dirty="0">
                <a:solidFill>
                  <a:srgbClr val="1B4587"/>
                </a:solidFill>
                <a:latin typeface="Georgia"/>
                <a:cs typeface="Georgia"/>
              </a:rPr>
              <a:t> </a:t>
            </a:r>
            <a:r>
              <a:rPr sz="800" spc="-10" dirty="0">
                <a:solidFill>
                  <a:srgbClr val="1B4587"/>
                </a:solidFill>
                <a:latin typeface="Georgia"/>
                <a:cs typeface="Georgia"/>
              </a:rPr>
              <a:t>Technology</a:t>
            </a:r>
            <a:endParaRPr sz="800" dirty="0">
              <a:latin typeface="Georgia"/>
              <a:cs typeface="Georgia"/>
            </a:endParaRPr>
          </a:p>
        </p:txBody>
      </p:sp>
      <p:sp>
        <p:nvSpPr>
          <p:cNvPr id="15" name="object 2">
            <a:extLst>
              <a:ext uri="{FF2B5EF4-FFF2-40B4-BE49-F238E27FC236}">
                <a16:creationId xmlns:a16="http://schemas.microsoft.com/office/drawing/2014/main" id="{62EA8C5F-E444-52D3-14F4-3B886E55FA89}"/>
              </a:ext>
            </a:extLst>
          </p:cNvPr>
          <p:cNvSpPr txBox="1"/>
          <p:nvPr/>
        </p:nvSpPr>
        <p:spPr>
          <a:xfrm>
            <a:off x="1219200" y="1657350"/>
            <a:ext cx="6498237" cy="1327543"/>
          </a:xfrm>
          <a:prstGeom prst="rect">
            <a:avLst/>
          </a:prstGeom>
        </p:spPr>
        <p:txBody>
          <a:bodyPr vert="horz" wrap="square" lIns="0" tIns="12700" rIns="0" bIns="0" rtlCol="0">
            <a:spAutoFit/>
          </a:bodyPr>
          <a:lstStyle/>
          <a:p>
            <a:pPr marL="12700" marR="5080" indent="518159" algn="ctr">
              <a:lnSpc>
                <a:spcPct val="120000"/>
              </a:lnSpc>
              <a:spcBef>
                <a:spcPts val="100"/>
              </a:spcBef>
            </a:pPr>
            <a:r>
              <a:rPr lang="en-US" sz="3600" b="1" dirty="0">
                <a:solidFill>
                  <a:srgbClr val="0000AA"/>
                </a:solidFill>
                <a:latin typeface="Ink Free" panose="03080402000500000000" pitchFamily="66" charset="0"/>
                <a:cs typeface="Times New Roman" panose="02020603050405020304" pitchFamily="18" charset="0"/>
              </a:rPr>
              <a:t>Thank you </a:t>
            </a:r>
          </a:p>
          <a:p>
            <a:pPr marL="12700" marR="5080" indent="518159" algn="ctr">
              <a:lnSpc>
                <a:spcPct val="120000"/>
              </a:lnSpc>
              <a:spcBef>
                <a:spcPts val="100"/>
              </a:spcBef>
            </a:pPr>
            <a:r>
              <a:rPr lang="en-US" sz="3600" b="1" dirty="0">
                <a:solidFill>
                  <a:srgbClr val="0000AA"/>
                </a:solidFill>
                <a:latin typeface="Ink Free" panose="03080402000500000000" pitchFamily="66" charset="0"/>
                <a:cs typeface="Times New Roman" panose="02020603050405020304" pitchFamily="18" charset="0"/>
              </a:rPr>
              <a:t>For listening</a:t>
            </a:r>
            <a:endParaRPr sz="3600" dirty="0">
              <a:latin typeface="Ink Free" panose="03080402000500000000" pitchFamily="66" charset="0"/>
              <a:cs typeface="Times New Roman" panose="02020603050405020304" pitchFamily="18" charset="0"/>
            </a:endParaRPr>
          </a:p>
        </p:txBody>
      </p:sp>
      <p:pic>
        <p:nvPicPr>
          <p:cNvPr id="2" name="Picture 1" descr="Happy Bee">
            <a:extLst>
              <a:ext uri="{FF2B5EF4-FFF2-40B4-BE49-F238E27FC236}">
                <a16:creationId xmlns:a16="http://schemas.microsoft.com/office/drawing/2014/main" id="{7B8930A1-0A8D-D98B-1013-562A2AE1EA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09" y="4076149"/>
            <a:ext cx="926400" cy="926400"/>
          </a:xfrm>
          <a:prstGeom prst="rect">
            <a:avLst/>
          </a:prstGeom>
        </p:spPr>
      </p:pic>
    </p:spTree>
    <p:extLst>
      <p:ext uri="{BB962C8B-B14F-4D97-AF65-F5344CB8AC3E}">
        <p14:creationId xmlns:p14="http://schemas.microsoft.com/office/powerpoint/2010/main" val="2788570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635</TotalTime>
  <Words>2444</Words>
  <Application>Microsoft Office PowerPoint</Application>
  <PresentationFormat>On-screen Show (16:9)</PresentationFormat>
  <Paragraphs>529</Paragraphs>
  <Slides>17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Aptos</vt:lpstr>
      <vt:lpstr>Arial</vt:lpstr>
      <vt:lpstr>Calibri</vt:lpstr>
      <vt:lpstr>Cambria</vt:lpstr>
      <vt:lpstr>Cambria Math</vt:lpstr>
      <vt:lpstr>Courier New</vt:lpstr>
      <vt:lpstr>Georgia</vt:lpstr>
      <vt:lpstr>Ink Free</vt:lpstr>
      <vt:lpstr>Montserrat</vt:lpstr>
      <vt:lpstr>Roboto</vt:lpstr>
      <vt:lpstr>Symbol</vt:lpstr>
      <vt:lpstr>Times New Roman</vt:lpstr>
      <vt:lpstr>Office Theme</vt:lpstr>
      <vt:lpstr>UESiTnce 2004</vt:lpstr>
      <vt:lpstr>I. Giới thiệu đề̀ tài</vt:lpstr>
      <vt:lpstr>II. Mô hình toán học </vt:lpstr>
      <vt:lpstr>III. Phương pháp giải tích số </vt:lpstr>
      <vt:lpstr>III. Phương pháp giải tích số</vt:lpstr>
      <vt:lpstr>IV. Tìm các tham số</vt:lpstr>
      <vt:lpstr>IV. Tìm các tham số</vt:lpstr>
      <vt:lpstr>IV. Tìm các tham số</vt:lpstr>
      <vt:lpstr>V. Đánh giá sai số</vt:lpstr>
      <vt:lpstr>VI. Kết quả</vt:lpstr>
      <vt:lpstr>VI. Kết quả</vt:lpstr>
      <vt:lpstr>VI. Kết quả</vt:lpstr>
      <vt:lpstr>VI. Kết quả</vt:lpstr>
      <vt:lpstr>VI. Kết quả</vt:lpstr>
      <vt:lpstr>VI. Kết quả</vt:lpstr>
      <vt:lpstr>VII. Kết luận</vt:lpstr>
      <vt:lpstr>UESiTnce 2004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2_General Concepts for ML.pptx</dc:title>
  <dc:creator>Nguyen Thi Hai Yen</dc:creator>
  <cp:lastModifiedBy>Nguyen Thi Hai Yen</cp:lastModifiedBy>
  <cp:revision>21</cp:revision>
  <dcterms:created xsi:type="dcterms:W3CDTF">2025-12-23T06:15:39Z</dcterms:created>
  <dcterms:modified xsi:type="dcterms:W3CDTF">2026-01-02T14:15:36Z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2025-12-23T00:00:00Z</vt:filetime>
  </property>
  <property fmtid="{D5CDD505-2E9C-101B-9397-08002B2CF9AE}" pid="3" name="Creator">
    <vt:lpwstr>Google</vt:lpwstr>
  </property>
  <property fmtid="{D5CDD505-2E9C-101B-9397-08002B2CF9AE}" pid="4" name="LastSaved">
    <vt:filetime>2025-12-23T00:00:00Z</vt:filetime>
  </property>
</Properties>
</file>